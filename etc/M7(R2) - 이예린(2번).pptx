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75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A1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1282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F1AEF-E91A-44FF-8573-73577D9D4742}" type="datetimeFigureOut">
              <a:rPr lang="ko-KR" altLang="en-US" smtClean="0"/>
              <a:t>2024-10-28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D67E2-57D7-4250-A4C6-DC8DA8FB4E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6941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F1AEF-E91A-44FF-8573-73577D9D4742}" type="datetimeFigureOut">
              <a:rPr lang="ko-KR" altLang="en-US" smtClean="0"/>
              <a:t>2024-10-28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D67E2-57D7-4250-A4C6-DC8DA8FB4E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2720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F1AEF-E91A-44FF-8573-73577D9D4742}" type="datetimeFigureOut">
              <a:rPr lang="ko-KR" altLang="en-US" smtClean="0"/>
              <a:t>2024-10-28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D67E2-57D7-4250-A4C6-DC8DA8FB4E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0386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F1AEF-E91A-44FF-8573-73577D9D4742}" type="datetimeFigureOut">
              <a:rPr lang="ko-KR" altLang="en-US" smtClean="0"/>
              <a:t>2024-10-28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D67E2-57D7-4250-A4C6-DC8DA8FB4E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4333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F1AEF-E91A-44FF-8573-73577D9D4742}" type="datetimeFigureOut">
              <a:rPr lang="ko-KR" altLang="en-US" smtClean="0"/>
              <a:t>2024-10-28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D67E2-57D7-4250-A4C6-DC8DA8FB4E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4344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F1AEF-E91A-44FF-8573-73577D9D4742}" type="datetimeFigureOut">
              <a:rPr lang="ko-KR" altLang="en-US" smtClean="0"/>
              <a:t>2024-10-28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D67E2-57D7-4250-A4C6-DC8DA8FB4E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9727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F1AEF-E91A-44FF-8573-73577D9D4742}" type="datetimeFigureOut">
              <a:rPr lang="ko-KR" altLang="en-US" smtClean="0"/>
              <a:t>2024-10-28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D67E2-57D7-4250-A4C6-DC8DA8FB4E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1359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F1AEF-E91A-44FF-8573-73577D9D4742}" type="datetimeFigureOut">
              <a:rPr lang="ko-KR" altLang="en-US" smtClean="0"/>
              <a:t>2024-10-28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D67E2-57D7-4250-A4C6-DC8DA8FB4E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1256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F1AEF-E91A-44FF-8573-73577D9D4742}" type="datetimeFigureOut">
              <a:rPr lang="ko-KR" altLang="en-US" smtClean="0"/>
              <a:t>2024-10-28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D67E2-57D7-4250-A4C6-DC8DA8FB4E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845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F1AEF-E91A-44FF-8573-73577D9D4742}" type="datetimeFigureOut">
              <a:rPr lang="ko-KR" altLang="en-US" smtClean="0"/>
              <a:t>2024-10-28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D67E2-57D7-4250-A4C6-DC8DA8FB4E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8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F1AEF-E91A-44FF-8573-73577D9D4742}" type="datetimeFigureOut">
              <a:rPr lang="ko-KR" altLang="en-US" smtClean="0"/>
              <a:t>2024-10-28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D67E2-57D7-4250-A4C6-DC8DA8FB4E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311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4F1AEF-E91A-44FF-8573-73577D9D4742}" type="datetimeFigureOut">
              <a:rPr lang="ko-KR" altLang="en-US" smtClean="0"/>
              <a:t>2024-10-28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D67E2-57D7-4250-A4C6-DC8DA8FB4E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7423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2277685"/>
            <a:ext cx="9144000" cy="2179926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ICH guideline</a:t>
            </a:r>
            <a:br>
              <a:rPr lang="en-US" altLang="ko-KR" b="1" dirty="0"/>
            </a:br>
            <a:r>
              <a:rPr lang="en-US" altLang="ko-KR" sz="2700" b="1" dirty="0"/>
              <a:t>-E2B(R3)-</a:t>
            </a:r>
            <a:br>
              <a:rPr lang="en-US" altLang="ko-KR" dirty="0"/>
            </a:br>
            <a:r>
              <a:rPr lang="en-US" altLang="ko-KR" sz="1600" dirty="0"/>
              <a:t>Clinical Safety Data Management: Definitions </a:t>
            </a:r>
            <a:br>
              <a:rPr lang="en-US" altLang="ko-KR" sz="1600" dirty="0"/>
            </a:br>
            <a:r>
              <a:rPr lang="en-US" altLang="ko-KR" sz="1600" dirty="0"/>
              <a:t>and Standards for Expedited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55816" y="4729941"/>
            <a:ext cx="178286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/>
              <a:t>3</a:t>
            </a:r>
            <a:r>
              <a:rPr lang="ko-KR" altLang="en-US" sz="1600" dirty="0"/>
              <a:t>조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en-US" altLang="ko-KR" sz="1600" dirty="0"/>
              <a:t>19617064 </a:t>
            </a:r>
            <a:r>
              <a:rPr lang="ko-KR" altLang="en-US" sz="1600" dirty="0" err="1"/>
              <a:t>조시형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en-US" altLang="ko-KR" sz="1600" dirty="0"/>
              <a:t>20617040 </a:t>
            </a:r>
            <a:r>
              <a:rPr lang="ko-KR" altLang="en-US" sz="1600" dirty="0"/>
              <a:t>이수연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en-US" altLang="ko-KR" sz="1600" dirty="0"/>
              <a:t>20617068 </a:t>
            </a:r>
            <a:r>
              <a:rPr lang="ko-KR" altLang="en-US" sz="1600" dirty="0" err="1"/>
              <a:t>이예린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en-US" altLang="ko-KR" sz="1600" dirty="0"/>
              <a:t>21617013 </a:t>
            </a:r>
            <a:r>
              <a:rPr lang="ko-KR" altLang="en-US" sz="1600" dirty="0"/>
              <a:t>민진</a:t>
            </a:r>
            <a:endParaRPr lang="en-US" altLang="ko-KR" sz="16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371" y="149285"/>
            <a:ext cx="2303087" cy="70259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rcRect t="11095"/>
          <a:stretch/>
        </p:blipFill>
        <p:spPr>
          <a:xfrm>
            <a:off x="9346720" y="344806"/>
            <a:ext cx="2781958" cy="507076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0" y="1005841"/>
            <a:ext cx="12192000" cy="45719"/>
          </a:xfrm>
          <a:prstGeom prst="rect">
            <a:avLst/>
          </a:prstGeom>
          <a:solidFill>
            <a:srgbClr val="17A1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0345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397866" y="784454"/>
            <a:ext cx="5327288" cy="361445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b="1" dirty="0"/>
              <a:t>가이드라인의 범위</a:t>
            </a:r>
            <a:endParaRPr lang="en-US" altLang="ko-KR" sz="1100" b="1" dirty="0"/>
          </a:p>
          <a:p>
            <a:pPr>
              <a:lnSpc>
                <a:spcPct val="150000"/>
              </a:lnSpc>
            </a:pPr>
            <a:endParaRPr lang="en-US" altLang="ko-KR" sz="1100" b="1" dirty="0"/>
          </a:p>
          <a:p>
            <a:pPr>
              <a:lnSpc>
                <a:spcPct val="150000"/>
              </a:lnSpc>
            </a:pPr>
            <a:r>
              <a:rPr lang="ko-KR" altLang="en-US" sz="1100" b="1" dirty="0"/>
              <a:t>새로운 약물 물질과 제품의 임상 개발 및 마케팅 신청에 대한 가이드를 제공 </a:t>
            </a:r>
            <a:endParaRPr lang="en-US" altLang="ko-KR" sz="1100" b="1" dirty="0"/>
          </a:p>
          <a:p>
            <a:pPr>
              <a:lnSpc>
                <a:spcPct val="150000"/>
              </a:lnSpc>
            </a:pPr>
            <a:r>
              <a:rPr lang="ko-KR" altLang="en-US" sz="1100" b="1" dirty="0"/>
              <a:t>주요 내용</a:t>
            </a:r>
            <a:r>
              <a:rPr lang="en-US" altLang="ko-KR" sz="1100" b="1" dirty="0"/>
              <a:t>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1" dirty="0"/>
              <a:t>약물 물질 합성</a:t>
            </a:r>
            <a:r>
              <a:rPr lang="en-US" altLang="ko-KR" sz="1100" b="1" dirty="0"/>
              <a:t>, </a:t>
            </a:r>
            <a:r>
              <a:rPr lang="ko-KR" altLang="en-US" sz="1100" b="1" dirty="0"/>
              <a:t>제형</a:t>
            </a:r>
            <a:r>
              <a:rPr lang="en-US" altLang="ko-KR" sz="1100" b="1" dirty="0"/>
              <a:t>, </a:t>
            </a:r>
            <a:r>
              <a:rPr lang="ko-KR" altLang="en-US" sz="1100" b="1" dirty="0"/>
              <a:t>또는 제조 과정의 변경이 새로운 불순물이나 분해 생성물을 초래하는 경우</a:t>
            </a:r>
            <a:r>
              <a:rPr lang="en-US" altLang="ko-KR" sz="1100" b="1" dirty="0"/>
              <a:t> </a:t>
            </a:r>
            <a:r>
              <a:rPr lang="ko-KR" altLang="en-US" sz="1100" b="1" dirty="0"/>
              <a:t>적용</a:t>
            </a:r>
            <a:endParaRPr lang="en-US" altLang="ko-KR" sz="1100" b="1" dirty="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100" b="1" dirty="0"/>
              <a:t>암 위험 수준에 영향을 미치는 적응증 또는 복용 요법의 </a:t>
            </a:r>
            <a:r>
              <a:rPr lang="ko-KR" altLang="en-US" sz="1100" b="1" dirty="0" err="1"/>
              <a:t>변경시</a:t>
            </a:r>
            <a:r>
              <a:rPr lang="ko-KR" altLang="en-US" sz="1100" b="1" dirty="0"/>
              <a:t> 적용</a:t>
            </a:r>
            <a:r>
              <a:rPr lang="en-US" altLang="ko-KR" sz="1100" b="1" dirty="0"/>
              <a:t>.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100" b="1" dirty="0"/>
              <a:t>그러나 생물학적</a:t>
            </a:r>
            <a:r>
              <a:rPr lang="en-US" altLang="ko-KR" sz="1100" b="1" dirty="0"/>
              <a:t>, </a:t>
            </a:r>
            <a:r>
              <a:rPr lang="ko-KR" altLang="en-US" sz="1100" b="1" dirty="0"/>
              <a:t>펩타이드</a:t>
            </a:r>
            <a:r>
              <a:rPr lang="en-US" altLang="ko-KR" sz="1100" b="1" dirty="0"/>
              <a:t>, </a:t>
            </a:r>
            <a:r>
              <a:rPr lang="ko-KR" altLang="en-US" sz="1100" b="1" dirty="0"/>
              <a:t>방사성 의약품 등 특정 약물에는 이 가이드라인이 적용되지 않음</a:t>
            </a:r>
            <a:r>
              <a:rPr lang="en-US" altLang="ko-KR" sz="1100" b="1" dirty="0"/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100" b="1" dirty="0"/>
          </a:p>
          <a:p>
            <a:pPr>
              <a:lnSpc>
                <a:spcPct val="150000"/>
              </a:lnSpc>
            </a:pPr>
            <a:r>
              <a:rPr lang="ko-KR" altLang="en-US" sz="1100" b="1" dirty="0"/>
              <a:t>이 가이드라인은 고급 암 적응증에 대한 약물에는 적용되지 않으며</a:t>
            </a:r>
            <a:r>
              <a:rPr lang="en-US" altLang="ko-KR" sz="1100" b="1" dirty="0"/>
              <a:t>, </a:t>
            </a:r>
            <a:r>
              <a:rPr lang="ko-KR" altLang="en-US" sz="1100" b="1" dirty="0"/>
              <a:t>특정 경우에는 </a:t>
            </a:r>
            <a:r>
              <a:rPr lang="ko-KR" altLang="en-US" sz="1100" b="1" dirty="0" err="1"/>
              <a:t>비유전</a:t>
            </a:r>
            <a:r>
              <a:rPr lang="ko-KR" altLang="en-US" sz="1100" b="1" dirty="0"/>
              <a:t> 독성 불순물 관리가 가능합니다</a:t>
            </a:r>
            <a:r>
              <a:rPr lang="en-US" altLang="ko-KR" sz="1100" b="1" dirty="0"/>
              <a:t>. </a:t>
            </a:r>
            <a:r>
              <a:rPr lang="ko-KR" altLang="en-US" sz="1100" b="1" dirty="0"/>
              <a:t>또한 기존 제품의 부형제와 향료 등에는 적용되지 않지만</a:t>
            </a:r>
            <a:r>
              <a:rPr lang="en-US" altLang="ko-KR" sz="1100" b="1" dirty="0"/>
              <a:t>, </a:t>
            </a:r>
            <a:r>
              <a:rPr lang="ko-KR" altLang="en-US" sz="1100" b="1" dirty="0"/>
              <a:t>필요한 경우 안전성 평가 원칙을 사용할 수 있습니다</a:t>
            </a:r>
            <a:r>
              <a:rPr lang="en-US" altLang="ko-KR" sz="1100" b="1" dirty="0"/>
              <a:t>.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374715" y="495151"/>
            <a:ext cx="6023151" cy="5867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altLang="ko-KR" sz="1400" b="1" dirty="0"/>
              <a:t>SCOPE OF GUIDELINE</a:t>
            </a:r>
            <a:endParaRPr lang="en-US" altLang="ko-KR" sz="1400" dirty="0"/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fontAlgn="base">
              <a:lnSpc>
                <a:spcPct val="150000"/>
              </a:lnSpc>
            </a:pPr>
            <a:r>
              <a:rPr lang="en-US" altLang="ko-KR" sz="1400" dirty="0"/>
              <a:t>This document provides a guide to clinical development and marketing applications for new drug substances and products, including:</a:t>
            </a:r>
          </a:p>
          <a:p>
            <a:pPr fontAlgn="base">
              <a:lnSpc>
                <a:spcPct val="150000"/>
              </a:lnSpc>
            </a:pPr>
            <a:endParaRPr lang="en-US" altLang="ko-KR" sz="1400" dirty="0"/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Applies when changes in </a:t>
            </a:r>
            <a:r>
              <a:rPr lang="en-US" altLang="ko-KR" sz="1400" b="1" dirty="0">
                <a:solidFill>
                  <a:srgbClr val="FF0000"/>
                </a:solidFill>
              </a:rPr>
              <a:t>drug substance synthesis</a:t>
            </a:r>
            <a:r>
              <a:rPr lang="en-US" altLang="ko-KR" sz="1400" dirty="0"/>
              <a:t>, formulation, or manufacturing process result in new impurities or decomposition products.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It also applies to changes in indications or dosing regimens that affect cancer risk levels.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However, this guideline does not apply to certain drugs such as biological, peptide, and radioactive drugs.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b="1" dirty="0">
              <a:solidFill>
                <a:srgbClr val="FF0000"/>
              </a:solidFill>
            </a:endParaRPr>
          </a:p>
          <a:p>
            <a:pPr fontAlgn="base">
              <a:lnSpc>
                <a:spcPct val="150000"/>
              </a:lnSpc>
            </a:pPr>
            <a:r>
              <a:rPr lang="en-US" altLang="ko-KR" sz="1400" dirty="0"/>
              <a:t>This guideline does not apply to medications for advanced cancer indications, and in certain cases </a:t>
            </a:r>
            <a:r>
              <a:rPr lang="en-US" altLang="ko-KR" sz="1400" b="1" dirty="0">
                <a:solidFill>
                  <a:srgbClr val="FF0000"/>
                </a:solidFill>
              </a:rPr>
              <a:t>non-genetic toxic impurities </a:t>
            </a:r>
            <a:r>
              <a:rPr lang="en-US" altLang="ko-KR" sz="1400" dirty="0"/>
              <a:t>can be managed. It also does not apply to excipients and fragrances from existing products, but safety assessment principles can be used if necessary.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97866" y="4593890"/>
            <a:ext cx="4273993" cy="1321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200000"/>
              </a:lnSpc>
            </a:pPr>
            <a:r>
              <a:rPr lang="ko-KR" altLang="en-US" sz="1300" b="1" dirty="0"/>
              <a:t>유용한 직무 표현</a:t>
            </a:r>
            <a:endParaRPr lang="en-US" altLang="ko-KR" sz="1300" b="1" dirty="0"/>
          </a:p>
          <a:p>
            <a:pPr fontAlgn="base">
              <a:lnSpc>
                <a:spcPct val="200000"/>
              </a:lnSpc>
            </a:pPr>
            <a:endParaRPr lang="en-US" altLang="ko-KR" sz="300" b="1" dirty="0"/>
          </a:p>
          <a:p>
            <a:pPr fontAlgn="base">
              <a:lnSpc>
                <a:spcPct val="200000"/>
              </a:lnSpc>
            </a:pPr>
            <a:r>
              <a:rPr lang="en-US" altLang="ko-KR" sz="1300" b="1" dirty="0">
                <a:solidFill>
                  <a:srgbClr val="FF0000"/>
                </a:solidFill>
              </a:rPr>
              <a:t>Drug substance synthesis</a:t>
            </a:r>
            <a:r>
              <a:rPr lang="en-US" altLang="ko-KR" sz="1300" dirty="0"/>
              <a:t>: </a:t>
            </a:r>
            <a:r>
              <a:rPr lang="ko-KR" altLang="en-US" sz="1300" dirty="0"/>
              <a:t>약물 물질 합성</a:t>
            </a:r>
            <a:endParaRPr lang="en-US" altLang="ko-KR" sz="500" dirty="0"/>
          </a:p>
          <a:p>
            <a:pPr fontAlgn="base">
              <a:lnSpc>
                <a:spcPct val="200000"/>
              </a:lnSpc>
            </a:pPr>
            <a:r>
              <a:rPr lang="en-US" altLang="ko-KR" sz="1300" b="1" dirty="0">
                <a:solidFill>
                  <a:srgbClr val="FF0000"/>
                </a:solidFill>
              </a:rPr>
              <a:t>Non-genetic toxic impurities </a:t>
            </a:r>
            <a:r>
              <a:rPr lang="en-US" altLang="ko-KR" sz="1300" dirty="0"/>
              <a:t>: </a:t>
            </a:r>
            <a:r>
              <a:rPr lang="ko-KR" altLang="en-US" sz="1300" dirty="0" err="1"/>
              <a:t>비유전</a:t>
            </a:r>
            <a:r>
              <a:rPr lang="ko-KR" altLang="en-US" sz="1300" dirty="0"/>
              <a:t> 독성 불순물</a:t>
            </a:r>
            <a:endParaRPr lang="en-US" altLang="ko-KR" sz="1300" dirty="0"/>
          </a:p>
        </p:txBody>
      </p:sp>
    </p:spTree>
    <p:extLst>
      <p:ext uri="{BB962C8B-B14F-4D97-AF65-F5344CB8AC3E}">
        <p14:creationId xmlns:p14="http://schemas.microsoft.com/office/powerpoint/2010/main" val="4094953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271</Words>
  <Application>Microsoft Office PowerPoint</Application>
  <PresentationFormat>와이드스크린</PresentationFormat>
  <Paragraphs>28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ICH guideline -E2B(R3)- Clinical Safety Data Management: Definitions  and Standards for Expedited Reporting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공정서 해설 History</dc:title>
  <dc:creator>konyang</dc:creator>
  <cp:lastModifiedBy>예린 이</cp:lastModifiedBy>
  <cp:revision>32</cp:revision>
  <dcterms:created xsi:type="dcterms:W3CDTF">2024-09-02T06:01:32Z</dcterms:created>
  <dcterms:modified xsi:type="dcterms:W3CDTF">2024-10-28T05:48:25Z</dcterms:modified>
</cp:coreProperties>
</file>