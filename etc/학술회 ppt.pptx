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0"/>
  </p:notesMasterIdLst>
  <p:handoutMasterIdLst>
    <p:handoutMasterId r:id="rId11"/>
  </p:handoutMasterIdLst>
  <p:sldIdLst>
    <p:sldId id="256" r:id="rId2"/>
    <p:sldId id="317" r:id="rId3"/>
    <p:sldId id="315" r:id="rId4"/>
    <p:sldId id="318" r:id="rId5"/>
    <p:sldId id="319" r:id="rId6"/>
    <p:sldId id="320" r:id="rId7"/>
    <p:sldId id="321" r:id="rId8"/>
    <p:sldId id="322" r:id="rId9"/>
  </p:sldIdLst>
  <p:sldSz cx="9144000" cy="5143500" type="screen16x9"/>
  <p:notesSz cx="6858000" cy="9144000"/>
  <p:embeddedFontLst>
    <p:embeddedFont>
      <p:font typeface="Albert Sans" panose="020B0600000101010101" charset="0"/>
      <p:regular r:id="rId12"/>
      <p:bold r:id="rId13"/>
      <p:italic r:id="rId14"/>
      <p:boldItalic r:id="rId15"/>
    </p:embeddedFont>
    <p:embeddedFont>
      <p:font typeface="Albert Sans SemiBold" panose="020B0600000101010101" charset="0"/>
      <p:regular r:id="rId16"/>
      <p:bold r:id="rId17"/>
      <p:italic r:id="rId18"/>
      <p:boldItalic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휴먼모음T" panose="02030504000101010101" pitchFamily="18" charset="-127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6F47C7-C01A-4F63-B476-45286B8C13E2}">
  <a:tblStyle styleId="{A86F47C7-C01A-4F63-B476-45286B8C13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F24BB-4652-4866-B035-43EDB1B66D30}" type="datetimeFigureOut">
              <a:rPr lang="ko-KR" altLang="en-US" smtClean="0"/>
              <a:t>2022-12-01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FBCBC-1E17-4552-ABFE-9CA683C507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2976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44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419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70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647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963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287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061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0700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7324675" y="3660238"/>
            <a:ext cx="2358638" cy="2358638"/>
            <a:chOff x="7553538" y="3660238"/>
            <a:chExt cx="2358638" cy="2358638"/>
          </a:xfrm>
        </p:grpSpPr>
        <p:grpSp>
          <p:nvGrpSpPr>
            <p:cNvPr id="93" name="Google Shape;93;p14"/>
            <p:cNvGrpSpPr/>
            <p:nvPr/>
          </p:nvGrpSpPr>
          <p:grpSpPr>
            <a:xfrm rot="-2700000" flipH="1">
              <a:off x="7828010" y="4050176"/>
              <a:ext cx="1045765" cy="1045615"/>
              <a:chOff x="3741950" y="353925"/>
              <a:chExt cx="1045775" cy="1045625"/>
            </a:xfrm>
          </p:grpSpPr>
          <p:sp>
            <p:nvSpPr>
              <p:cNvPr id="94" name="Google Shape;94;p14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" name="Google Shape;97;p14"/>
            <p:cNvSpPr/>
            <p:nvPr/>
          </p:nvSpPr>
          <p:spPr>
            <a:xfrm rot="-2700000" flipH="1">
              <a:off x="7903927" y="400067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2968125" y="3100294"/>
            <a:ext cx="49494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subTitle" idx="1"/>
          </p:nvPr>
        </p:nvSpPr>
        <p:spPr>
          <a:xfrm>
            <a:off x="1226400" y="1511306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 rot="-2700000" flipH="1">
            <a:off x="520872" y="60574"/>
            <a:ext cx="1045765" cy="1045615"/>
            <a:chOff x="3741950" y="353925"/>
            <a:chExt cx="1045775" cy="1045625"/>
          </a:xfrm>
        </p:grpSpPr>
        <p:sp>
          <p:nvSpPr>
            <p:cNvPr id="148" name="Google Shape;148;p18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18"/>
          <p:cNvGrpSpPr/>
          <p:nvPr/>
        </p:nvGrpSpPr>
        <p:grpSpPr>
          <a:xfrm>
            <a:off x="7553538" y="3660238"/>
            <a:ext cx="2358638" cy="2358638"/>
            <a:chOff x="7553538" y="3660238"/>
            <a:chExt cx="2358638" cy="2358638"/>
          </a:xfrm>
        </p:grpSpPr>
        <p:grpSp>
          <p:nvGrpSpPr>
            <p:cNvPr id="152" name="Google Shape;152;p18"/>
            <p:cNvGrpSpPr/>
            <p:nvPr/>
          </p:nvGrpSpPr>
          <p:grpSpPr>
            <a:xfrm rot="-2700000" flipH="1">
              <a:off x="7828010" y="4050176"/>
              <a:ext cx="1045765" cy="1045615"/>
              <a:chOff x="3741950" y="353925"/>
              <a:chExt cx="1045775" cy="1045625"/>
            </a:xfrm>
          </p:grpSpPr>
          <p:sp>
            <p:nvSpPr>
              <p:cNvPr id="153" name="Google Shape;153;p18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8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8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" name="Google Shape;156;p18"/>
            <p:cNvSpPr/>
            <p:nvPr/>
          </p:nvSpPr>
          <p:spPr>
            <a:xfrm rot="-2700000" flipH="1">
              <a:off x="7903927" y="400067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7"/>
          <p:cNvGrpSpPr/>
          <p:nvPr/>
        </p:nvGrpSpPr>
        <p:grpSpPr>
          <a:xfrm rot="10800000" flipH="1">
            <a:off x="8331027" y="3471397"/>
            <a:ext cx="4357122" cy="707497"/>
            <a:chOff x="6456475" y="3575600"/>
            <a:chExt cx="3403204" cy="552603"/>
          </a:xfrm>
        </p:grpSpPr>
        <p:sp>
          <p:nvSpPr>
            <p:cNvPr id="247" name="Google Shape;247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27"/>
          <p:cNvGrpSpPr/>
          <p:nvPr/>
        </p:nvGrpSpPr>
        <p:grpSpPr>
          <a:xfrm rot="10800000" flipH="1">
            <a:off x="7315681" y="4178885"/>
            <a:ext cx="5455165" cy="875381"/>
            <a:chOff x="6456469" y="3575596"/>
            <a:chExt cx="3443700" cy="552604"/>
          </a:xfrm>
        </p:grpSpPr>
        <p:sp>
          <p:nvSpPr>
            <p:cNvPr id="250" name="Google Shape;250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27"/>
          <p:cNvGrpSpPr/>
          <p:nvPr/>
        </p:nvGrpSpPr>
        <p:grpSpPr>
          <a:xfrm flipH="1">
            <a:off x="-3486996" y="942843"/>
            <a:ext cx="4357122" cy="707497"/>
            <a:chOff x="6456475" y="3575600"/>
            <a:chExt cx="3403204" cy="552603"/>
          </a:xfrm>
        </p:grpSpPr>
        <p:sp>
          <p:nvSpPr>
            <p:cNvPr id="253" name="Google Shape;253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255;p27"/>
          <p:cNvGrpSpPr/>
          <p:nvPr/>
        </p:nvGrpSpPr>
        <p:grpSpPr>
          <a:xfrm flipH="1">
            <a:off x="-3569694" y="67472"/>
            <a:ext cx="5455165" cy="875381"/>
            <a:chOff x="6456469" y="3575596"/>
            <a:chExt cx="3443700" cy="552604"/>
          </a:xfrm>
        </p:grpSpPr>
        <p:sp>
          <p:nvSpPr>
            <p:cNvPr id="256" name="Google Shape;256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8"/>
          <p:cNvGrpSpPr/>
          <p:nvPr/>
        </p:nvGrpSpPr>
        <p:grpSpPr>
          <a:xfrm rot="5400000">
            <a:off x="6537771" y="4976418"/>
            <a:ext cx="4357122" cy="707497"/>
            <a:chOff x="6456475" y="3575600"/>
            <a:chExt cx="3403204" cy="552603"/>
          </a:xfrm>
        </p:grpSpPr>
        <p:sp>
          <p:nvSpPr>
            <p:cNvPr id="260" name="Google Shape;260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28"/>
          <p:cNvGrpSpPr/>
          <p:nvPr/>
        </p:nvGrpSpPr>
        <p:grpSpPr>
          <a:xfrm rot="5400000">
            <a:off x="6129289" y="5745840"/>
            <a:ext cx="3759089" cy="707494"/>
            <a:chOff x="6456475" y="3575600"/>
            <a:chExt cx="2936100" cy="552600"/>
          </a:xfrm>
        </p:grpSpPr>
        <p:sp>
          <p:nvSpPr>
            <p:cNvPr id="263" name="Google Shape;263;p28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28"/>
          <p:cNvGrpSpPr/>
          <p:nvPr/>
        </p:nvGrpSpPr>
        <p:grpSpPr>
          <a:xfrm rot="-5400000">
            <a:off x="-887968" y="-1051338"/>
            <a:ext cx="4357122" cy="707497"/>
            <a:chOff x="6456475" y="3575600"/>
            <a:chExt cx="3403204" cy="552603"/>
          </a:xfrm>
        </p:grpSpPr>
        <p:sp>
          <p:nvSpPr>
            <p:cNvPr id="266" name="Google Shape;266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28"/>
          <p:cNvGrpSpPr/>
          <p:nvPr/>
        </p:nvGrpSpPr>
        <p:grpSpPr>
          <a:xfrm rot="-5400000">
            <a:off x="-2228419" y="-668956"/>
            <a:ext cx="5455165" cy="875381"/>
            <a:chOff x="6456469" y="3575596"/>
            <a:chExt cx="3443700" cy="552604"/>
          </a:xfrm>
        </p:grpSpPr>
        <p:sp>
          <p:nvSpPr>
            <p:cNvPr id="269" name="Google Shape;269;p28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0" r:id="rId3"/>
    <p:sldLayoutId id="2147483664" r:id="rId4"/>
    <p:sldLayoutId id="2147483673" r:id="rId5"/>
    <p:sldLayoutId id="2147483674" r:id="rId6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>
            <a:spLocks noGrp="1"/>
          </p:cNvSpPr>
          <p:nvPr>
            <p:ph type="title"/>
          </p:nvPr>
        </p:nvSpPr>
        <p:spPr>
          <a:xfrm>
            <a:off x="529500" y="296145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indent="0" algn="ctr" fontAlgn="base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508000" algn="l"/>
                <a:tab pos="101600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34162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508000" algn="l"/>
                <a:tab pos="101600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341620" algn="l"/>
                <a:tab pos="5588000" algn="l"/>
              </a:tabLst>
            </a:pPr>
            <a:r>
              <a:rPr lang="ko-KR" altLang="en-US" sz="34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망막혈관 </a:t>
            </a:r>
            <a:r>
              <a:rPr lang="en-US" altLang="ko-KR" sz="34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Segmentation</a:t>
            </a:r>
            <a:r>
              <a:rPr lang="ko-KR" altLang="en-US" sz="34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을 위한 </a:t>
            </a:r>
            <a:r>
              <a:rPr lang="ko-KR" altLang="en-US" sz="3400" b="1" kern="0" spc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전처리</a:t>
            </a:r>
            <a:r>
              <a:rPr lang="ko-KR" altLang="en-US" sz="34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방식 비교분석 연구</a:t>
            </a:r>
            <a:endParaRPr lang="ko-KR" altLang="en-US" sz="3400" kern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4294967295"/>
          </p:nvPr>
        </p:nvSpPr>
        <p:spPr>
          <a:xfrm>
            <a:off x="3329940" y="4648145"/>
            <a:ext cx="4527550" cy="476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배지원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하세희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윤태웅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조유상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김용석</a:t>
            </a:r>
            <a:endParaRPr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Google Shape;331;p34">
            <a:extLst>
              <a:ext uri="{FF2B5EF4-FFF2-40B4-BE49-F238E27FC236}">
                <a16:creationId xmlns:a16="http://schemas.microsoft.com/office/drawing/2014/main" id="{FE19F32D-33A0-4C62-46EC-1D7D31365587}"/>
              </a:ext>
            </a:extLst>
          </p:cNvPr>
          <p:cNvSpPr/>
          <p:nvPr/>
        </p:nvSpPr>
        <p:spPr>
          <a:xfrm rot="10800000" flipH="1">
            <a:off x="6102055" y="400313"/>
            <a:ext cx="5455165" cy="52633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9;p34">
            <a:extLst>
              <a:ext uri="{FF2B5EF4-FFF2-40B4-BE49-F238E27FC236}">
                <a16:creationId xmlns:a16="http://schemas.microsoft.com/office/drawing/2014/main" id="{DB8D6F0D-00EB-77F7-9F98-DF47C217E663}"/>
              </a:ext>
            </a:extLst>
          </p:cNvPr>
          <p:cNvSpPr/>
          <p:nvPr/>
        </p:nvSpPr>
        <p:spPr>
          <a:xfrm flipH="1">
            <a:off x="6705975" y="1083007"/>
            <a:ext cx="5455165" cy="52633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82;p32">
            <a:extLst>
              <a:ext uri="{FF2B5EF4-FFF2-40B4-BE49-F238E27FC236}">
                <a16:creationId xmlns:a16="http://schemas.microsoft.com/office/drawing/2014/main" id="{3FBD446F-EEF8-DE81-068C-13D7251AB376}"/>
              </a:ext>
            </a:extLst>
          </p:cNvPr>
          <p:cNvSpPr txBox="1">
            <a:spLocks/>
          </p:cNvSpPr>
          <p:nvPr/>
        </p:nvSpPr>
        <p:spPr>
          <a:xfrm>
            <a:off x="7624925" y="4588510"/>
            <a:ext cx="1349492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6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r"/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CIEC 2022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2022 . 12 . 02</a:t>
            </a:r>
            <a:endParaRPr lang="ko-KR" altLang="en-US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/>
          <p:nvPr/>
        </p:nvSpPr>
        <p:spPr>
          <a:xfrm flipH="1">
            <a:off x="-1638333" y="346620"/>
            <a:ext cx="4385698" cy="53456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ea"/>
              <a:ea typeface="+mj-ea"/>
            </a:endParaRPr>
          </a:p>
        </p:txBody>
      </p:sp>
      <p:sp>
        <p:nvSpPr>
          <p:cNvPr id="424" name="Google Shape;424;p39"/>
          <p:cNvSpPr txBox="1">
            <a:spLocks noGrp="1"/>
          </p:cNvSpPr>
          <p:nvPr>
            <p:ph type="title"/>
          </p:nvPr>
        </p:nvSpPr>
        <p:spPr>
          <a:xfrm>
            <a:off x="-5356221" y="3313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latin typeface="+mj-ea"/>
                <a:ea typeface="+mj-ea"/>
              </a:rPr>
              <a:t>연구 배경</a:t>
            </a:r>
            <a:endParaRPr sz="2400" dirty="0">
              <a:latin typeface="+mj-ea"/>
              <a:ea typeface="+mj-ea"/>
            </a:endParaRPr>
          </a:p>
        </p:txBody>
      </p:sp>
      <p:grpSp>
        <p:nvGrpSpPr>
          <p:cNvPr id="430" name="Google Shape;430;p39"/>
          <p:cNvGrpSpPr/>
          <p:nvPr/>
        </p:nvGrpSpPr>
        <p:grpSpPr>
          <a:xfrm rot="2700000">
            <a:off x="-76218" y="-187130"/>
            <a:ext cx="1045765" cy="1045615"/>
            <a:chOff x="3741950" y="353925"/>
            <a:chExt cx="1045775" cy="1045625"/>
          </a:xfrm>
        </p:grpSpPr>
        <p:sp>
          <p:nvSpPr>
            <p:cNvPr id="431" name="Google Shape;431;p39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426;p39">
            <a:extLst>
              <a:ext uri="{FF2B5EF4-FFF2-40B4-BE49-F238E27FC236}">
                <a16:creationId xmlns:a16="http://schemas.microsoft.com/office/drawing/2014/main" id="{E55FAD47-91A1-C0D7-8480-9202BEEFBC7F}"/>
              </a:ext>
            </a:extLst>
          </p:cNvPr>
          <p:cNvSpPr txBox="1">
            <a:spLocks/>
          </p:cNvSpPr>
          <p:nvPr/>
        </p:nvSpPr>
        <p:spPr>
          <a:xfrm>
            <a:off x="789688" y="1542326"/>
            <a:ext cx="7844378" cy="2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/>
            <a:r>
              <a:rPr lang="en-US" altLang="ko-KR" sz="1600" dirty="0">
                <a:latin typeface="+mj-ea"/>
                <a:ea typeface="+mj-ea"/>
              </a:rPr>
              <a:t>-</a:t>
            </a:r>
            <a:r>
              <a:rPr lang="ko-KR" altLang="en-US" sz="1600" dirty="0">
                <a:latin typeface="+mj-ea"/>
                <a:ea typeface="+mj-ea"/>
              </a:rPr>
              <a:t>망막 질환 환자가 증가하고 있는 반면 의료진은 부족한 경향을 나타내고 있다</a:t>
            </a:r>
            <a:r>
              <a:rPr lang="en-US" altLang="ko-KR" sz="1600" dirty="0">
                <a:latin typeface="+mj-ea"/>
                <a:ea typeface="+mj-ea"/>
              </a:rPr>
              <a:t>.  </a:t>
            </a:r>
          </a:p>
          <a:p>
            <a:pPr marL="0" indent="0"/>
            <a:endParaRPr lang="en-US" altLang="ko-KR" sz="1600" dirty="0">
              <a:latin typeface="+mj-ea"/>
              <a:ea typeface="+mj-ea"/>
            </a:endParaRPr>
          </a:p>
          <a:p>
            <a:pPr marL="0" indent="0"/>
            <a:r>
              <a:rPr lang="en-US" altLang="ko-KR" sz="1600" dirty="0">
                <a:latin typeface="+mj-ea"/>
                <a:ea typeface="+mj-ea"/>
              </a:rPr>
              <a:t>-</a:t>
            </a:r>
            <a:r>
              <a:rPr lang="ko-KR" altLang="en-US" sz="1600" dirty="0">
                <a:latin typeface="+mj-ea"/>
                <a:ea typeface="+mj-ea"/>
              </a:rPr>
              <a:t>망막혈관의 </a:t>
            </a:r>
            <a:r>
              <a:rPr lang="en-US" altLang="ko-KR" sz="1600" dirty="0">
                <a:latin typeface="+mj-ea"/>
                <a:ea typeface="+mj-ea"/>
              </a:rPr>
              <a:t>Labeling</a:t>
            </a:r>
            <a:r>
              <a:rPr lang="ko-KR" altLang="en-US" sz="1600" dirty="0">
                <a:latin typeface="+mj-ea"/>
                <a:ea typeface="+mj-ea"/>
              </a:rPr>
              <a:t>은 전문의 수작업을 통해 진행되며 특수한 장비를 </a:t>
            </a:r>
            <a:r>
              <a:rPr lang="ko-KR" altLang="en-US" sz="1600">
                <a:latin typeface="+mj-ea"/>
                <a:ea typeface="+mj-ea"/>
              </a:rPr>
              <a:t>이용해 </a:t>
            </a:r>
            <a:r>
              <a:rPr lang="ko-KR" altLang="en-US" sz="1600" smtClean="0">
                <a:latin typeface="+mj-ea"/>
                <a:ea typeface="+mj-ea"/>
              </a:rPr>
              <a:t>  정밀하게 확인해야 </a:t>
            </a:r>
            <a:r>
              <a:rPr lang="ko-KR" altLang="en-US" sz="1600" dirty="0">
                <a:latin typeface="+mj-ea"/>
                <a:ea typeface="+mj-ea"/>
              </a:rPr>
              <a:t>하기에 다소 어려운 부분이 있다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</a:p>
          <a:p>
            <a:pPr marL="0" indent="0"/>
            <a:endParaRPr lang="en-US" altLang="ko-KR" sz="1600" dirty="0">
              <a:latin typeface="+mj-ea"/>
              <a:ea typeface="+mj-ea"/>
            </a:endParaRPr>
          </a:p>
          <a:p>
            <a:pPr marL="0" indent="0"/>
            <a:r>
              <a:rPr lang="en-US" altLang="ko-KR" sz="1600" dirty="0">
                <a:latin typeface="+mj-ea"/>
                <a:ea typeface="+mj-ea"/>
              </a:rPr>
              <a:t>-</a:t>
            </a:r>
            <a:r>
              <a:rPr lang="ko-KR" altLang="en-US" sz="1600" dirty="0">
                <a:latin typeface="+mj-ea"/>
                <a:ea typeface="+mj-ea"/>
              </a:rPr>
              <a:t>이러한 문제들로 최근 망막 혈관 </a:t>
            </a:r>
            <a:r>
              <a:rPr lang="en-US" altLang="ko-KR" sz="1600" dirty="0">
                <a:latin typeface="+mj-ea"/>
                <a:ea typeface="+mj-ea"/>
              </a:rPr>
              <a:t>Segmentation </a:t>
            </a:r>
            <a:r>
              <a:rPr lang="ko-KR" altLang="en-US" sz="1600" dirty="0">
                <a:latin typeface="+mj-ea"/>
                <a:ea typeface="+mj-ea"/>
              </a:rPr>
              <a:t>연구가 활발히 진행되고 있다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</a:p>
          <a:p>
            <a:pPr marL="0" indent="0"/>
            <a:endParaRPr lang="en-US" altLang="ko-KR" sz="1600" dirty="0">
              <a:latin typeface="+mj-ea"/>
              <a:ea typeface="+mj-ea"/>
            </a:endParaRPr>
          </a:p>
          <a:p>
            <a:pPr marL="0" indent="0"/>
            <a:r>
              <a:rPr lang="en-US" altLang="ko-KR" sz="1600" dirty="0">
                <a:latin typeface="+mj-ea"/>
                <a:ea typeface="+mj-ea"/>
              </a:rPr>
              <a:t>-</a:t>
            </a:r>
            <a:r>
              <a:rPr lang="ko-KR" altLang="en-US" sz="1600" dirty="0">
                <a:latin typeface="+mj-ea"/>
                <a:ea typeface="+mj-ea"/>
              </a:rPr>
              <a:t>더욱 효과적인 </a:t>
            </a:r>
            <a:r>
              <a:rPr lang="en-US" altLang="ko-KR" sz="1600" dirty="0">
                <a:latin typeface="+mj-ea"/>
                <a:ea typeface="+mj-ea"/>
              </a:rPr>
              <a:t>Segmentation</a:t>
            </a:r>
            <a:r>
              <a:rPr lang="ko-KR" altLang="en-US" sz="1600" dirty="0">
                <a:latin typeface="+mj-ea"/>
                <a:ea typeface="+mj-ea"/>
              </a:rPr>
              <a:t>을 위해 최적의 </a:t>
            </a:r>
            <a:r>
              <a:rPr lang="ko-KR" altLang="en-US" sz="1600" dirty="0" err="1">
                <a:latin typeface="+mj-ea"/>
                <a:ea typeface="+mj-ea"/>
              </a:rPr>
              <a:t>전처리</a:t>
            </a:r>
            <a:r>
              <a:rPr lang="ko-KR" altLang="en-US" sz="1600" dirty="0">
                <a:latin typeface="+mj-ea"/>
                <a:ea typeface="+mj-ea"/>
              </a:rPr>
              <a:t> 방식을 연구하였다</a:t>
            </a:r>
            <a:r>
              <a:rPr lang="en-US" altLang="ko-KR" sz="16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.</a:t>
            </a:r>
            <a:endParaRPr lang="ko-KR" altLang="en-US" sz="16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115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>
            <a:spLocks noGrp="1"/>
          </p:cNvSpPr>
          <p:nvPr>
            <p:ph type="subTitle" idx="4294967295"/>
          </p:nvPr>
        </p:nvSpPr>
        <p:spPr>
          <a:xfrm>
            <a:off x="5330314" y="1544782"/>
            <a:ext cx="3813686" cy="3015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망막 데이터는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Kaggle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DRIVE(Digital Retinal Images for Vessel Extraction)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데이터를 활용하였다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데이터는 네덜란드의 당뇨병성 망막병증 선별 프로그램에서 얻어졌으며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Training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총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데이터로 구성되었다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수를 보충해주기 위해 데이터를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도씩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회전시켜 총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2400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데이터를 늘려 구성하였다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0" name="Google Shape;430;p39"/>
          <p:cNvGrpSpPr/>
          <p:nvPr/>
        </p:nvGrpSpPr>
        <p:grpSpPr>
          <a:xfrm rot="2700000">
            <a:off x="266682" y="-187130"/>
            <a:ext cx="1045765" cy="1045615"/>
            <a:chOff x="3741950" y="353925"/>
            <a:chExt cx="1045775" cy="1045625"/>
          </a:xfrm>
        </p:grpSpPr>
        <p:sp>
          <p:nvSpPr>
            <p:cNvPr id="431" name="Google Shape;431;p39"/>
            <p:cNvSpPr/>
            <p:nvPr/>
          </p:nvSpPr>
          <p:spPr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옅은, 켜진이(가) 표시된 사진&#10;&#10;자동 생성된 설명">
            <a:extLst>
              <a:ext uri="{FF2B5EF4-FFF2-40B4-BE49-F238E27FC236}">
                <a16:creationId xmlns:a16="http://schemas.microsoft.com/office/drawing/2014/main" id="{F964C9F1-DBB7-01EE-3F34-5A7C267D2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9" y="2027615"/>
            <a:ext cx="2122096" cy="2193458"/>
          </a:xfrm>
          <a:prstGeom prst="rect">
            <a:avLst/>
          </a:prstGeom>
        </p:spPr>
      </p:pic>
      <p:sp>
        <p:nvSpPr>
          <p:cNvPr id="7" name="Google Shape;428;p39">
            <a:extLst>
              <a:ext uri="{FF2B5EF4-FFF2-40B4-BE49-F238E27FC236}">
                <a16:creationId xmlns:a16="http://schemas.microsoft.com/office/drawing/2014/main" id="{6E0D18F4-9F31-3470-058C-7EEFF7398C34}"/>
              </a:ext>
            </a:extLst>
          </p:cNvPr>
          <p:cNvSpPr/>
          <p:nvPr/>
        </p:nvSpPr>
        <p:spPr>
          <a:xfrm flipH="1">
            <a:off x="-1638333" y="346620"/>
            <a:ext cx="4385698" cy="53456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424;p39">
            <a:extLst>
              <a:ext uri="{FF2B5EF4-FFF2-40B4-BE49-F238E27FC236}">
                <a16:creationId xmlns:a16="http://schemas.microsoft.com/office/drawing/2014/main" id="{DD370F57-3110-3ACE-3C52-1C2DB267F1A9}"/>
              </a:ext>
            </a:extLst>
          </p:cNvPr>
          <p:cNvSpPr txBox="1">
            <a:spLocks/>
          </p:cNvSpPr>
          <p:nvPr/>
        </p:nvSpPr>
        <p:spPr>
          <a:xfrm>
            <a:off x="574447" y="346070"/>
            <a:ext cx="1815185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수집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D261F99-5B71-729D-931C-0B189560E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70" y="1333501"/>
            <a:ext cx="4449886" cy="68565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B8B8FEA-6C90-EF3A-FA7E-DA06043C92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31" r="2311" b="1780"/>
          <a:stretch/>
        </p:blipFill>
        <p:spPr>
          <a:xfrm rot="5400000">
            <a:off x="3024457" y="1998395"/>
            <a:ext cx="2178050" cy="216271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3C86EC1-F857-7081-F32D-8AF5567C8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978709" y="2004945"/>
            <a:ext cx="2230345" cy="22019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D4D370-78EE-9FDC-F3EC-0DACBD193DC0}"/>
              </a:ext>
            </a:extLst>
          </p:cNvPr>
          <p:cNvSpPr txBox="1"/>
          <p:nvPr/>
        </p:nvSpPr>
        <p:spPr>
          <a:xfrm>
            <a:off x="-27187" y="4935676"/>
            <a:ext cx="5671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https://www.kaggle.com/datasets/andrewmvd/drive-digital-retinal-images-for-vessel-extraction</a:t>
            </a:r>
            <a:endParaRPr lang="ko-KR" altLang="en-US" sz="5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705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p39">
            <a:extLst>
              <a:ext uri="{FF2B5EF4-FFF2-40B4-BE49-F238E27FC236}">
                <a16:creationId xmlns:a16="http://schemas.microsoft.com/office/drawing/2014/main" id="{3A326A48-0C5D-E069-ECFD-091CD4E3F055}"/>
              </a:ext>
            </a:extLst>
          </p:cNvPr>
          <p:cNvSpPr/>
          <p:nvPr/>
        </p:nvSpPr>
        <p:spPr>
          <a:xfrm flipH="1">
            <a:off x="-1638333" y="346620"/>
            <a:ext cx="4385698" cy="53456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39">
            <a:extLst>
              <a:ext uri="{FF2B5EF4-FFF2-40B4-BE49-F238E27FC236}">
                <a16:creationId xmlns:a16="http://schemas.microsoft.com/office/drawing/2014/main" id="{425C8266-2BBB-06E0-3568-50681CBD3EC1}"/>
              </a:ext>
            </a:extLst>
          </p:cNvPr>
          <p:cNvSpPr txBox="1">
            <a:spLocks/>
          </p:cNvSpPr>
          <p:nvPr/>
        </p:nvSpPr>
        <p:spPr>
          <a:xfrm>
            <a:off x="-216430" y="346620"/>
            <a:ext cx="2643483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r>
              <a:rPr lang="ko-KR" altLang="en-US" sz="2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endParaRPr lang="ko-KR" alt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Google Shape;426;p39">
            <a:extLst>
              <a:ext uri="{FF2B5EF4-FFF2-40B4-BE49-F238E27FC236}">
                <a16:creationId xmlns:a16="http://schemas.microsoft.com/office/drawing/2014/main" id="{4E77C4B3-E53C-7B1B-34E4-1FDEE5228182}"/>
              </a:ext>
            </a:extLst>
          </p:cNvPr>
          <p:cNvSpPr txBox="1">
            <a:spLocks/>
          </p:cNvSpPr>
          <p:nvPr/>
        </p:nvSpPr>
        <p:spPr>
          <a:xfrm>
            <a:off x="720000" y="3369203"/>
            <a:ext cx="8192352" cy="1490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혈관 이미지의 밝기 값을 고르게 맞추기 위해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Histogram Equalization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적용하였으며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노이즈가 발생해 이진화로 제거하였다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혈관의 경계선을 선명하게 만들기 위해 주변의 값들과 차이를 극대화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시켜 </a:t>
            </a:r>
            <a:endParaRPr lang="en-US" altLang="ko-KR" sz="160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경계부분의 명암비를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증가시키는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Sharpening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히스토그램 높이에 제한을 설정하여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특정 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높이 이상에 있는</a:t>
            </a:r>
            <a:r>
              <a:rPr lang="en-US" altLang="ko-KR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Pixel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값들을 재분배하는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CLAHE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기법을 적용하였다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크기를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(256,256)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변경하여 모델의 학습 속도를 높였다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96B1BB-E124-5A7C-9717-57D169424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42434"/>
            <a:ext cx="2247311" cy="19101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2DC67A-36D6-5DB4-419D-209EE69221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86" b="481"/>
          <a:stretch/>
        </p:blipFill>
        <p:spPr>
          <a:xfrm>
            <a:off x="3409245" y="1039749"/>
            <a:ext cx="2247310" cy="19101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226E36-38F4-E432-255D-881CB7C9C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237" y="1039749"/>
            <a:ext cx="2247311" cy="19101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47584B-4398-2118-A23E-D63A4EBD129F}"/>
              </a:ext>
            </a:extLst>
          </p:cNvPr>
          <p:cNvSpPr txBox="1"/>
          <p:nvPr/>
        </p:nvSpPr>
        <p:spPr>
          <a:xfrm>
            <a:off x="607874" y="3064296"/>
            <a:ext cx="2355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   </a:t>
            </a:r>
            <a:r>
              <a:rPr lang="ko-KR" altLang="en-US" smtClean="0">
                <a:latin typeface="+mj-ea"/>
                <a:ea typeface="+mj-ea"/>
              </a:rPr>
              <a:t> </a:t>
            </a:r>
            <a:r>
              <a:rPr lang="en-US" altLang="ko-KR" smtClean="0">
                <a:latin typeface="+mj-ea"/>
                <a:ea typeface="+mj-ea"/>
              </a:rPr>
              <a:t>Histogram Equalization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F2C2DD-4AAC-6D88-36D3-C23F665D772E}"/>
              </a:ext>
            </a:extLst>
          </p:cNvPr>
          <p:cNvSpPr txBox="1"/>
          <p:nvPr/>
        </p:nvSpPr>
        <p:spPr>
          <a:xfrm>
            <a:off x="3972180" y="3064296"/>
            <a:ext cx="1385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Sharpening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B913F-6067-FC43-B0FB-5F9EE8BCE358}"/>
              </a:ext>
            </a:extLst>
          </p:cNvPr>
          <p:cNvSpPr txBox="1"/>
          <p:nvPr/>
        </p:nvSpPr>
        <p:spPr>
          <a:xfrm>
            <a:off x="6889234" y="3064296"/>
            <a:ext cx="856880" cy="304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CLAHE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336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p39">
            <a:extLst>
              <a:ext uri="{FF2B5EF4-FFF2-40B4-BE49-F238E27FC236}">
                <a16:creationId xmlns:a16="http://schemas.microsoft.com/office/drawing/2014/main" id="{3A326A48-0C5D-E069-ECFD-091CD4E3F055}"/>
              </a:ext>
            </a:extLst>
          </p:cNvPr>
          <p:cNvSpPr/>
          <p:nvPr/>
        </p:nvSpPr>
        <p:spPr>
          <a:xfrm flipH="1">
            <a:off x="-1638333" y="346620"/>
            <a:ext cx="4385698" cy="53456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39">
            <a:extLst>
              <a:ext uri="{FF2B5EF4-FFF2-40B4-BE49-F238E27FC236}">
                <a16:creationId xmlns:a16="http://schemas.microsoft.com/office/drawing/2014/main" id="{425C8266-2BBB-06E0-3568-50681CBD3EC1}"/>
              </a:ext>
            </a:extLst>
          </p:cNvPr>
          <p:cNvSpPr txBox="1">
            <a:spLocks/>
          </p:cNvSpPr>
          <p:nvPr/>
        </p:nvSpPr>
        <p:spPr>
          <a:xfrm>
            <a:off x="-407142" y="346620"/>
            <a:ext cx="2643483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r>
              <a:rPr lang="ko-KR" altLang="en-US" sz="2400" dirty="0">
                <a:latin typeface="+mj-ea"/>
                <a:ea typeface="+mj-ea"/>
              </a:rPr>
              <a:t>모델 구성</a:t>
            </a:r>
          </a:p>
        </p:txBody>
      </p:sp>
      <p:sp>
        <p:nvSpPr>
          <p:cNvPr id="2" name="Google Shape;426;p39">
            <a:extLst>
              <a:ext uri="{FF2B5EF4-FFF2-40B4-BE49-F238E27FC236}">
                <a16:creationId xmlns:a16="http://schemas.microsoft.com/office/drawing/2014/main" id="{1E99B7D0-FEA3-D38A-6AFF-84EA6051E08C}"/>
              </a:ext>
            </a:extLst>
          </p:cNvPr>
          <p:cNvSpPr txBox="1">
            <a:spLocks/>
          </p:cNvSpPr>
          <p:nvPr/>
        </p:nvSpPr>
        <p:spPr>
          <a:xfrm>
            <a:off x="4841289" y="788961"/>
            <a:ext cx="4171167" cy="3428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sz="1600">
                <a:latin typeface="+mj-ea"/>
                <a:ea typeface="+mj-ea"/>
              </a:rPr>
              <a:t>-   </a:t>
            </a:r>
            <a:r>
              <a:rPr lang="ko-KR" altLang="en-US" sz="1600" smtClean="0">
                <a:latin typeface="+mj-ea"/>
                <a:ea typeface="+mj-ea"/>
              </a:rPr>
              <a:t>학습 </a:t>
            </a:r>
            <a:r>
              <a:rPr lang="ko-KR" altLang="en-US" sz="1600" dirty="0">
                <a:latin typeface="+mj-ea"/>
                <a:ea typeface="+mj-ea"/>
              </a:rPr>
              <a:t>모델</a:t>
            </a:r>
            <a:r>
              <a:rPr lang="en-US" altLang="ko-KR" sz="1600" dirty="0">
                <a:latin typeface="+mj-ea"/>
                <a:ea typeface="+mj-ea"/>
              </a:rPr>
              <a:t>:  U-net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j-ea"/>
                <a:ea typeface="+mj-ea"/>
              </a:rPr>
              <a:t>Encorder</a:t>
            </a:r>
            <a:r>
              <a:rPr lang="ko-KR" altLang="en-US" sz="1600" dirty="0">
                <a:latin typeface="+mj-ea"/>
                <a:ea typeface="+mj-ea"/>
              </a:rPr>
              <a:t>와 </a:t>
            </a:r>
            <a:r>
              <a:rPr lang="en-US" altLang="ko-KR" sz="1600" dirty="0" err="1">
                <a:latin typeface="+mj-ea"/>
                <a:ea typeface="+mj-ea"/>
              </a:rPr>
              <a:t>Decorder</a:t>
            </a:r>
            <a:r>
              <a:rPr lang="ko-KR" altLang="en-US" sz="1600" dirty="0">
                <a:latin typeface="+mj-ea"/>
                <a:ea typeface="+mj-ea"/>
              </a:rPr>
              <a:t>가 서로 대칭인 구조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활성화 함수 </a:t>
            </a:r>
            <a:r>
              <a:rPr lang="en-US" altLang="ko-KR" sz="1600" dirty="0" err="1">
                <a:latin typeface="+mj-ea"/>
                <a:ea typeface="+mj-ea"/>
              </a:rPr>
              <a:t>Relu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및 </a:t>
            </a:r>
            <a:r>
              <a:rPr lang="en-US" altLang="ko-KR" sz="1600" dirty="0">
                <a:latin typeface="+mj-ea"/>
                <a:ea typeface="+mj-ea"/>
              </a:rPr>
              <a:t>Batch Normalization</a:t>
            </a:r>
            <a:r>
              <a:rPr lang="ko-KR" altLang="en-US" sz="1600" dirty="0">
                <a:latin typeface="+mj-ea"/>
                <a:ea typeface="+mj-ea"/>
              </a:rPr>
              <a:t>로 구성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j-ea"/>
                <a:ea typeface="+mj-ea"/>
              </a:rPr>
              <a:t>Decorder</a:t>
            </a:r>
            <a:r>
              <a:rPr lang="ko-KR" altLang="en-US" sz="1600" dirty="0">
                <a:latin typeface="+mj-ea"/>
                <a:ea typeface="+mj-ea"/>
              </a:rPr>
              <a:t>는 </a:t>
            </a:r>
            <a:r>
              <a:rPr lang="en-US" altLang="ko-KR" sz="1600" dirty="0" err="1">
                <a:latin typeface="+mj-ea"/>
                <a:ea typeface="+mj-ea"/>
              </a:rPr>
              <a:t>Encorder</a:t>
            </a:r>
            <a:r>
              <a:rPr lang="ko-KR" altLang="en-US" sz="1600" dirty="0">
                <a:latin typeface="+mj-ea"/>
                <a:ea typeface="+mj-ea"/>
              </a:rPr>
              <a:t>에</a:t>
            </a:r>
            <a:r>
              <a:rPr lang="en-US" altLang="ko-KR" sz="1600" dirty="0">
                <a:latin typeface="+mj-ea"/>
                <a:ea typeface="+mj-ea"/>
              </a:rPr>
              <a:t> Up-sampling</a:t>
            </a:r>
            <a:r>
              <a:rPr lang="ko-KR" altLang="en-US" sz="1600" dirty="0">
                <a:latin typeface="+mj-ea"/>
                <a:ea typeface="+mj-ea"/>
              </a:rPr>
              <a:t>을 추가하여 구성함</a:t>
            </a:r>
            <a:endParaRPr lang="en-US" altLang="ko-KR" sz="1600" dirty="0">
              <a:latin typeface="+mj-ea"/>
              <a:ea typeface="+mj-ea"/>
            </a:endParaRPr>
          </a:p>
          <a:p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+mj-ea"/>
                <a:ea typeface="+mj-ea"/>
              </a:rPr>
              <a:t>Input size: (256,256,1)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+mj-ea"/>
                <a:ea typeface="+mj-ea"/>
              </a:rPr>
              <a:t>Optimizer: Adam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+mj-ea"/>
                <a:ea typeface="+mj-ea"/>
              </a:rPr>
              <a:t>Learning rate:  0.0001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+mj-ea"/>
                <a:ea typeface="+mj-ea"/>
              </a:rPr>
              <a:t>Loss:  </a:t>
            </a:r>
            <a:r>
              <a:rPr lang="en-US" altLang="ko-KR" sz="1600" dirty="0" err="1">
                <a:latin typeface="+mj-ea"/>
                <a:ea typeface="+mj-ea"/>
              </a:rPr>
              <a:t>Binary_crossentopy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atin typeface="+mj-ea"/>
              <a:ea typeface="+mj-ea"/>
            </a:endParaRPr>
          </a:p>
          <a:p>
            <a:endParaRPr lang="en-US" altLang="ko-KR" sz="1600" dirty="0">
              <a:latin typeface="+mj-ea"/>
              <a:ea typeface="+mj-ea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6321A48D-5EB5-4B4E-D2FC-554FC2BCA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7" y="1224350"/>
            <a:ext cx="3933493" cy="3320611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994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p39">
            <a:extLst>
              <a:ext uri="{FF2B5EF4-FFF2-40B4-BE49-F238E27FC236}">
                <a16:creationId xmlns:a16="http://schemas.microsoft.com/office/drawing/2014/main" id="{3A326A48-0C5D-E069-ECFD-091CD4E3F055}"/>
              </a:ext>
            </a:extLst>
          </p:cNvPr>
          <p:cNvSpPr/>
          <p:nvPr/>
        </p:nvSpPr>
        <p:spPr>
          <a:xfrm flipH="1">
            <a:off x="-1638333" y="346620"/>
            <a:ext cx="4385698" cy="53456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39">
            <a:extLst>
              <a:ext uri="{FF2B5EF4-FFF2-40B4-BE49-F238E27FC236}">
                <a16:creationId xmlns:a16="http://schemas.microsoft.com/office/drawing/2014/main" id="{425C8266-2BBB-06E0-3568-50681CBD3EC1}"/>
              </a:ext>
            </a:extLst>
          </p:cNvPr>
          <p:cNvSpPr txBox="1">
            <a:spLocks/>
          </p:cNvSpPr>
          <p:nvPr/>
        </p:nvSpPr>
        <p:spPr>
          <a:xfrm>
            <a:off x="0" y="342541"/>
            <a:ext cx="231648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r>
              <a:rPr lang="ko-KR" altLang="en-US" sz="2400" smtClean="0">
                <a:latin typeface="+mj-ea"/>
                <a:ea typeface="+mj-ea"/>
              </a:rPr>
              <a:t>모델 결과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2" name="Google Shape;426;p39">
            <a:extLst>
              <a:ext uri="{FF2B5EF4-FFF2-40B4-BE49-F238E27FC236}">
                <a16:creationId xmlns:a16="http://schemas.microsoft.com/office/drawing/2014/main" id="{9CB3553B-3F90-A9CC-2F91-B97AF7C73C7B}"/>
              </a:ext>
            </a:extLst>
          </p:cNvPr>
          <p:cNvSpPr txBox="1">
            <a:spLocks/>
          </p:cNvSpPr>
          <p:nvPr/>
        </p:nvSpPr>
        <p:spPr>
          <a:xfrm>
            <a:off x="789555" y="1230234"/>
            <a:ext cx="75648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1600" spc="-70" dirty="0">
                <a:latin typeface="+mj-ea"/>
                <a:ea typeface="+mj-ea"/>
              </a:rPr>
              <a:t>활용한 </a:t>
            </a:r>
            <a:r>
              <a:rPr lang="ko-KR" altLang="en-US" sz="1600" spc="-70" dirty="0" err="1">
                <a:latin typeface="+mj-ea"/>
                <a:ea typeface="+mj-ea"/>
              </a:rPr>
              <a:t>전처리</a:t>
            </a:r>
            <a:r>
              <a:rPr lang="ko-KR" altLang="en-US" sz="1600" spc="-70" dirty="0">
                <a:latin typeface="+mj-ea"/>
                <a:ea typeface="+mj-ea"/>
              </a:rPr>
              <a:t> 기법인 </a:t>
            </a:r>
            <a:r>
              <a:rPr lang="en-US" altLang="ko-KR" sz="1600" dirty="0">
                <a:latin typeface="+mj-ea"/>
                <a:ea typeface="+mj-ea"/>
              </a:rPr>
              <a:t>Histogram Equalization, Sharpening, CLAHE</a:t>
            </a:r>
            <a:r>
              <a:rPr lang="ko-KR" altLang="en-US" sz="1600" spc="-70" dirty="0">
                <a:latin typeface="+mj-ea"/>
                <a:ea typeface="+mj-ea"/>
              </a:rPr>
              <a:t>의 방식으로 학습한 모델이 </a:t>
            </a:r>
            <a:r>
              <a:rPr lang="en-US" altLang="ko-KR" sz="1600" spc="-50" dirty="0">
                <a:latin typeface="+mj-ea"/>
                <a:ea typeface="+mj-ea"/>
              </a:rPr>
              <a:t>Segmentation</a:t>
            </a:r>
            <a:r>
              <a:rPr lang="ko-KR" altLang="en-US" sz="1600" spc="-70" dirty="0">
                <a:latin typeface="+mj-ea"/>
                <a:ea typeface="+mj-ea"/>
              </a:rPr>
              <a:t>한 결과이다</a:t>
            </a:r>
            <a:r>
              <a:rPr lang="en-US" altLang="ko-KR" sz="1600" spc="-70" dirty="0">
                <a:latin typeface="+mj-ea"/>
                <a:ea typeface="+mj-ea"/>
              </a:rPr>
              <a:t>.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C9E6897-4D1A-B608-EB63-AA85D8EA7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56" y="1982620"/>
            <a:ext cx="2236314" cy="20573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108C50A-EB14-97CA-C136-56C29F2F2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239" y="1982619"/>
            <a:ext cx="2236314" cy="20573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6443EC5-FDAC-F2A5-D2B5-BEEB3D4F2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131" y="1982619"/>
            <a:ext cx="2236313" cy="20573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275076-BEFC-D149-3DD9-EFBF12910987}"/>
              </a:ext>
            </a:extLst>
          </p:cNvPr>
          <p:cNvSpPr txBox="1"/>
          <p:nvPr/>
        </p:nvSpPr>
        <p:spPr>
          <a:xfrm>
            <a:off x="628025" y="4069258"/>
            <a:ext cx="2355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    </a:t>
            </a:r>
            <a:r>
              <a:rPr lang="en-US" altLang="ko-KR" dirty="0">
                <a:latin typeface="+mj-ea"/>
                <a:ea typeface="+mj-ea"/>
              </a:rPr>
              <a:t>Histogram Equalization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7A1075-88C6-F735-B7EC-FB5C6F1D1B7B}"/>
              </a:ext>
            </a:extLst>
          </p:cNvPr>
          <p:cNvSpPr txBox="1"/>
          <p:nvPr/>
        </p:nvSpPr>
        <p:spPr>
          <a:xfrm>
            <a:off x="4024406" y="4079559"/>
            <a:ext cx="1157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Sharpening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E2D683-E433-E2F1-B818-28BC03678984}"/>
              </a:ext>
            </a:extLst>
          </p:cNvPr>
          <p:cNvSpPr txBox="1"/>
          <p:nvPr/>
        </p:nvSpPr>
        <p:spPr>
          <a:xfrm>
            <a:off x="6837967" y="4111157"/>
            <a:ext cx="796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CLAHE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638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p39">
            <a:extLst>
              <a:ext uri="{FF2B5EF4-FFF2-40B4-BE49-F238E27FC236}">
                <a16:creationId xmlns:a16="http://schemas.microsoft.com/office/drawing/2014/main" id="{3A326A48-0C5D-E069-ECFD-091CD4E3F055}"/>
              </a:ext>
            </a:extLst>
          </p:cNvPr>
          <p:cNvSpPr/>
          <p:nvPr/>
        </p:nvSpPr>
        <p:spPr>
          <a:xfrm flipH="1">
            <a:off x="-1638333" y="346620"/>
            <a:ext cx="4385698" cy="53456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39">
            <a:extLst>
              <a:ext uri="{FF2B5EF4-FFF2-40B4-BE49-F238E27FC236}">
                <a16:creationId xmlns:a16="http://schemas.microsoft.com/office/drawing/2014/main" id="{425C8266-2BBB-06E0-3568-50681CBD3EC1}"/>
              </a:ext>
            </a:extLst>
          </p:cNvPr>
          <p:cNvSpPr txBox="1">
            <a:spLocks/>
          </p:cNvSpPr>
          <p:nvPr/>
        </p:nvSpPr>
        <p:spPr>
          <a:xfrm>
            <a:off x="-407142" y="346620"/>
            <a:ext cx="2643483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r>
              <a:rPr lang="ko-KR" altLang="en-US" sz="2400" dirty="0">
                <a:latin typeface="+mj-ea"/>
                <a:ea typeface="+mj-ea"/>
              </a:rPr>
              <a:t>결과 분석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DD14D5-A7D6-B536-0754-24B243A64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760690"/>
              </p:ext>
            </p:extLst>
          </p:nvPr>
        </p:nvGraphicFramePr>
        <p:xfrm>
          <a:off x="615143" y="2571749"/>
          <a:ext cx="7808858" cy="2033501"/>
        </p:xfrm>
        <a:graphic>
          <a:graphicData uri="http://schemas.openxmlformats.org/drawingml/2006/table">
            <a:tbl>
              <a:tblPr/>
              <a:tblGrid>
                <a:gridCol w="1673325">
                  <a:extLst>
                    <a:ext uri="{9D8B030D-6E8A-4147-A177-3AD203B41FA5}">
                      <a16:colId xmlns:a16="http://schemas.microsoft.com/office/drawing/2014/main" val="882165539"/>
                    </a:ext>
                  </a:extLst>
                </a:gridCol>
                <a:gridCol w="1926085">
                  <a:extLst>
                    <a:ext uri="{9D8B030D-6E8A-4147-A177-3AD203B41FA5}">
                      <a16:colId xmlns:a16="http://schemas.microsoft.com/office/drawing/2014/main" val="1913821967"/>
                    </a:ext>
                  </a:extLst>
                </a:gridCol>
                <a:gridCol w="2142396">
                  <a:extLst>
                    <a:ext uri="{9D8B030D-6E8A-4147-A177-3AD203B41FA5}">
                      <a16:colId xmlns:a16="http://schemas.microsoft.com/office/drawing/2014/main" val="2172242046"/>
                    </a:ext>
                  </a:extLst>
                </a:gridCol>
                <a:gridCol w="2067052">
                  <a:extLst>
                    <a:ext uri="{9D8B030D-6E8A-4147-A177-3AD203B41FA5}">
                      <a16:colId xmlns:a16="http://schemas.microsoft.com/office/drawing/2014/main" val="2003447493"/>
                    </a:ext>
                  </a:extLst>
                </a:gridCol>
              </a:tblGrid>
              <a:tr h="6640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-7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3175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Intersection</a:t>
                      </a:r>
                      <a:endParaRPr lang="en-US" sz="1300" b="1" kern="0" spc="-7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3175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7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바타챠리야</a:t>
                      </a:r>
                      <a:r>
                        <a:rPr lang="ko-KR" altLang="en-US" sz="1300" b="1" kern="0" spc="-7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300" b="1" kern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ko-KR" altLang="en-US" sz="1300" b="1" kern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1300" b="1" kern="0" spc="-7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거리 측정</a:t>
                      </a:r>
                      <a:endParaRPr lang="ko-KR" altLang="en-US" sz="1300" b="1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3175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EMD</a:t>
                      </a:r>
                      <a:endParaRPr lang="en-US" sz="1300" b="1" kern="0" spc="-7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663950"/>
                  </a:ext>
                </a:extLst>
              </a:tr>
              <a:tr h="456486">
                <a:tc>
                  <a:txBody>
                    <a:bodyPr/>
                    <a:lstStyle/>
                    <a:p>
                      <a:pPr marL="0" marR="0" indent="3175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CLAHE</a:t>
                      </a:r>
                      <a:endParaRPr lang="en-US" sz="1300" b="1" kern="0" spc="-7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1.00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0.09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0.03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703630"/>
                  </a:ext>
                </a:extLst>
              </a:tr>
              <a:tr h="456486">
                <a:tc>
                  <a:txBody>
                    <a:bodyPr/>
                    <a:lstStyle/>
                    <a:p>
                      <a:pPr marL="0" marR="0" indent="3175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7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히스토그램 평활화</a:t>
                      </a:r>
                      <a:endParaRPr lang="ko-KR" altLang="en-US" sz="1300" b="1" kern="0" spc="-7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1.00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0.12</a:t>
                      </a:r>
                      <a:endParaRPr lang="en-US" sz="1300" ker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0.06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152783"/>
                  </a:ext>
                </a:extLst>
              </a:tr>
              <a:tr h="456486">
                <a:tc>
                  <a:txBody>
                    <a:bodyPr/>
                    <a:lstStyle/>
                    <a:p>
                      <a:pPr marL="0" marR="0" indent="31750" algn="ctr" fontAlgn="base" latinLnBrk="1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Sharpening</a:t>
                      </a:r>
                      <a:endParaRPr lang="en-US" sz="1300" b="1" kern="0" spc="-7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1.00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0.24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0.26</a:t>
                      </a:r>
                      <a:endParaRPr lang="en-US" sz="1300" kern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786266"/>
                  </a:ext>
                </a:extLst>
              </a:tr>
            </a:tbl>
          </a:graphicData>
        </a:graphic>
      </p:graphicFrame>
      <p:sp>
        <p:nvSpPr>
          <p:cNvPr id="3" name="Google Shape;426;p39">
            <a:extLst>
              <a:ext uri="{FF2B5EF4-FFF2-40B4-BE49-F238E27FC236}">
                <a16:creationId xmlns:a16="http://schemas.microsoft.com/office/drawing/2014/main" id="{A9EF2D46-4799-67E7-A15F-E07E93144C41}"/>
              </a:ext>
            </a:extLst>
          </p:cNvPr>
          <p:cNvSpPr txBox="1">
            <a:spLocks/>
          </p:cNvSpPr>
          <p:nvPr/>
        </p:nvSpPr>
        <p:spPr>
          <a:xfrm>
            <a:off x="615144" y="1011337"/>
            <a:ext cx="7808857" cy="1311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- Intersection, 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바타챠리야 거리 측정기법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,EMD(Earth Moving Distance)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를 사용하여 </a:t>
            </a:r>
          </a:p>
          <a:p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   모델의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Segmentation </a:t>
            </a:r>
            <a:r>
              <a:rPr lang="ko-KR" altLang="en-US" sz="1600" spc="-50">
                <a:latin typeface="+mj-ea"/>
                <a:ea typeface="+mj-ea"/>
                <a:cs typeface="Arial" panose="020B0604020202020204" pitchFamily="34" charset="0"/>
              </a:rPr>
              <a:t>결과를 비교하였다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- Intersection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의 경우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3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가지의 전처리 방식 모두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1.00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의 값이 나왔으며</a:t>
            </a:r>
            <a:r>
              <a:rPr lang="en-US" altLang="ko-KR" sz="1600" spc="-70"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이 중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CLAHE</a:t>
            </a:r>
            <a:r>
              <a:rPr lang="ko-KR" altLang="en-US" sz="1600" spc="-50">
                <a:latin typeface="+mj-ea"/>
                <a:ea typeface="+mj-ea"/>
                <a:cs typeface="Arial" panose="020B0604020202020204" pitchFamily="34" charset="0"/>
              </a:rPr>
              <a:t>이  </a:t>
            </a:r>
          </a:p>
          <a:p>
            <a:r>
              <a:rPr lang="ko-KR" altLang="en-US" sz="1600" spc="-50">
                <a:latin typeface="+mj-ea"/>
                <a:ea typeface="+mj-ea"/>
                <a:cs typeface="Arial" panose="020B0604020202020204" pitchFamily="34" charset="0"/>
              </a:rPr>
              <a:t>   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바타챠리야 거리 측정기법</a:t>
            </a:r>
            <a:r>
              <a:rPr lang="ko-KR" altLang="en-US" sz="1600" spc="-50">
                <a:latin typeface="+mj-ea"/>
                <a:ea typeface="+mj-ea"/>
                <a:cs typeface="Arial" panose="020B0604020202020204" pitchFamily="34" charset="0"/>
              </a:rPr>
              <a:t>과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EMD</a:t>
            </a:r>
            <a:r>
              <a:rPr lang="ko-KR" altLang="en-US" sz="1600" spc="-50">
                <a:latin typeface="+mj-ea"/>
                <a:ea typeface="+mj-ea"/>
                <a:cs typeface="Arial" panose="020B0604020202020204" pitchFamily="34" charset="0"/>
              </a:rPr>
              <a:t>에서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 각각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0.09, 0.03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으로  가장 낮은 수치를 보였다</a:t>
            </a:r>
            <a:r>
              <a:rPr lang="en-US" altLang="ko-KR" sz="1600" spc="-70"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r>
              <a:rPr lang="en-US" altLang="ko-KR" sz="1600" spc="-70">
                <a:latin typeface="+mj-ea"/>
                <a:ea typeface="+mj-ea"/>
                <a:cs typeface="Arial" panose="020B0604020202020204" pitchFamily="34" charset="0"/>
              </a:rPr>
              <a:t>- 3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가지 전처리 방식 중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CLAHE</a:t>
            </a:r>
            <a:r>
              <a:rPr lang="ko-KR" altLang="en-US" sz="1600" spc="-50">
                <a:latin typeface="+mj-ea"/>
                <a:ea typeface="+mj-ea"/>
                <a:cs typeface="Arial" panose="020B0604020202020204" pitchFamily="34" charset="0"/>
              </a:rPr>
              <a:t> 방식이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Label</a:t>
            </a:r>
            <a:r>
              <a:rPr lang="ko-KR" altLang="en-US" sz="1600" spc="-70">
                <a:latin typeface="+mj-ea"/>
                <a:ea typeface="+mj-ea"/>
                <a:cs typeface="Arial" panose="020B0604020202020204" pitchFamily="34" charset="0"/>
              </a:rPr>
              <a:t>과 가장 유사도가 높은 것으로 측정되었다</a:t>
            </a:r>
            <a:r>
              <a:rPr lang="en-US" altLang="ko-KR" sz="1600" spc="-50"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lang="ko-KR" altLang="en-US" sz="1600">
              <a:latin typeface="+mj-ea"/>
              <a:ea typeface="+mj-ea"/>
              <a:cs typeface="Arial" panose="020B0604020202020204" pitchFamily="34" charset="0"/>
            </a:endParaRPr>
          </a:p>
          <a:p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14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p39">
            <a:extLst>
              <a:ext uri="{FF2B5EF4-FFF2-40B4-BE49-F238E27FC236}">
                <a16:creationId xmlns:a16="http://schemas.microsoft.com/office/drawing/2014/main" id="{3A326A48-0C5D-E069-ECFD-091CD4E3F055}"/>
              </a:ext>
            </a:extLst>
          </p:cNvPr>
          <p:cNvSpPr/>
          <p:nvPr/>
        </p:nvSpPr>
        <p:spPr>
          <a:xfrm flipH="1">
            <a:off x="-1638333" y="346620"/>
            <a:ext cx="4385698" cy="53456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39">
            <a:extLst>
              <a:ext uri="{FF2B5EF4-FFF2-40B4-BE49-F238E27FC236}">
                <a16:creationId xmlns:a16="http://schemas.microsoft.com/office/drawing/2014/main" id="{425C8266-2BBB-06E0-3568-50681CBD3EC1}"/>
              </a:ext>
            </a:extLst>
          </p:cNvPr>
          <p:cNvSpPr txBox="1">
            <a:spLocks/>
          </p:cNvSpPr>
          <p:nvPr/>
        </p:nvSpPr>
        <p:spPr>
          <a:xfrm>
            <a:off x="-126726" y="346620"/>
            <a:ext cx="2643483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 b="0" i="0" u="none" strike="noStrike" cap="non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r>
              <a:rPr lang="ko-KR" altLang="en-US" sz="2400" smtClean="0">
                <a:latin typeface="+mj-ea"/>
                <a:ea typeface="+mj-ea"/>
              </a:rPr>
              <a:t>결론 및 향후연구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3" name="Google Shape;426;p39">
            <a:extLst>
              <a:ext uri="{FF2B5EF4-FFF2-40B4-BE49-F238E27FC236}">
                <a16:creationId xmlns:a16="http://schemas.microsoft.com/office/drawing/2014/main" id="{A9EF2D46-4799-67E7-A15F-E07E93144C41}"/>
              </a:ext>
            </a:extLst>
          </p:cNvPr>
          <p:cNvSpPr txBox="1">
            <a:spLocks/>
          </p:cNvSpPr>
          <p:nvPr/>
        </p:nvSpPr>
        <p:spPr>
          <a:xfrm>
            <a:off x="353568" y="1473108"/>
            <a:ext cx="8583168" cy="25746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fontAlgn="base" latinLnBrk="1"/>
            <a:endParaRPr lang="en-US" altLang="ko-KR" smtClean="0">
              <a:latin typeface="+mj-ea"/>
              <a:ea typeface="+mj-ea"/>
            </a:endParaRPr>
          </a:p>
          <a:p>
            <a:pPr fontAlgn="base" latinLnBrk="1"/>
            <a:r>
              <a:rPr lang="en-US" altLang="ko-KR" smtClean="0">
                <a:latin typeface="+mj-ea"/>
                <a:ea typeface="+mj-ea"/>
              </a:rPr>
              <a:t>- Intersection </a:t>
            </a:r>
            <a:r>
              <a:rPr lang="ko-KR" altLang="en-US">
                <a:latin typeface="+mj-ea"/>
                <a:ea typeface="+mj-ea"/>
              </a:rPr>
              <a:t>부문에서는 </a:t>
            </a:r>
            <a:r>
              <a:rPr lang="en-US" altLang="ko-KR">
                <a:latin typeface="+mj-ea"/>
                <a:ea typeface="+mj-ea"/>
              </a:rPr>
              <a:t>3</a:t>
            </a:r>
            <a:r>
              <a:rPr lang="ko-KR" altLang="en-US">
                <a:latin typeface="+mj-ea"/>
                <a:ea typeface="+mj-ea"/>
              </a:rPr>
              <a:t>가지 방식 모두 </a:t>
            </a:r>
            <a:r>
              <a:rPr lang="en-US" altLang="ko-KR">
                <a:latin typeface="+mj-ea"/>
                <a:ea typeface="+mj-ea"/>
              </a:rPr>
              <a:t>1.00</a:t>
            </a:r>
            <a:r>
              <a:rPr lang="ko-KR" altLang="en-US">
                <a:latin typeface="+mj-ea"/>
                <a:ea typeface="+mj-ea"/>
              </a:rPr>
              <a:t>으로 같은 </a:t>
            </a:r>
            <a:r>
              <a:rPr lang="ko-KR" altLang="en-US">
                <a:latin typeface="+mj-ea"/>
                <a:ea typeface="+mj-ea"/>
              </a:rPr>
              <a:t>값을 </a:t>
            </a:r>
            <a:r>
              <a:rPr lang="ko-KR" altLang="en-US" smtClean="0">
                <a:latin typeface="+mj-ea"/>
                <a:ea typeface="+mj-ea"/>
              </a:rPr>
              <a:t>보였지만</a:t>
            </a:r>
            <a:r>
              <a:rPr lang="en-US" altLang="ko-KR" smtClean="0">
                <a:latin typeface="+mj-ea"/>
                <a:ea typeface="+mj-ea"/>
              </a:rPr>
              <a:t>,</a:t>
            </a:r>
          </a:p>
          <a:p>
            <a:pPr fontAlgn="base" latinLnBrk="1"/>
            <a:r>
              <a:rPr lang="ko-KR" altLang="en-US" smtClean="0">
                <a:latin typeface="+mj-ea"/>
                <a:ea typeface="+mj-ea"/>
              </a:rPr>
              <a:t> </a:t>
            </a:r>
            <a:r>
              <a:rPr lang="ko-KR" altLang="en-US">
                <a:latin typeface="+mj-ea"/>
                <a:ea typeface="+mj-ea"/>
              </a:rPr>
              <a:t>바타챠리야 거리 측정기법과 </a:t>
            </a:r>
            <a:r>
              <a:rPr lang="en-US" altLang="ko-KR">
                <a:latin typeface="+mj-ea"/>
                <a:ea typeface="+mj-ea"/>
              </a:rPr>
              <a:t>EMD</a:t>
            </a:r>
            <a:r>
              <a:rPr lang="ko-KR" altLang="en-US">
                <a:latin typeface="+mj-ea"/>
                <a:ea typeface="+mj-ea"/>
              </a:rPr>
              <a:t>에서는 </a:t>
            </a:r>
            <a:r>
              <a:rPr lang="en-US" altLang="ko-KR">
                <a:latin typeface="+mj-ea"/>
                <a:ea typeface="+mj-ea"/>
              </a:rPr>
              <a:t>CLAHE </a:t>
            </a:r>
            <a:r>
              <a:rPr lang="ko-KR" altLang="en-US">
                <a:latin typeface="+mj-ea"/>
                <a:ea typeface="+mj-ea"/>
              </a:rPr>
              <a:t>방식이 라벨과 가장 높은 유사도를 보였다</a:t>
            </a:r>
            <a:r>
              <a:rPr lang="en-US" altLang="ko-KR">
                <a:latin typeface="+mj-ea"/>
                <a:ea typeface="+mj-ea"/>
              </a:rPr>
              <a:t>. </a:t>
            </a:r>
            <a:endParaRPr lang="en-US" altLang="ko-KR" smtClean="0">
              <a:latin typeface="+mj-ea"/>
              <a:ea typeface="+mj-ea"/>
            </a:endParaRPr>
          </a:p>
          <a:p>
            <a:pPr fontAlgn="base" latinLnBrk="1"/>
            <a:endParaRPr lang="en-US" altLang="ko-KR" smtClean="0">
              <a:latin typeface="+mj-ea"/>
              <a:ea typeface="+mj-ea"/>
            </a:endParaRPr>
          </a:p>
          <a:p>
            <a:pPr fontAlgn="base" latinLnBrk="1"/>
            <a:r>
              <a:rPr lang="en-US" altLang="ko-KR" smtClean="0">
                <a:latin typeface="+mj-ea"/>
                <a:ea typeface="+mj-ea"/>
              </a:rPr>
              <a:t>- Sharpening</a:t>
            </a:r>
            <a:r>
              <a:rPr lang="ko-KR" altLang="en-US">
                <a:latin typeface="+mj-ea"/>
                <a:ea typeface="+mj-ea"/>
              </a:rPr>
              <a:t>의 방식의 경우 혈관 이외의 시각신경유두와 같은 부분의 특징까지 강조한 </a:t>
            </a:r>
            <a:r>
              <a:rPr lang="ko-KR" altLang="en-US">
                <a:latin typeface="+mj-ea"/>
                <a:ea typeface="+mj-ea"/>
              </a:rPr>
              <a:t>것으로 </a:t>
            </a:r>
            <a:r>
              <a:rPr lang="ko-KR" altLang="en-US" smtClean="0">
                <a:latin typeface="+mj-ea"/>
                <a:ea typeface="+mj-ea"/>
              </a:rPr>
              <a:t>보이며 </a:t>
            </a:r>
            <a:endParaRPr lang="en-US" altLang="ko-KR" smtClean="0">
              <a:latin typeface="+mj-ea"/>
              <a:ea typeface="+mj-ea"/>
            </a:endParaRPr>
          </a:p>
          <a:p>
            <a:pPr fontAlgn="base" latinLnBrk="1"/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smtClean="0">
                <a:latin typeface="+mj-ea"/>
                <a:ea typeface="+mj-ea"/>
              </a:rPr>
              <a:t> </a:t>
            </a:r>
            <a:r>
              <a:rPr lang="ko-KR" altLang="en-US" smtClean="0">
                <a:latin typeface="+mj-ea"/>
                <a:ea typeface="+mj-ea"/>
              </a:rPr>
              <a:t>히스토그램 </a:t>
            </a:r>
            <a:r>
              <a:rPr lang="ko-KR" altLang="en-US">
                <a:latin typeface="+mj-ea"/>
                <a:ea typeface="+mj-ea"/>
              </a:rPr>
              <a:t>평활화 방식은 망막 데이터의 서로 다른 평균 명암으로 인해 성능이 떨어지는 것으로 </a:t>
            </a:r>
            <a:r>
              <a:rPr lang="ko-KR" altLang="en-US">
                <a:latin typeface="+mj-ea"/>
                <a:ea typeface="+mj-ea"/>
              </a:rPr>
              <a:t>보인다</a:t>
            </a:r>
            <a:r>
              <a:rPr lang="en-US" altLang="ko-KR" smtClean="0">
                <a:latin typeface="+mj-ea"/>
                <a:ea typeface="+mj-ea"/>
              </a:rPr>
              <a:t>.</a:t>
            </a:r>
          </a:p>
          <a:p>
            <a:pPr fontAlgn="base" latinLnBrk="1"/>
            <a:endParaRPr lang="en-US" altLang="ko-KR">
              <a:latin typeface="+mj-ea"/>
              <a:ea typeface="+mj-ea"/>
            </a:endParaRPr>
          </a:p>
          <a:p>
            <a:pPr fontAlgn="base" latinLnBrk="1"/>
            <a:r>
              <a:rPr lang="en-US" altLang="ko-KR" smtClean="0">
                <a:latin typeface="+mj-ea"/>
                <a:ea typeface="+mj-ea"/>
              </a:rPr>
              <a:t>- </a:t>
            </a:r>
            <a:r>
              <a:rPr lang="ko-KR" altLang="en-US" smtClean="0">
                <a:latin typeface="+mj-ea"/>
                <a:ea typeface="+mj-ea"/>
              </a:rPr>
              <a:t>향후 </a:t>
            </a:r>
            <a:r>
              <a:rPr lang="ko-KR" altLang="en-US">
                <a:latin typeface="+mj-ea"/>
                <a:ea typeface="+mj-ea"/>
              </a:rPr>
              <a:t>연구로는 </a:t>
            </a:r>
            <a:r>
              <a:rPr lang="en-US" altLang="ko-KR">
                <a:latin typeface="+mj-ea"/>
                <a:ea typeface="+mj-ea"/>
              </a:rPr>
              <a:t>CLAHE </a:t>
            </a:r>
            <a:r>
              <a:rPr lang="ko-KR" altLang="en-US">
                <a:latin typeface="+mj-ea"/>
                <a:ea typeface="+mj-ea"/>
              </a:rPr>
              <a:t>방식을 발전시켜 망막혈관을 </a:t>
            </a:r>
            <a:r>
              <a:rPr lang="ko-KR" altLang="en-US">
                <a:latin typeface="+mj-ea"/>
                <a:ea typeface="+mj-ea"/>
              </a:rPr>
              <a:t>효과적으로 </a:t>
            </a:r>
            <a:r>
              <a:rPr lang="ko-KR" altLang="en-US" smtClean="0">
                <a:latin typeface="+mj-ea"/>
                <a:ea typeface="+mj-ea"/>
              </a:rPr>
              <a:t>분할하고</a:t>
            </a:r>
            <a:r>
              <a:rPr lang="en-US" altLang="ko-KR" smtClean="0">
                <a:latin typeface="+mj-ea"/>
                <a:ea typeface="+mj-ea"/>
              </a:rPr>
              <a:t>,</a:t>
            </a:r>
            <a:r>
              <a:rPr lang="ko-KR" altLang="en-US" smtClean="0">
                <a:latin typeface="+mj-ea"/>
                <a:ea typeface="+mj-ea"/>
              </a:rPr>
              <a:t> </a:t>
            </a:r>
            <a:endParaRPr lang="en-US" altLang="ko-KR" smtClean="0">
              <a:latin typeface="+mj-ea"/>
              <a:ea typeface="+mj-ea"/>
            </a:endParaRPr>
          </a:p>
          <a:p>
            <a:pPr fontAlgn="base" latinLnBrk="1"/>
            <a:r>
              <a:rPr lang="en-US" altLang="ko-KR">
                <a:latin typeface="+mj-ea"/>
                <a:ea typeface="+mj-ea"/>
              </a:rPr>
              <a:t> </a:t>
            </a:r>
            <a:r>
              <a:rPr lang="en-US" altLang="ko-KR" smtClean="0">
                <a:latin typeface="+mj-ea"/>
                <a:ea typeface="+mj-ea"/>
              </a:rPr>
              <a:t> </a:t>
            </a:r>
            <a:r>
              <a:rPr lang="ko-KR" altLang="en-US" smtClean="0">
                <a:latin typeface="+mj-ea"/>
                <a:ea typeface="+mj-ea"/>
              </a:rPr>
              <a:t>망막 </a:t>
            </a:r>
            <a:r>
              <a:rPr lang="ko-KR" altLang="en-US">
                <a:latin typeface="+mj-ea"/>
                <a:ea typeface="+mj-ea"/>
              </a:rPr>
              <a:t>혈관 </a:t>
            </a:r>
            <a:r>
              <a:rPr lang="en-US" altLang="ko-KR" smtClean="0">
                <a:latin typeface="+mj-ea"/>
                <a:ea typeface="+mj-ea"/>
              </a:rPr>
              <a:t>Segmentation</a:t>
            </a:r>
            <a:r>
              <a:rPr lang="ko-KR" altLang="en-US">
                <a:latin typeface="+mj-ea"/>
                <a:ea typeface="+mj-ea"/>
              </a:rPr>
              <a:t>을 위한 모델에 관한 연구를 할 계획이다</a:t>
            </a:r>
            <a:r>
              <a:rPr lang="en-US" altLang="ko-KR">
                <a:latin typeface="+mj-ea"/>
                <a:ea typeface="+mj-ea"/>
              </a:rPr>
              <a:t>.</a:t>
            </a:r>
            <a:endParaRPr lang="ko-KR" altLang="en-US">
              <a:latin typeface="+mj-ea"/>
              <a:ea typeface="+mj-ea"/>
            </a:endParaRPr>
          </a:p>
          <a:p>
            <a:pPr fontAlgn="base" latinLnBrk="1"/>
            <a:endParaRPr lang="ko-KR" altLang="en-US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552393"/>
      </p:ext>
    </p:extLst>
  </p:cSld>
  <p:clrMapOvr>
    <a:masterClrMapping/>
  </p:clrMapOvr>
</p:sld>
</file>

<file path=ppt/theme/theme1.xml><?xml version="1.0" encoding="utf-8"?>
<a:theme xmlns:a="http://schemas.openxmlformats.org/drawingml/2006/main" name="Launch Product Crowdfunding Pitch Deck by Slidesgo">
  <a:themeElements>
    <a:clrScheme name="Simple Light">
      <a:dk1>
        <a:srgbClr val="191919"/>
      </a:dk1>
      <a:lt1>
        <a:srgbClr val="FFFFFF"/>
      </a:lt1>
      <a:dk2>
        <a:srgbClr val="002080"/>
      </a:dk2>
      <a:lt2>
        <a:srgbClr val="0336D0"/>
      </a:lt2>
      <a:accent1>
        <a:srgbClr val="1382DB"/>
      </a:accent1>
      <a:accent2>
        <a:srgbClr val="1FC2E1"/>
      </a:accent2>
      <a:accent3>
        <a:srgbClr val="08E0DB"/>
      </a:accent3>
      <a:accent4>
        <a:srgbClr val="03FCD5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456</Words>
  <Application>Microsoft Office PowerPoint</Application>
  <PresentationFormat>화면 슬라이드 쇼(16:9)</PresentationFormat>
  <Paragraphs>74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Albert Sans</vt:lpstr>
      <vt:lpstr>Albert Sans SemiBold</vt:lpstr>
      <vt:lpstr>Arial</vt:lpstr>
      <vt:lpstr>맑은 고딕</vt:lpstr>
      <vt:lpstr>서울남산 장체B</vt:lpstr>
      <vt:lpstr>휴먼모음T</vt:lpstr>
      <vt:lpstr>Launch Product Crowdfunding Pitch Deck by Slidesgo</vt:lpstr>
      <vt:lpstr>망막혈관 Segmentation을 위한 전처리 방식 비교분석 연구</vt:lpstr>
      <vt:lpstr>연구 배경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망막혈관 Segmentation을 위한 전처리 방식 비교분석 연구</dc:title>
  <dc:creator>하세희</dc:creator>
  <cp:lastModifiedBy>konyang</cp:lastModifiedBy>
  <cp:revision>12</cp:revision>
  <dcterms:modified xsi:type="dcterms:W3CDTF">2022-12-01T09:03:29Z</dcterms:modified>
</cp:coreProperties>
</file>