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1" r:id="rId12"/>
  </p:sldMasterIdLst>
  <p:notesMasterIdLst>
    <p:notesMasterId r:id="rId78"/>
  </p:notesMasterIdLst>
  <p:sldIdLst>
    <p:sldId id="418" r:id="rId13"/>
    <p:sldId id="432" r:id="rId14"/>
    <p:sldId id="433" r:id="rId15"/>
    <p:sldId id="260" r:id="rId16"/>
    <p:sldId id="419" r:id="rId17"/>
    <p:sldId id="261" r:id="rId18"/>
    <p:sldId id="257" r:id="rId19"/>
    <p:sldId id="258" r:id="rId20"/>
    <p:sldId id="259" r:id="rId21"/>
    <p:sldId id="437" r:id="rId22"/>
    <p:sldId id="444" r:id="rId23"/>
    <p:sldId id="445" r:id="rId24"/>
    <p:sldId id="438" r:id="rId25"/>
    <p:sldId id="439" r:id="rId26"/>
    <p:sldId id="446" r:id="rId27"/>
    <p:sldId id="440" r:id="rId28"/>
    <p:sldId id="447" r:id="rId29"/>
    <p:sldId id="448" r:id="rId30"/>
    <p:sldId id="441" r:id="rId31"/>
    <p:sldId id="442" r:id="rId32"/>
    <p:sldId id="449" r:id="rId33"/>
    <p:sldId id="455" r:id="rId34"/>
    <p:sldId id="456" r:id="rId35"/>
    <p:sldId id="468" r:id="rId36"/>
    <p:sldId id="469" r:id="rId37"/>
    <p:sldId id="470" r:id="rId38"/>
    <p:sldId id="471" r:id="rId39"/>
    <p:sldId id="472" r:id="rId40"/>
    <p:sldId id="473" r:id="rId41"/>
    <p:sldId id="474" r:id="rId42"/>
    <p:sldId id="475" r:id="rId43"/>
    <p:sldId id="476" r:id="rId44"/>
    <p:sldId id="477" r:id="rId45"/>
    <p:sldId id="457" r:id="rId46"/>
    <p:sldId id="458" r:id="rId47"/>
    <p:sldId id="459" r:id="rId48"/>
    <p:sldId id="466" r:id="rId49"/>
    <p:sldId id="478" r:id="rId50"/>
    <p:sldId id="479" r:id="rId51"/>
    <p:sldId id="460" r:id="rId52"/>
    <p:sldId id="461" r:id="rId53"/>
    <p:sldId id="462" r:id="rId54"/>
    <p:sldId id="465" r:id="rId55"/>
    <p:sldId id="463" r:id="rId56"/>
    <p:sldId id="464" r:id="rId57"/>
    <p:sldId id="481" r:id="rId58"/>
    <p:sldId id="482" r:id="rId59"/>
    <p:sldId id="483" r:id="rId60"/>
    <p:sldId id="484" r:id="rId61"/>
    <p:sldId id="485" r:id="rId62"/>
    <p:sldId id="486" r:id="rId63"/>
    <p:sldId id="487" r:id="rId64"/>
    <p:sldId id="488" r:id="rId65"/>
    <p:sldId id="489" r:id="rId66"/>
    <p:sldId id="490" r:id="rId67"/>
    <p:sldId id="491" r:id="rId68"/>
    <p:sldId id="492" r:id="rId69"/>
    <p:sldId id="493" r:id="rId70"/>
    <p:sldId id="494" r:id="rId71"/>
    <p:sldId id="495" r:id="rId72"/>
    <p:sldId id="450" r:id="rId73"/>
    <p:sldId id="443" r:id="rId74"/>
    <p:sldId id="453" r:id="rId75"/>
    <p:sldId id="454" r:id="rId76"/>
    <p:sldId id="480" r:id="rId77"/>
  </p:sldIdLst>
  <p:sldSz cx="12192000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D4C87-8B69-4D58-4514-0ECA5C8460CB}" v="240" dt="2025-05-23T07:20:26.819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75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76" Type="http://schemas.openxmlformats.org/officeDocument/2006/relationships/slide" Target="slides/slide6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66" Type="http://schemas.openxmlformats.org/officeDocument/2006/relationships/slide" Target="slides/slide54.xml"/><Relationship Id="rId74" Type="http://schemas.openxmlformats.org/officeDocument/2006/relationships/slide" Target="slides/slide62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9.xml"/><Relationship Id="rId82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77" Type="http://schemas.openxmlformats.org/officeDocument/2006/relationships/slide" Target="slides/slide65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slide" Target="slides/slide47.xml"/><Relationship Id="rId67" Type="http://schemas.openxmlformats.org/officeDocument/2006/relationships/slide" Target="slides/slide5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slide" Target="slides/slide50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75B0B-2E09-440E-988A-D850882938AA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FF621-D238-4DA4-810A-9E214EE99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534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BFF621-D238-4DA4-810A-9E214EE9930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438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BFF621-D238-4DA4-810A-9E214EE9930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0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FF621-D238-4DA4-810A-9E214EE9930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502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FF621-D238-4DA4-810A-9E214EE9930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462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FF621-D238-4DA4-810A-9E214EE9930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02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96C4B5-1234-4DFE-8E6A-962E6B19A20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961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4168-95F1-C248-17DD-96B532AD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2AC226-9011-1737-5961-F00E8EBD0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5C41A6-AF6B-9F67-AF72-4943258D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7F1C6-7A2C-61B5-1619-99EE05511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96C4B5-1234-4DFE-8E6A-962E6B19A20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167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B110-1355-3605-DC49-4C6FEB2C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0C04EB-024E-0FE6-FF38-131F37803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4A7636-398F-86D4-CCDD-F42E9950C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EDC2E1-96B0-B524-C512-7FC6FA7CF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96C4B5-1234-4DFE-8E6A-962E6B19A20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381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54F73-C577-C32D-12D6-94945594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80BBAD-F1CD-F276-B01E-D4EFD9089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A0AD3E-F703-F82B-F0ED-608C27B2E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6084A-D742-A941-DE57-3421D8697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96C4B5-1234-4DFE-8E6A-962E6B19A20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38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BFF621-D238-4DA4-810A-9E214EE9930B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314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852731-194A-4005-BA99-BF5F46F5DCBF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A4800-DD02-6E7B-8A7C-9BDD71FB9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8364B1-14E9-603F-1EF2-457C7DE3B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A109BB-E211-9414-93F2-072D59D9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8E8E3-BC1F-9B1C-6118-06731DFF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8698A-750C-BD4B-87D9-E7DB2EB5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CF62A30-0569-4848-AFC9-F80D72DE67A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02D6E92-D494-43AB-AA21-0572A4AED46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2A1FC6-4B0A-4398-AC8A-4C876ED8D10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DDFE233-756B-4AEE-94DB-52E5BA9B301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1E87C0C-F062-4B92-BF18-92960388650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FBB61F52-02E7-4EDA-9D08-E284C7F00BC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2FF01575-5C26-421E-A64C-F408D258E0B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F38DE91-A55A-49CF-890B-6C070DB6DAB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D16764E3-2C1B-4B5F-9F0E-7466ED7A6E9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D44FDDC0-B5C4-4528-BAAB-4B2DA3FC031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405C9-C123-21EE-73C0-74FBB149E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5CF963-1954-D269-FE7D-02E6E62BA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D3403-FD04-63DC-3167-0B265776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BAC21E-B5BE-2C76-A032-43086690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940F6-3052-90AA-691F-6995A9D87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0682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DA585-C3C0-9294-BAA6-EA78E912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7F01E-BC13-8A25-5070-70C3C3A3F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682DB-057E-29A7-10B7-AF655505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AECFB6-9FE6-D15F-648D-B6770B71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F8FC-508D-043F-4999-E2708C8A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5227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BC030-566E-E508-EFA0-F97F74A2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A84299-4D27-F71C-72A4-F9E8E249E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A5356-B8A2-8F33-35A1-2C12FB13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A6AEA-62FE-6340-90BF-A55B8C99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F37ED-8F54-7716-519E-50498D3B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30085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A6760-3645-F1AD-D1D1-CA39CE46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7FC76-4736-9B11-3229-065F7795B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56D7F9-3E4C-81D4-A51B-681404A8D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3A90DA-0313-E6D7-9473-5AB03EF8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8D7B27-03D6-7335-D345-904EA08F6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7F2866-442F-DE8F-10C9-2FE8211D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16192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BC8B5-49EA-D786-91D8-FAB14C11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643EE-A1EC-456F-0DEE-DAE1D5F47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F49CD3-81A6-FA57-E246-33F8DF669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A54225-7C31-F64E-EEF8-F978B4CF7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6E7112-40B8-593C-6B0D-3736860C5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574F80-0E2D-6AD8-3EEF-9C7D5FED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FEAE8F-BCC3-6EBC-B21B-88A15610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D3245D-D96B-D17F-CAB8-A6B074C5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12306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08FD0-8D66-2A9F-222F-47443D11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2C2406-EF24-619B-40D6-518C8077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F32EEC-0359-57EA-8034-C0CBCFE7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19406E-B566-A0E7-31EC-6A519082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7995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3B40BC-DCE4-4B70-E47A-C9FAAEB81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96A8EC-9322-B284-F944-EA5549A9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47583D-9750-EE9E-5817-A09D0D52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55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BD882-89B9-CAA3-356C-572A992B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951EA-09ED-3F99-B628-6B339CB5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E752AC-6FA9-0492-AE46-F7FB87BD7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3F1FE4-F1A7-98E6-51D0-B65A129C3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D3E519-CD9F-2786-C734-4FB5C69C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7E1E7-C5ED-9F40-A246-B7E86BA7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96052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80C13-7AE7-F623-68C8-3E909DFF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66CF2A-D8D9-CCC3-4CB5-F4A5C39EE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C40813-B510-B300-5B98-AE03F2862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D1865F-9368-F81A-3622-5E61F88E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BE7591-9891-F537-4ED2-D84115AB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2A9E8-DD1E-8B9E-9736-4EEDD4A4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806038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1F4C8-A2FF-D20E-1E17-06F5B9F4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D6A24C-8B29-8C1D-4779-4AB723113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7656E-D8DA-4B65-AED3-AF29006C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E24F8-9B31-9C1E-5EC3-445D15B9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1CA2A6-2BBF-F7AD-ADCF-0D7470AE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40672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3181BD-6710-D02C-4B32-EEF0F5B83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65EB8E-9054-2C26-8473-5EFDBC9D8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A740A-BE45-4EA1-8943-249FA754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4B5D2F-A088-0B4D-730E-147CDAA7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0B0075-23FD-EC67-01E5-2CF28C53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551643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852731-194A-4005-BA99-BF5F46F5DCBF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35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ko-KR" sz="60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3B00E1-9E55-4219-B383-6835728CB84A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개요 텍스트의 서식을 편집하려면 클릭하십시오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맑은 고딕"/>
              </a:rPr>
              <a:t>2</a:t>
            </a: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맑은 고딕"/>
              </a:rPr>
              <a:t>3</a:t>
            </a: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맑은 고딕"/>
              </a:rPr>
              <a:t>4</a:t>
            </a: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맑은 고딕"/>
              </a:rPr>
              <a:t>5</a:t>
            </a: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맑은 고딕"/>
              </a:rPr>
              <a:t>6</a:t>
            </a: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맑은 고딕"/>
              </a:rPr>
              <a:t>7</a:t>
            </a: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14E69A-CB26-440C-AC69-4B3DAC8BB6A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567958-B32A-4E22-A46F-4C99921A5DA7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AC527-82D6-445B-843F-BEEED137B6D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60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24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마스터 텍스트 스타일을 편집하려면 클릭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B8D374-CB05-446A-8D04-F3250BDA9C4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9CB2DC-14B6-4244-B1F1-0C508552C038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2400" b="1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2400" b="1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18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7E1D83-CF2F-464D-B781-D70A9603BD85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44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0BD7BB-59AF-48A6-9E66-9726E734FA16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9D0F6A-3A98-4572-A8F3-831648D29FC3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strike="noStrike" spc="-1">
                <a:solidFill>
                  <a:schemeClr val="dk1"/>
                </a:solidFill>
                <a:latin typeface="맑은 고딕"/>
              </a:rPr>
              <a:t>두 번째 수준</a:t>
            </a:r>
            <a:endParaRPr lang="en-US" sz="2800" b="0" strike="noStrike" spc="-1">
              <a:solidFill>
                <a:schemeClr val="dk1"/>
              </a:solidFill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strike="noStrike" spc="-1">
                <a:solidFill>
                  <a:schemeClr val="dk1"/>
                </a:solidFill>
                <a:latin typeface="맑은 고딕"/>
              </a:rPr>
              <a:t>세 번째 수준</a:t>
            </a:r>
            <a:endParaRPr lang="en-US" sz="2400" b="0" strike="noStrike" spc="-1">
              <a:solidFill>
                <a:schemeClr val="dk1"/>
              </a:solidFill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네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strike="noStrike" spc="-1">
                <a:solidFill>
                  <a:schemeClr val="dk1"/>
                </a:solidFill>
                <a:latin typeface="맑은 고딕"/>
              </a:rPr>
              <a:t>다섯 번째 수준</a:t>
            </a:r>
            <a:endParaRPr lang="en-US" sz="20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16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16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492380-0ED5-4A7D-91F4-B0AC1271B169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개요 텍스트의 서식을 편집하려면 클릭하십시오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2</a:t>
            </a: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3</a:t>
            </a: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4</a:t>
            </a: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5</a:t>
            </a: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6</a:t>
            </a: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맑은 고딕"/>
              </a:rPr>
              <a:t>7</a:t>
            </a:r>
            <a:r>
              <a:rPr lang="ko-KR" sz="3200" b="0" strike="noStrike" spc="-1">
                <a:solidFill>
                  <a:schemeClr val="dk1"/>
                </a:solidFill>
                <a:latin typeface="맑은 고딕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1600" b="0" strike="noStrike" spc="-1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lang="en-US" sz="1600" b="0" strike="noStrike" spc="-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나눔명조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나눔명조"/>
              </a:rPr>
              <a:t>&lt;바닥글&gt;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E905D6-88EC-4F61-99CD-2665C77AA70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맑은 고딕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나눔명조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A106498-F8CA-F937-F911-334E35C2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3A404F-F8B8-F3D1-FEA0-BD1380824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34AE8-6C64-A4BD-342E-FFEDD8BAF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0EFBE-4277-454B-BA0A-20BE3AA2BB34}" type="datetimeFigureOut">
              <a:rPr kumimoji="1" lang="ko-Kore-KR" altLang="en-US" smtClean="0"/>
              <a:t>05/23/2025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208CB8-F4EB-548F-3F7E-C46D33E8D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BAB3E-BC1C-91B1-1253-97F7FB947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6E539-0370-3548-B165-6FB418978A6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117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kaggle.com/datasets/theblackmamba31/landscape-image-colorizati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www.kaggle.com/datasets/matthewjansen/unsplash-lite-5k-colorizati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vaibhavrmankar/colour-the-flower-gan-dat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ayush9753/image-colorization-datase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9.jpe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jpeg"/><Relationship Id="rId4" Type="http://schemas.openxmlformats.org/officeDocument/2006/relationships/image" Target="../media/image47.jpeg"/><Relationship Id="rId9" Type="http://schemas.openxmlformats.org/officeDocument/2006/relationships/image" Target="../media/image52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g"/><Relationship Id="rId3" Type="http://schemas.openxmlformats.org/officeDocument/2006/relationships/image" Target="../media/image69.jpg"/><Relationship Id="rId7" Type="http://schemas.openxmlformats.org/officeDocument/2006/relationships/image" Target="../media/image7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2.jpg"/><Relationship Id="rId5" Type="http://schemas.openxmlformats.org/officeDocument/2006/relationships/image" Target="../media/image71.jpg"/><Relationship Id="rId4" Type="http://schemas.openxmlformats.org/officeDocument/2006/relationships/image" Target="../media/image70.jp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riss-kr.libproxy.konyang.ac.kr/link?id=T14805210" TargetMode="External"/><Relationship Id="rId7" Type="http://schemas.openxmlformats.org/officeDocument/2006/relationships/hyperlink" Target="https://arxiv.org/abs/1505.0459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-riss-kr.libproxy.konyang.ac.kr/link?id=A108327942" TargetMode="External"/><Relationship Id="rId5" Type="http://schemas.openxmlformats.org/officeDocument/2006/relationships/hyperlink" Target="https://www-riss-kr.libproxy.konyang.ac.kr/link?id=T16085912" TargetMode="External"/><Relationship Id="rId4" Type="http://schemas.openxmlformats.org/officeDocument/2006/relationships/hyperlink" Target="https://www-riss-kr.libproxy.konyang.ac.kr/link?id=T15685056" TargetMode="Externa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iss.kr/search/detail/DetailView.do?p_mat_type=be54d9b8bc7cdb09&amp;control_no=5dd67781182ddacfffe0bdc3ef48d419&amp;outLink=K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scienceon.kisti.re.kr/commons/util/originalView.do?cn=JAKO202231363543670&amp;oCn=JAKO202231363543670&amp;dbt=JAKO&amp;journal=NJOU0056456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arjset.com/wp-content/uploads/2023/11/IARJSET-NCSTCS-11.pdf?utm_source" TargetMode="External"/><Relationship Id="rId5" Type="http://schemas.openxmlformats.org/officeDocument/2006/relationships/hyperlink" Target="https://www.researchgate.net/publication/384042799_A_Pix2Pix_GAN-Based_Approach_for_Automated_Colorization_of_Landmarks" TargetMode="External"/><Relationship Id="rId4" Type="http://schemas.openxmlformats.org/officeDocument/2006/relationships/hyperlink" Target="https://arxiv.org/abs/1611.07004" TargetMode="Externa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iclr.cc/virtual/2021/poster/2844" TargetMode="External"/><Relationship Id="rId3" Type="http://schemas.openxmlformats.org/officeDocument/2006/relationships/hyperlink" Target="https://accesson.kisti.re.kr/main/search/articleDetail.do?artiId=ATN0039570671" TargetMode="External"/><Relationship Id="rId7" Type="http://schemas.openxmlformats.org/officeDocument/2006/relationships/hyperlink" Target="https://arxiv.org/abs/1808.0159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907.09837" TargetMode="External"/><Relationship Id="rId5" Type="http://schemas.openxmlformats.org/officeDocument/2006/relationships/hyperlink" Target="https://arxiv.org/abs/2005.10825" TargetMode="External"/><Relationship Id="rId4" Type="http://schemas.openxmlformats.org/officeDocument/2006/relationships/hyperlink" Target="https://www.dbpia.co.kr/journal/articleDetail?nodeId=NODE11487628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iclr.cc/media/iclr-2021/Slides/2844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307.026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1EAC4-EB92-FE56-AE91-54A08897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662035-D2AC-E5B1-F8A0-6D3B032E0B01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B743A39-6F7E-0BBF-ADFF-F6DA646AC37E}"/>
              </a:ext>
            </a:extLst>
          </p:cNvPr>
          <p:cNvSpPr/>
          <p:nvPr/>
        </p:nvSpPr>
        <p:spPr>
          <a:xfrm flipV="1">
            <a:off x="1288904" y="2558267"/>
            <a:ext cx="9836296" cy="45719"/>
          </a:xfrm>
          <a:prstGeom prst="rect">
            <a:avLst/>
          </a:prstGeom>
          <a:solidFill>
            <a:srgbClr val="0069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BAA6C-433D-2E96-4EC0-4C1E2AC7FED7}"/>
              </a:ext>
            </a:extLst>
          </p:cNvPr>
          <p:cNvSpPr txBox="1"/>
          <p:nvPr/>
        </p:nvSpPr>
        <p:spPr>
          <a:xfrm>
            <a:off x="6255447" y="5356985"/>
            <a:ext cx="54098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 err="1"/>
              <a:t>팀명</a:t>
            </a:r>
            <a:r>
              <a:rPr lang="en-US" altLang="ko-KR" sz="2400" b="1" dirty="0"/>
              <a:t>: </a:t>
            </a:r>
            <a:r>
              <a:rPr lang="en-US" altLang="ko-KR" sz="2400" dirty="0" err="1"/>
              <a:t>HueRevive</a:t>
            </a:r>
            <a:r>
              <a:rPr lang="en-US" altLang="ko-KR" sz="2400" dirty="0"/>
              <a:t> (</a:t>
            </a:r>
            <a:r>
              <a:rPr lang="ko-KR" altLang="en-US" sz="2400" dirty="0" err="1"/>
              <a:t>휴리바이브</a:t>
            </a:r>
            <a:r>
              <a:rPr lang="en-US" altLang="ko-KR" sz="2400" dirty="0"/>
              <a:t>)</a:t>
            </a:r>
          </a:p>
          <a:p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팀원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: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강민수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, </a:t>
            </a:r>
            <a:r>
              <a:rPr lang="ko-KR" altLang="en-US" sz="24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문소영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, </a:t>
            </a:r>
            <a:r>
              <a:rPr lang="ko-KR" altLang="en-US" sz="24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소윤진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유지원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B3406E-ED33-B3A1-1D16-BE5B446B9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F463C1-40E8-F558-E1F7-6A2FC635FBB4}"/>
              </a:ext>
            </a:extLst>
          </p:cNvPr>
          <p:cNvSpPr txBox="1"/>
          <p:nvPr/>
        </p:nvSpPr>
        <p:spPr>
          <a:xfrm>
            <a:off x="2463281" y="1913676"/>
            <a:ext cx="96105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 err="1"/>
              <a:t>딥러닝을</a:t>
            </a:r>
            <a:r>
              <a:rPr lang="ko-KR" altLang="en-US" sz="3000" b="1" dirty="0"/>
              <a:t> 활용한 흑백 사진 컬러 복원 </a:t>
            </a:r>
            <a:r>
              <a:rPr lang="en-US" altLang="ko-KR" sz="3000" b="1" dirty="0"/>
              <a:t>AI</a:t>
            </a:r>
            <a:endParaRPr lang="ko-KR" altLang="en-US" sz="3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16494-D8AE-DBED-42A3-CA0E4117777F}"/>
              </a:ext>
            </a:extLst>
          </p:cNvPr>
          <p:cNvSpPr txBox="1"/>
          <p:nvPr/>
        </p:nvSpPr>
        <p:spPr>
          <a:xfrm>
            <a:off x="11722100" y="6488668"/>
            <a:ext cx="48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748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0E85-827D-258A-57B5-D4BE9931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191DCE4-BB13-5C6E-B92A-7AD23371CE8A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51F91F-B1D9-DF8B-B665-00B9F6B50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05C217-4586-6458-D08B-8D4DC07F5839}"/>
              </a:ext>
            </a:extLst>
          </p:cNvPr>
          <p:cNvSpPr txBox="1"/>
          <p:nvPr/>
        </p:nvSpPr>
        <p:spPr>
          <a:xfrm>
            <a:off x="363893" y="127308"/>
            <a:ext cx="4068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주제 선정 배경 및 필요성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10E2C-C072-FFF0-BC99-C62F4F020AE4}"/>
              </a:ext>
            </a:extLst>
          </p:cNvPr>
          <p:cNvSpPr txBox="1"/>
          <p:nvPr/>
        </p:nvSpPr>
        <p:spPr>
          <a:xfrm>
            <a:off x="670249" y="1101220"/>
            <a:ext cx="108515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프로젝트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sz="2000" b="1" dirty="0"/>
              <a:t>주제</a:t>
            </a:r>
            <a:r>
              <a:rPr lang="en-US" altLang="ko-KR" sz="2000" b="1" dirty="0"/>
              <a:t>: </a:t>
            </a:r>
            <a:r>
              <a:rPr lang="ko-KR" altLang="en-US" sz="2000" b="1" dirty="0" err="1"/>
              <a:t>딥러닝을</a:t>
            </a:r>
            <a:r>
              <a:rPr lang="ko-KR" altLang="en-US" sz="2000" b="1" dirty="0"/>
              <a:t> 활용한 흑백 사진 컬러 복원 </a:t>
            </a:r>
            <a:r>
              <a:rPr lang="en-US" altLang="ko-KR" sz="2000" b="1" dirty="0"/>
              <a:t>AI</a:t>
            </a:r>
          </a:p>
          <a:p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</a:t>
            </a:r>
            <a:r>
              <a:rPr lang="ko-KR" altLang="en-US" dirty="0" err="1"/>
              <a:t>최근들어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기술의 발달로 과거의 기록물을 디지털로 복원하려는 수요가 증가하고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흑백 사진은 정보 </a:t>
            </a:r>
            <a:r>
              <a:rPr lang="ko-KR" altLang="en-US" dirty="0" err="1"/>
              <a:t>전달력과</a:t>
            </a:r>
            <a:r>
              <a:rPr lang="ko-KR" altLang="en-US" dirty="0"/>
              <a:t> 감성 전달 측면에서 한계를 가지며</a:t>
            </a:r>
            <a:r>
              <a:rPr lang="en-US" altLang="ko-KR" dirty="0"/>
              <a:t>, </a:t>
            </a:r>
            <a:r>
              <a:rPr lang="ko-KR" altLang="en-US" dirty="0"/>
              <a:t>이를 컬러화 함으로써 시각적 이해도와 몰입도를 높일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기존의 수작업 컬러 복원 방식은 시간과 비용이 많이 들며</a:t>
            </a:r>
            <a:r>
              <a:rPr lang="en-US" altLang="ko-KR" dirty="0"/>
              <a:t>, </a:t>
            </a:r>
            <a:r>
              <a:rPr lang="ko-KR" altLang="en-US" dirty="0"/>
              <a:t>자동화된 딥러닝 기반 접근이 효율적임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동일한 흑백 이미지라도 실제 색상은 다양할 수 있기 때문에 단순 정확도보다 자연스러움과 맥락 적합성이 중요함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본 프로젝트는 딥러닝 모델을 활용하여 흑백 이미지를 실사에 가까운 컬러 이미지로 복원하는 것을 목표로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자연스러운 컬러 복원을 위해 시각적 유사성을 평가할 수 있는 평가지표</a:t>
            </a:r>
            <a:r>
              <a:rPr lang="en-US" altLang="ko-KR" dirty="0"/>
              <a:t>(SSIM, LPIPS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와 사용자 주관적 평가도 함께 고려함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00EA5-2929-A910-13B0-EE798644FCF6}"/>
              </a:ext>
            </a:extLst>
          </p:cNvPr>
          <p:cNvSpPr txBox="1"/>
          <p:nvPr/>
        </p:nvSpPr>
        <p:spPr>
          <a:xfrm>
            <a:off x="11747500" y="6464299"/>
            <a:ext cx="44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14C8D5-73F5-EE9B-BD76-3B80D7D7D82A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2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88CD-F348-7A59-BDC8-623C95C7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0306BB-FEDA-613A-601D-0647402AD5AB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FB3A80-4054-3C85-A525-A426405CD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C0BBF9-C12E-A960-F039-BA27E1DCBC07}"/>
              </a:ext>
            </a:extLst>
          </p:cNvPr>
          <p:cNvSpPr txBox="1"/>
          <p:nvPr/>
        </p:nvSpPr>
        <p:spPr>
          <a:xfrm>
            <a:off x="373224" y="162868"/>
            <a:ext cx="4068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목표 및 기대 성과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D6D28D-8C55-CCE6-20C5-D274ACBB944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E3FA6-E7BB-5FF1-CBD0-0D3F63FAAC19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11F9C-CEAF-8F3A-C0D1-51397DCE3709}"/>
              </a:ext>
            </a:extLst>
          </p:cNvPr>
          <p:cNvSpPr txBox="1"/>
          <p:nvPr/>
        </p:nvSpPr>
        <p:spPr>
          <a:xfrm>
            <a:off x="559448" y="812848"/>
            <a:ext cx="1104770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300" b="1" dirty="0">
                <a:latin typeface="Arial" panose="020B0604020202020204" pitchFamily="34" charset="0"/>
              </a:rPr>
              <a:t>프로젝트 목표</a:t>
            </a:r>
            <a:endParaRPr lang="en-US" altLang="ko-KR" sz="23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1100" b="1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dirty="0"/>
              <a:t>딥러닝 모델을 활용한 </a:t>
            </a:r>
            <a:r>
              <a:rPr lang="ko-KR" altLang="en-US" b="1" dirty="0"/>
              <a:t>흑백 사진을 자연스럽고 실사에 가까운 컬러 이미지로 복원</a:t>
            </a:r>
            <a:r>
              <a:rPr lang="ko-KR" altLang="en-US" dirty="0"/>
              <a:t>하는 </a:t>
            </a:r>
            <a:r>
              <a:rPr lang="en-US" altLang="ko-KR" dirty="0"/>
              <a:t>AI </a:t>
            </a:r>
            <a:r>
              <a:rPr lang="ko-KR" altLang="en-US" dirty="0"/>
              <a:t>시스템 구현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300" b="1" dirty="0"/>
              <a:t>프로젝트 기대 성과</a:t>
            </a:r>
            <a:endParaRPr lang="en-US" altLang="ko-KR" sz="23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dirty="0"/>
              <a:t> </a:t>
            </a:r>
            <a:r>
              <a:rPr lang="ko-KR" altLang="en-US" b="1" dirty="0"/>
              <a:t>기술적 성과</a:t>
            </a:r>
            <a:endParaRPr lang="en-US" altLang="ko-KR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1100" b="1" dirty="0"/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dirty="0"/>
              <a:t> 흑백 이미지를 자연스럽고 현실감 있게 컬러로 변환</a:t>
            </a:r>
            <a:endParaRPr lang="en-US" altLang="ko-KR" dirty="0"/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dirty="0"/>
              <a:t> 모델의 성능 지표에서 높은 결과 달성하여 기술적으로 보완된 모델 완성</a:t>
            </a:r>
            <a:endParaRPr lang="en-US" altLang="ko-KR" dirty="0"/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b="1" dirty="0"/>
              <a:t>사용자 만족도 성과</a:t>
            </a:r>
            <a:endParaRPr lang="en-US" altLang="ko-KR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1100" b="1" dirty="0"/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/>
              <a:t>역사적 사진</a:t>
            </a:r>
            <a:r>
              <a:rPr lang="en-US" altLang="ko-KR" dirty="0"/>
              <a:t>,</a:t>
            </a:r>
            <a:r>
              <a:rPr lang="ko-KR" altLang="en-US" dirty="0"/>
              <a:t> 가족 사진 등 여러가지 주제의 흑백 사진을 모두 자연스러운 컬러화 가능</a:t>
            </a:r>
            <a:endParaRPr lang="en-US" altLang="ko-KR" dirty="0"/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/>
              <a:t>사용자 주관적 평가에서 </a:t>
            </a:r>
            <a:r>
              <a:rPr lang="en-US" altLang="ko-KR" dirty="0"/>
              <a:t>‘</a:t>
            </a:r>
            <a:r>
              <a:rPr lang="ko-KR" altLang="en-US" dirty="0"/>
              <a:t>자연스럽다</a:t>
            </a:r>
            <a:r>
              <a:rPr lang="en-US" altLang="ko-KR" dirty="0"/>
              <a:t>’</a:t>
            </a:r>
            <a:r>
              <a:rPr lang="ko-KR" altLang="en-US" dirty="0"/>
              <a:t>는 평가 획득 가능</a:t>
            </a:r>
            <a:endParaRPr lang="en-US" altLang="ko-KR" dirty="0"/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b="1" dirty="0"/>
              <a:t>사회적 성과</a:t>
            </a:r>
            <a:endParaRPr lang="en-US" altLang="ko-KR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1100" b="1" dirty="0"/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 err="1"/>
              <a:t>컬러화하여</a:t>
            </a:r>
            <a:r>
              <a:rPr lang="ko-KR" altLang="en-US" dirty="0"/>
              <a:t> 어린이</a:t>
            </a:r>
            <a:r>
              <a:rPr lang="en-US" altLang="ko-KR" dirty="0"/>
              <a:t>.</a:t>
            </a:r>
            <a:r>
              <a:rPr lang="ko-KR" altLang="en-US" dirty="0"/>
              <a:t> 청소년</a:t>
            </a:r>
            <a:r>
              <a:rPr lang="en-US" altLang="ko-KR" dirty="0"/>
              <a:t>,</a:t>
            </a:r>
            <a:r>
              <a:rPr lang="ko-KR" altLang="en-US" dirty="0"/>
              <a:t> 일반인이 역사적 이미지를 직관적으로 이해</a:t>
            </a:r>
            <a:endParaRPr lang="en-US" altLang="ko-KR" dirty="0"/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/>
              <a:t>교육 자료</a:t>
            </a:r>
            <a:r>
              <a:rPr lang="en-US" altLang="ko-KR" dirty="0"/>
              <a:t>,</a:t>
            </a:r>
            <a:r>
              <a:rPr lang="ko-KR" altLang="en-US" dirty="0"/>
              <a:t> 디지털 박물관 등 다양한 방면에서 활용 가능</a:t>
            </a:r>
            <a:endParaRPr lang="en-US" altLang="ko-KR" dirty="0"/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/>
              <a:t>가정 내 가족 사진</a:t>
            </a:r>
            <a:r>
              <a:rPr lang="en-US" altLang="ko-KR" dirty="0"/>
              <a:t>,</a:t>
            </a:r>
            <a:r>
              <a:rPr lang="ko-KR" altLang="en-US" dirty="0"/>
              <a:t> 졸업 사진 등 추억을 컬러로 복원하는 서비스로 감성적 만족 제공</a:t>
            </a:r>
          </a:p>
        </p:txBody>
      </p:sp>
    </p:spTree>
    <p:extLst>
      <p:ext uri="{BB962C8B-B14F-4D97-AF65-F5344CB8AC3E}">
        <p14:creationId xmlns:p14="http://schemas.microsoft.com/office/powerpoint/2010/main" val="288161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"/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103" name="그림 4"/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104" name="TextBox 2"/>
          <p:cNvSpPr/>
          <p:nvPr/>
        </p:nvSpPr>
        <p:spPr>
          <a:xfrm>
            <a:off x="363959" y="162720"/>
            <a:ext cx="10156557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400" b="1" strike="noStrike" spc="-1" dirty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2400" b="1" dirty="0"/>
              <a:t>쌍 이미지 기반 데이터와 </a:t>
            </a:r>
            <a:r>
              <a:rPr lang="ko-KR" altLang="en-US" sz="2400" b="1" dirty="0" err="1"/>
              <a:t>비쌍</a:t>
            </a:r>
            <a:r>
              <a:rPr lang="ko-KR" altLang="en-US" sz="2400" b="1" dirty="0"/>
              <a:t> 이미지 기반 데이터 비교 </a:t>
            </a:r>
            <a:endParaRPr lang="en-US" sz="2400" b="1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654120" y="975960"/>
            <a:ext cx="1104732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직사각형 3"/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11747520" y="6464160"/>
            <a:ext cx="440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맑은 고딕"/>
              </a:rPr>
              <a:t>04</a:t>
            </a:r>
            <a:endParaRPr lang="en-US" sz="18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graphicFrame>
        <p:nvGraphicFramePr>
          <p:cNvPr id="109" name="표 108"/>
          <p:cNvGraphicFramePr/>
          <p:nvPr>
            <p:extLst>
              <p:ext uri="{D42A27DB-BD31-4B8C-83A1-F6EECF244321}">
                <p14:modId xmlns:p14="http://schemas.microsoft.com/office/powerpoint/2010/main" val="1745891367"/>
              </p:ext>
            </p:extLst>
          </p:nvPr>
        </p:nvGraphicFramePr>
        <p:xfrm>
          <a:off x="1025677" y="1143350"/>
          <a:ext cx="10152323" cy="4849246"/>
        </p:xfrm>
        <a:graphic>
          <a:graphicData uri="http://schemas.openxmlformats.org/drawingml/2006/table">
            <a:tbl>
              <a:tblPr/>
              <a:tblGrid>
                <a:gridCol w="2005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2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1236">
                <a:tc>
                  <a:txBody>
                    <a:bodyPr/>
                    <a:lstStyle/>
                    <a:p>
                      <a:endParaRPr lang="en-US" sz="20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sz="20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</a:t>
                      </a:r>
                      <a:r>
                        <a:rPr lang="en-US" sz="20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ko-KR" altLang="en-US" sz="20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구분</a:t>
                      </a:r>
                      <a:endParaRPr lang="en-US" sz="20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</a:t>
                      </a:r>
                      <a:r>
                        <a:rPr lang="ko-KR" sz="20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쌍 이미지 기반</a:t>
                      </a:r>
                      <a:endParaRPr lang="en-US" sz="20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</a:t>
                      </a:r>
                      <a:r>
                        <a:rPr lang="ko-KR" sz="20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비쌍</a:t>
                      </a:r>
                      <a:r>
                        <a:rPr lang="ko-KR" sz="20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이미지 기반</a:t>
                      </a:r>
                      <a:endParaRPr lang="en-US" sz="20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413"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</a:t>
                      </a:r>
                      <a:r>
                        <a:rPr lang="ko-KR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데이터 구성</a:t>
                      </a:r>
                      <a:endParaRPr lang="en-US" sz="15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흑백 이미지</a:t>
                      </a:r>
                      <a:r>
                        <a:rPr lang="ko-KR" alt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와 </a:t>
                      </a:r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ko-KR" alt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이에</a:t>
                      </a:r>
                      <a:r>
                        <a:rPr 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대응하는 컬러 이미지 쌍</a:t>
                      </a:r>
                      <a:r>
                        <a:rPr lang="ko-KR" alt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으로</a:t>
                      </a:r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</a:t>
                      </a:r>
                      <a:r>
                        <a:rPr lang="ko-KR" alt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이루어진 이미지 데이터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흑백 이미지와 컬러 이미지가</a:t>
                      </a:r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</a:t>
                      </a:r>
                      <a:r>
                        <a:rPr lang="ko-KR" alt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대응하지 않고</a:t>
                      </a:r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, </a:t>
                      </a:r>
                      <a:r>
                        <a:rPr lang="ko-KR" alt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쌍이 아닌 </a:t>
                      </a:r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따로 있</a:t>
                      </a:r>
                      <a:r>
                        <a:rPr lang="ko-KR" alt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는 이미지 데이터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669"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</a:t>
                      </a:r>
                      <a:r>
                        <a:rPr lang="ko-KR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학습 방법</a:t>
                      </a:r>
                      <a:endParaRPr lang="en-US" sz="15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입력 – 출력 매핑</a:t>
                      </a:r>
                      <a:r>
                        <a:rPr 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, </a:t>
                      </a: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명확한 정답으로 학습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스타일 변환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022"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ko-KR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학습 난이도</a:t>
                      </a:r>
                      <a:endParaRPr lang="en-US" sz="15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상대적으로 쉬움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어려움</a:t>
                      </a:r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(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복잡한 네트워크</a:t>
                      </a:r>
                      <a:r>
                        <a:rPr 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,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및 </a:t>
                      </a:r>
                      <a:r>
                        <a:rPr lang="ko-KR" sz="15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하이퍼파라미터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필요</a:t>
                      </a:r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)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916"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</a:t>
                      </a:r>
                      <a:r>
                        <a:rPr lang="ko-KR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결과 품질</a:t>
                      </a:r>
                      <a:endParaRPr lang="en-US" sz="15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일반적으로 더 좋음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  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품질이 낮을 수 있음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9990">
                <a:tc>
                  <a:txBody>
                    <a:bodyPr/>
                    <a:lstStyle/>
                    <a:p>
                      <a:endParaRPr lang="en-US" altLang="ko-KR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altLang="ko-KR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</a:t>
                      </a:r>
                      <a:r>
                        <a:rPr lang="ko-KR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대표</a:t>
                      </a:r>
                      <a:r>
                        <a:rPr lang="ko-KR" altLang="en-US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적인</a:t>
                      </a:r>
                      <a:r>
                        <a:rPr lang="ko-KR" sz="15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모델</a:t>
                      </a:r>
                      <a:endParaRPr lang="en-US" sz="1500" b="1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U-Net, Pix2Pix, GAN </a:t>
                      </a:r>
                      <a:r>
                        <a:rPr lang="ko-KR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기반 모델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r>
                        <a:rPr lang="en-US" sz="15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                          </a:t>
                      </a:r>
                      <a:r>
                        <a:rPr lang="en-US" sz="15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CycleGAN</a:t>
                      </a:r>
                      <a:endParaRPr lang="en-US" sz="15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"/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103" name="그림 4"/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104" name="TextBox 2"/>
          <p:cNvSpPr/>
          <p:nvPr/>
        </p:nvSpPr>
        <p:spPr>
          <a:xfrm>
            <a:off x="363959" y="162720"/>
            <a:ext cx="10156557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400" b="1" strike="noStrike" spc="-1" dirty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2400" b="1" dirty="0"/>
              <a:t>쌍 이미지 기반 데이터</a:t>
            </a:r>
            <a:endParaRPr lang="en-US" sz="2400" b="1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654120" y="975960"/>
            <a:ext cx="1104732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직사각형 3"/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11747520" y="6464160"/>
            <a:ext cx="440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맑은 고딕"/>
              </a:rPr>
              <a:t>05</a:t>
            </a:r>
            <a:endParaRPr lang="en-US" sz="18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B9605-F6C2-63B8-2E9F-6DC38C3CF8DB}"/>
              </a:ext>
            </a:extLst>
          </p:cNvPr>
          <p:cNvSpPr txBox="1"/>
          <p:nvPr/>
        </p:nvSpPr>
        <p:spPr>
          <a:xfrm>
            <a:off x="617940" y="975960"/>
            <a:ext cx="11047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쌍 이미지 기반</a:t>
            </a:r>
            <a:r>
              <a:rPr lang="ko-KR" altLang="en-US" dirty="0"/>
              <a:t>은 학습할 때 정답</a:t>
            </a:r>
            <a:r>
              <a:rPr lang="en-US" altLang="ko-KR" dirty="0"/>
              <a:t>(</a:t>
            </a:r>
            <a:r>
              <a:rPr lang="ko-KR" altLang="en-US" dirty="0"/>
              <a:t>정확한 출력 이미지</a:t>
            </a:r>
            <a:r>
              <a:rPr lang="en-US" altLang="ko-KR" dirty="0"/>
              <a:t>)</a:t>
            </a:r>
            <a:r>
              <a:rPr lang="ko-KR" altLang="en-US" dirty="0"/>
              <a:t>이 존재하므로 비교적 간단하고 성능도 좋음</a:t>
            </a:r>
            <a:endParaRPr lang="en-US" altLang="ko-KR" dirty="0"/>
          </a:p>
          <a:p>
            <a:r>
              <a:rPr lang="ko-KR" altLang="en-US" dirty="0"/>
              <a:t>그에 비해 </a:t>
            </a:r>
            <a:r>
              <a:rPr lang="ko-KR" altLang="en-US" b="1" dirty="0" err="1"/>
              <a:t>비쌍</a:t>
            </a:r>
            <a:r>
              <a:rPr lang="ko-KR" altLang="en-US" b="1" dirty="0"/>
              <a:t> 이미지 기반</a:t>
            </a:r>
            <a:r>
              <a:rPr lang="ko-KR" altLang="en-US" dirty="0"/>
              <a:t>은 학습 시 정답 쌍이 없고 도메인 간 스타일 변환을 수행하기 때문에 더 복잡한 경향이 있으므로 본 프로젝트에서는 쌍 이미지 기반의 데이터 셋을 이용해 프로젝트를 진행하였음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D755D-3C74-92A2-6D84-10E51B65DF64}"/>
              </a:ext>
            </a:extLst>
          </p:cNvPr>
          <p:cNvSpPr txBox="1"/>
          <p:nvPr/>
        </p:nvSpPr>
        <p:spPr>
          <a:xfrm>
            <a:off x="572340" y="2167845"/>
            <a:ext cx="11047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쌍 이미지 기반</a:t>
            </a:r>
            <a:r>
              <a:rPr lang="en-US" altLang="ko-KR" b="1" dirty="0"/>
              <a:t>(Paired)</a:t>
            </a:r>
            <a:r>
              <a:rPr lang="ko-KR" altLang="en-US" dirty="0"/>
              <a:t> 방식은 하나의 입력 이미지에 대해 정확하게 매칭된 출력 이미지</a:t>
            </a:r>
            <a:r>
              <a:rPr lang="en-US" altLang="ko-KR" dirty="0"/>
              <a:t>(</a:t>
            </a:r>
            <a:r>
              <a:rPr lang="ko-KR" altLang="en-US" dirty="0"/>
              <a:t>정답 이미지</a:t>
            </a:r>
            <a:r>
              <a:rPr lang="en-US" altLang="ko-KR" dirty="0"/>
              <a:t>)</a:t>
            </a:r>
            <a:r>
              <a:rPr lang="ko-KR" altLang="en-US" dirty="0"/>
              <a:t>가 존재하고</a:t>
            </a:r>
            <a:r>
              <a:rPr lang="en-US" altLang="ko-KR" dirty="0"/>
              <a:t>, </a:t>
            </a:r>
            <a:r>
              <a:rPr lang="ko-KR" altLang="en-US" dirty="0"/>
              <a:t>이 쌍</a:t>
            </a:r>
            <a:r>
              <a:rPr lang="en-US" altLang="ko-KR" dirty="0"/>
              <a:t>(pair)</a:t>
            </a:r>
            <a:r>
              <a:rPr lang="ko-KR" altLang="en-US" dirty="0"/>
              <a:t> 이미지를 기반으로 학습을 진행하는 </a:t>
            </a:r>
            <a:r>
              <a:rPr lang="ko-KR" altLang="en-US" b="1" dirty="0"/>
              <a:t>지도 학습 기반 이미지 변환 </a:t>
            </a:r>
            <a:r>
              <a:rPr lang="ko-KR" altLang="en-US" dirty="0"/>
              <a:t>방식임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9C1508-E493-E1E5-8C3B-4E1ABE863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41" y="3082605"/>
            <a:ext cx="10689156" cy="299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8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1"/>
          <p:cNvSpPr/>
          <p:nvPr/>
        </p:nvSpPr>
        <p:spPr>
          <a:xfrm>
            <a:off x="444600" y="696960"/>
            <a:ext cx="11277360" cy="593280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  <a:p>
            <a:pPr algn="ctr"/>
            <a:endParaRPr lang="en-US" spc="-1" dirty="0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67" name="그림 4"/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400" b="1" strike="noStrike" spc="-1" dirty="0">
                <a:solidFill>
                  <a:schemeClr val="dk1"/>
                </a:solidFill>
                <a:latin typeface="맑은 고딕"/>
              </a:rPr>
              <a:t>데이터</a:t>
            </a:r>
            <a:r>
              <a:rPr lang="en-US" altLang="ko-KR" sz="2400" b="1" strike="noStrike" spc="-1" dirty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2400" b="1" strike="noStrike" spc="-1" dirty="0">
                <a:solidFill>
                  <a:schemeClr val="dk1"/>
                </a:solidFill>
                <a:latin typeface="맑은 고딕"/>
              </a:rPr>
              <a:t>셋 </a:t>
            </a:r>
            <a:r>
              <a:rPr lang="en-US" altLang="ko-KR" sz="2400" b="1" spc="-1" dirty="0">
                <a:solidFill>
                  <a:schemeClr val="dk1"/>
                </a:solidFill>
                <a:latin typeface="맑은 고딕"/>
              </a:rPr>
              <a:t>1</a:t>
            </a:r>
            <a:endParaRPr lang="en-US" sz="2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11747520" y="6464160"/>
            <a:ext cx="4438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맑은 고딕"/>
              </a:rPr>
              <a:t>06</a:t>
            </a:r>
            <a:endParaRPr lang="en-US" sz="18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1" name="직사각형 10"/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123896" y="765967"/>
            <a:ext cx="5975183" cy="6355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Landscape color and grayscale </a:t>
            </a:r>
          </a:p>
          <a:p>
            <a:endParaRPr lang="en-US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수</a:t>
            </a:r>
            <a:r>
              <a:rPr 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14258</a:t>
            </a:r>
            <a:r>
              <a:rPr 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 이미지 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형식 </a:t>
            </a:r>
            <a:r>
              <a:rPr 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크기</a:t>
            </a:r>
            <a:r>
              <a:rPr 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 / 203.47MB</a:t>
            </a:r>
          </a:p>
          <a:p>
            <a:endParaRPr lang="en-US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주제</a:t>
            </a:r>
            <a:r>
              <a:rPr 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풍경</a:t>
            </a:r>
            <a:endParaRPr lang="en-US" altLang="ko-KR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ko-KR" sz="15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크기</a:t>
            </a:r>
            <a:r>
              <a:rPr lang="en-US" altLang="ko-KR" sz="15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ko-KR" sz="15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altLang="ko-KR" sz="15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5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등</a:t>
            </a:r>
            <a:r>
              <a:rPr lang="en-US" altLang="ko-KR" sz="15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7129</a:t>
            </a:r>
            <a:r>
              <a:rPr 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쌍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 쌍</a:t>
            </a:r>
            <a:r>
              <a:rPr lang="en-US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</a:t>
            </a:r>
            <a:r>
              <a:rPr lang="ko-KR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 • </a:t>
            </a:r>
            <a:r>
              <a:rPr lang="ko-KR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 </a:t>
            </a:r>
            <a:r>
              <a:rPr lang="ko-KR" alt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50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ko-KR" sz="150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altLang="ko-KR" sz="150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(Grayscale)</a:t>
            </a:r>
            <a:endParaRPr lang="en-US" altLang="ko-KR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50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 • </a:t>
            </a:r>
            <a:r>
              <a:rPr lang="ko-KR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</a:t>
            </a:r>
            <a:r>
              <a:rPr lang="ko-KR" altLang="en-US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50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ko-KR" sz="150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altLang="ko-KR" sz="150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(RGB)</a:t>
            </a:r>
          </a:p>
          <a:p>
            <a:endParaRPr lang="en-US" altLang="ko-KR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 </a:t>
            </a:r>
            <a:r>
              <a:rPr lang="ko-KR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클래스 분포</a:t>
            </a:r>
            <a:endParaRPr lang="ko-KR" altLang="en-US" sz="1500" b="1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• </a:t>
            </a:r>
            <a:r>
              <a:rPr lang="en-US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Black-white:</a:t>
            </a:r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7129</a:t>
            </a:r>
            <a:r>
              <a:rPr lang="ko-KR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ko-KR" altLang="en-US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• </a:t>
            </a:r>
            <a:r>
              <a:rPr lang="en-US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Color : </a:t>
            </a:r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7129</a:t>
            </a:r>
            <a:r>
              <a:rPr lang="ko-KR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en-US" altLang="ko-KR" sz="15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ko-KR" sz="1500" b="1" strike="noStrike" spc="-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ko-KR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5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endParaRPr lang="en-US" altLang="ko-KR" sz="15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b="0" strike="noStrike" spc="-1" dirty="0">
              <a:solidFill>
                <a:srgbClr val="000000"/>
              </a:solidFill>
              <a:latin typeface="Noto Sans KR"/>
            </a:endParaRPr>
          </a:p>
          <a:p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543977" y="748980"/>
            <a:ext cx="910604" cy="3940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0" strike="noStrike" spc="-1" dirty="0">
                <a:solidFill>
                  <a:srgbClr val="000000"/>
                </a:solidFill>
                <a:latin typeface="Noto Sans KR"/>
              </a:rPr>
              <a:t>[1]</a:t>
            </a:r>
            <a:r>
              <a:rPr lang="en-US" sz="1000" b="0" strike="noStrike" spc="-1" dirty="0">
                <a:solidFill>
                  <a:srgbClr val="000000"/>
                </a:solidFill>
                <a:latin typeface="Noto Sans KR"/>
              </a:rPr>
              <a:t>  </a:t>
            </a:r>
            <a:r>
              <a:rPr lang="en-US" sz="1400" b="0" strike="noStrike" spc="-1" dirty="0">
                <a:solidFill>
                  <a:srgbClr val="000000"/>
                </a:solidFill>
                <a:latin typeface="Noto Sans KR"/>
                <a:hlinkClick r:id="rId4"/>
              </a:rPr>
              <a:t>[Link]</a:t>
            </a:r>
            <a:endParaRPr lang="en-US" sz="1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AAE0D6-A05E-34C5-F2B8-585C6DF85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60" y="870513"/>
            <a:ext cx="5628900" cy="337595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D20C7B-E7EB-EECD-003E-0275F7D0F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55" y="3101070"/>
            <a:ext cx="5487031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직사각형 2"/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76" name="그림 1"/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77" name="TextBox 1"/>
          <p:cNvSpPr/>
          <p:nvPr/>
        </p:nvSpPr>
        <p:spPr>
          <a:xfrm>
            <a:off x="363960" y="127440"/>
            <a:ext cx="4067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400" b="1" strike="noStrike" spc="-1">
                <a:solidFill>
                  <a:schemeClr val="dk1"/>
                </a:solidFill>
                <a:latin typeface="맑은 고딕"/>
              </a:rPr>
              <a:t>데이터셋 </a:t>
            </a:r>
            <a:r>
              <a:rPr lang="en-US" sz="2400" b="1" strike="noStrike" spc="-1">
                <a:solidFill>
                  <a:schemeClr val="dk1"/>
                </a:solidFill>
                <a:latin typeface="맑은 고딕"/>
              </a:rPr>
              <a:t>2</a:t>
            </a:r>
            <a:endParaRPr lang="en-US" sz="24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11747520" y="6464160"/>
            <a:ext cx="4438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맑은 고딕"/>
              </a:rPr>
              <a:t>07</a:t>
            </a:r>
            <a:endParaRPr lang="en-US" sz="18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직사각형 4"/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221960" y="857238"/>
            <a:ext cx="4500000" cy="544628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Unsplash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Lite 5k | Colorization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10000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 이미지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형식 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크기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 / 4.81GB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주제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풍경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인물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동물 등</a:t>
            </a:r>
            <a:endParaRPr lang="ko-KR" alt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크기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5000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쌍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 쌍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</a:t>
            </a:r>
            <a:endParaRPr lang="en-US" sz="1400" b="1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(Grayscale)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(RGB)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en-US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클래스 분포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• 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Black-white: 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5000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en-US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• 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Color: 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5000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</a:t>
            </a:r>
          </a:p>
          <a:p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 </a:t>
            </a:r>
            <a:r>
              <a:rPr lang="ko-KR" altLang="ko-KR" sz="1400" b="1" spc="-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0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536094" y="4673082"/>
            <a:ext cx="2505586" cy="163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365602" y="857238"/>
            <a:ext cx="1002681" cy="31489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500" b="0" strike="noStrike" spc="-1" dirty="0">
                <a:solidFill>
                  <a:srgbClr val="000000"/>
                </a:solidFill>
                <a:latin typeface="Noto Sans KR"/>
              </a:rPr>
              <a:t>[2]</a:t>
            </a:r>
            <a:r>
              <a:rPr lang="en-US" sz="1000" b="0" strike="noStrike" spc="-1" dirty="0">
                <a:solidFill>
                  <a:srgbClr val="000000"/>
                </a:solidFill>
                <a:latin typeface="Noto Sans KR"/>
              </a:rPr>
              <a:t>  </a:t>
            </a:r>
            <a:r>
              <a:rPr lang="en-US" sz="1400" b="0" strike="noStrike" spc="-1" dirty="0">
                <a:solidFill>
                  <a:srgbClr val="000000"/>
                </a:solidFill>
                <a:latin typeface="Noto Sans KR"/>
                <a:hlinkClick r:id="rId4"/>
              </a:rPr>
              <a:t>[Link]</a:t>
            </a:r>
            <a:endParaRPr lang="en-US" sz="1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FCDAE6-284F-1765-E0DE-EBBAB53B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94" y="1655081"/>
            <a:ext cx="5824915" cy="3853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5"/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85" name="그림 2"/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86" name="TextBox 8"/>
          <p:cNvSpPr/>
          <p:nvPr/>
        </p:nvSpPr>
        <p:spPr>
          <a:xfrm>
            <a:off x="363960" y="127440"/>
            <a:ext cx="4067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400" b="1" strike="noStrike" spc="-1">
                <a:solidFill>
                  <a:schemeClr val="dk1"/>
                </a:solidFill>
                <a:latin typeface="맑은 고딕"/>
              </a:rPr>
              <a:t>데이터셋 </a:t>
            </a:r>
            <a:r>
              <a:rPr lang="en-US" sz="2400" b="1" strike="noStrike" spc="-1">
                <a:solidFill>
                  <a:schemeClr val="dk1"/>
                </a:solidFill>
                <a:latin typeface="맑은 고딕"/>
              </a:rPr>
              <a:t>3</a:t>
            </a:r>
            <a:endParaRPr lang="en-US" sz="24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11747520" y="6464160"/>
            <a:ext cx="4438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 dirty="0">
                <a:solidFill>
                  <a:schemeClr val="dk1"/>
                </a:solidFill>
                <a:latin typeface="맑은 고딕"/>
              </a:rPr>
              <a:t>08</a:t>
            </a:r>
            <a:endParaRPr lang="en-US" sz="18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9" name="직사각형 6"/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576464" y="900000"/>
            <a:ext cx="7949032" cy="499147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Color_The_Flower_Dateset</a:t>
            </a:r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11859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 이미지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형식 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크기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 / 2.05GB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주제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꽃</a:t>
            </a:r>
            <a:endParaRPr lang="en-US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크기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11859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쌍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이미지가 한 이미</a:t>
            </a:r>
            <a:r>
              <a:rPr lang="ko-KR" alt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파일에 포함된 형태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</a:t>
            </a:r>
            <a:endParaRPr lang="en-US" sz="1400" b="1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(Grayscale)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(RGB)</a:t>
            </a:r>
          </a:p>
          <a:p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클래스 분포</a:t>
            </a:r>
            <a:endParaRPr lang="ko-KR" altLang="en-US" sz="1400" b="1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• 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Black-white: 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11859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• 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Color: 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11589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ko-KR" sz="1400" b="1" spc="-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endParaRPr lang="en-US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+mj-lt"/>
            </a:endParaRPr>
          </a:p>
          <a:p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  <a:p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377241" y="900000"/>
            <a:ext cx="943740" cy="36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0" strike="noStrike" spc="-1" dirty="0">
                <a:solidFill>
                  <a:srgbClr val="000000"/>
                </a:solidFill>
                <a:latin typeface="Noto Sans KR"/>
              </a:rPr>
              <a:t>[3]</a:t>
            </a:r>
            <a:r>
              <a:rPr lang="en-US" sz="1000" b="0" strike="noStrike" spc="-1" dirty="0">
                <a:solidFill>
                  <a:srgbClr val="000000"/>
                </a:solidFill>
                <a:latin typeface="Noto Sans KR"/>
              </a:rPr>
              <a:t>  </a:t>
            </a:r>
            <a:r>
              <a:rPr lang="en-US" sz="1400" b="0" strike="noStrike" spc="-1" dirty="0">
                <a:solidFill>
                  <a:srgbClr val="000000"/>
                </a:solidFill>
                <a:latin typeface="Noto Sans KR"/>
                <a:hlinkClick r:id="rId3"/>
              </a:rPr>
              <a:t>[Link]</a:t>
            </a:r>
            <a:endParaRPr lang="en-US" sz="1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7C40C7-BB86-6595-1E38-E5AC210E9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91" y="1823842"/>
            <a:ext cx="4791083" cy="3210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/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/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5" name="TextBox 16"/>
          <p:cNvSpPr/>
          <p:nvPr/>
        </p:nvSpPr>
        <p:spPr>
          <a:xfrm>
            <a:off x="363960" y="127440"/>
            <a:ext cx="4067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400" b="1" strike="noStrike" spc="-1">
                <a:solidFill>
                  <a:schemeClr val="dk1"/>
                </a:solidFill>
                <a:latin typeface="맑은 고딕"/>
              </a:rPr>
              <a:t>데이터셋 </a:t>
            </a:r>
            <a:r>
              <a:rPr lang="en-US" sz="2400" b="1" strike="noStrike" spc="-1">
                <a:solidFill>
                  <a:schemeClr val="dk1"/>
                </a:solidFill>
                <a:latin typeface="맑은 고딕"/>
              </a:rPr>
              <a:t>4</a:t>
            </a:r>
            <a:endParaRPr lang="en-US" sz="24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6" name="TextBox 17"/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7" name="TextBox 18"/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pc="-1" dirty="0">
                <a:solidFill>
                  <a:schemeClr val="dk1"/>
                </a:solidFill>
                <a:latin typeface="맑은 고딕"/>
              </a:rPr>
              <a:t>09</a:t>
            </a:r>
            <a:endParaRPr lang="en-US" spc="-1" dirty="0">
              <a:solidFill>
                <a:schemeClr val="dk1"/>
              </a:solidFill>
              <a:latin typeface="Noto Sans KR"/>
            </a:endParaRPr>
          </a:p>
          <a:p>
            <a:endParaRPr lang="en-US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98" name="직사각형 12"/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448284" y="918928"/>
            <a:ext cx="4743716" cy="51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Colorization Dataset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11478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 이미지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형식 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크기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 / 653.78MB</a:t>
            </a:r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주제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풍경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사물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인물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동물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음식 등</a:t>
            </a:r>
            <a:endParaRPr lang="ko-KR" alt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크기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5739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쌍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이미지 쌍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</a:t>
            </a:r>
            <a:endParaRPr lang="en-US" sz="1400" b="1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 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흑백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(Grayscale)</a:t>
            </a:r>
            <a:endParaRPr 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   • </a:t>
            </a:r>
            <a:r>
              <a:rPr lang="ko-KR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 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</a:t>
            </a:r>
            <a:r>
              <a:rPr lang="en-US" sz="14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(RGB)</a:t>
            </a:r>
          </a:p>
          <a:p>
            <a:endParaRPr lang="en-US" sz="1400" b="0" strike="noStrike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 </a:t>
            </a:r>
            <a:r>
              <a:rPr lang="ko-KR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클래스 분포</a:t>
            </a:r>
            <a:endParaRPr lang="ko-KR" altLang="en-US" sz="1400" b="1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Black-white: 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5739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• Color: </a:t>
            </a:r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5739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 </a:t>
            </a:r>
            <a:r>
              <a:rPr lang="ko-KR" altLang="ko-KR" sz="1400" b="1" spc="-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en-US" altLang="ko-KR" sz="1400" b="1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ko-KR" sz="14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endParaRPr lang="en-US" altLang="ko-KR" sz="14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+mj-lt"/>
            </a:endParaRPr>
          </a:p>
          <a:p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  <a:p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816648" y="4775305"/>
            <a:ext cx="3600000" cy="479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270800" y="913451"/>
            <a:ext cx="907200" cy="30818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0" strike="noStrike" spc="-1" dirty="0">
                <a:solidFill>
                  <a:srgbClr val="000000"/>
                </a:solidFill>
                <a:latin typeface="Noto Sans KR"/>
              </a:rPr>
              <a:t>[4]</a:t>
            </a:r>
            <a:r>
              <a:rPr lang="en-US" sz="1000" b="0" strike="noStrike" spc="-1" dirty="0">
                <a:solidFill>
                  <a:srgbClr val="000000"/>
                </a:solidFill>
                <a:latin typeface="Noto Sans KR"/>
              </a:rPr>
              <a:t>  </a:t>
            </a:r>
            <a:r>
              <a:rPr lang="en-US" sz="1400" b="0" strike="noStrike" spc="-1" dirty="0">
                <a:solidFill>
                  <a:srgbClr val="000000"/>
                </a:solidFill>
                <a:latin typeface="Noto Sans KR"/>
                <a:hlinkClick r:id="rId3"/>
              </a:rPr>
              <a:t>[Link]</a:t>
            </a:r>
            <a:endParaRPr lang="en-US" sz="1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7BB50C-1B18-A93F-2E83-C61399A73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60" y="1039689"/>
            <a:ext cx="6668182" cy="34064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7DE4497-3F5D-82B1-434E-5BE491E0F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318" y="3339366"/>
            <a:ext cx="6480000" cy="33911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3CCA4-08F6-EAF2-DEFC-FD187EB6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3F181DA-BB19-EA96-6F7C-3F6AC8A6A5C1}"/>
              </a:ext>
            </a:extLst>
          </p:cNvPr>
          <p:cNvSpPr/>
          <p:nvPr/>
        </p:nvSpPr>
        <p:spPr>
          <a:xfrm>
            <a:off x="444500" y="957812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719FDD-0F58-844F-D03C-2C059FE39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54BC86-8721-BADA-73DC-AC29908EBAF9}"/>
              </a:ext>
            </a:extLst>
          </p:cNvPr>
          <p:cNvSpPr txBox="1"/>
          <p:nvPr/>
        </p:nvSpPr>
        <p:spPr>
          <a:xfrm>
            <a:off x="373224" y="162868"/>
            <a:ext cx="618489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556B7E-E4A8-87E6-77E9-0D080D0E858D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F3E03-4D37-3615-B4D3-11B7917D730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8777C-B5F7-EAA9-5A05-C4CB6C67409D}"/>
              </a:ext>
            </a:extLst>
          </p:cNvPr>
          <p:cNvSpPr txBox="1"/>
          <p:nvPr/>
        </p:nvSpPr>
        <p:spPr>
          <a:xfrm>
            <a:off x="538726" y="1020889"/>
            <a:ext cx="11781481" cy="18774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ko-KR" sz="2400" b="1" dirty="0" err="1">
                <a:ea typeface="+mn-lt"/>
                <a:cs typeface="+mn-lt"/>
              </a:rPr>
              <a:t>U</a:t>
            </a:r>
            <a:r>
              <a:rPr lang="ko-KR" sz="2400" b="1" dirty="0">
                <a:ea typeface="+mn-lt"/>
                <a:cs typeface="+mn-lt"/>
              </a:rPr>
              <a:t>-Net</a:t>
            </a:r>
            <a:endParaRPr lang="en-US" sz="2000" b="1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+mn-lt"/>
              <a:cs typeface="+mn-lt"/>
            </a:endParaRPr>
          </a:p>
          <a:p>
            <a:endParaRPr lang="en-US" dirty="0">
              <a:ea typeface="맑은 고딕"/>
            </a:endParaRPr>
          </a:p>
          <a:p>
            <a:endParaRPr lang="en-US" dirty="0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6451531-78D6-42EB-32E4-7E80E71E6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25" y="1609938"/>
            <a:ext cx="10994513" cy="496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2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3CCA4-08F6-EAF2-DEFC-FD187EB6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3F181DA-BB19-EA96-6F7C-3F6AC8A6A5C1}"/>
              </a:ext>
            </a:extLst>
          </p:cNvPr>
          <p:cNvSpPr/>
          <p:nvPr/>
        </p:nvSpPr>
        <p:spPr>
          <a:xfrm>
            <a:off x="444500" y="957812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719FDD-0F58-844F-D03C-2C059FE39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54BC86-8721-BADA-73DC-AC29908EBAF9}"/>
              </a:ext>
            </a:extLst>
          </p:cNvPr>
          <p:cNvSpPr txBox="1"/>
          <p:nvPr/>
        </p:nvSpPr>
        <p:spPr>
          <a:xfrm>
            <a:off x="373224" y="162868"/>
            <a:ext cx="618489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556B7E-E4A8-87E6-77E9-0D080D0E858D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F3E03-4D37-3615-B4D3-11B7917D730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8777C-B5F7-EAA9-5A05-C4CB6C67409D}"/>
              </a:ext>
            </a:extLst>
          </p:cNvPr>
          <p:cNvSpPr txBox="1"/>
          <p:nvPr/>
        </p:nvSpPr>
        <p:spPr>
          <a:xfrm>
            <a:off x="371193" y="828391"/>
            <a:ext cx="11257448" cy="69865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ko-KR" sz="2400" b="1" dirty="0" err="1">
                <a:ea typeface="+mn-lt"/>
                <a:cs typeface="+mn-lt"/>
              </a:rPr>
              <a:t>U</a:t>
            </a:r>
            <a:r>
              <a:rPr lang="ko-KR" sz="2400" b="1" dirty="0">
                <a:ea typeface="+mn-lt"/>
                <a:cs typeface="+mn-lt"/>
              </a:rPr>
              <a:t>-Net</a:t>
            </a:r>
            <a:r>
              <a:rPr lang="ko-KR" altLang="en-US" sz="2400" b="1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[5]</a:t>
            </a:r>
            <a:endParaRPr lang="en-US" sz="1600" dirty="0">
              <a:ea typeface="맑은 고딕"/>
            </a:endParaRP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Biomedical 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분야에서 이미지 분할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(Image Segmentation)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을 목적으로 제안된 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End-to-End 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방식의 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Fully-Convolutional Network 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기반 모델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  <a:ea typeface="+mn-lt"/>
                <a:cs typeface="+mn-lt"/>
              </a:rPr>
              <a:t>임</a:t>
            </a:r>
            <a:endParaRPr lang="en-US" altLang="ko-KR" b="0" i="0" dirty="0">
              <a:solidFill>
                <a:srgbClr val="242424"/>
              </a:solidFill>
              <a:effectLst/>
              <a:latin typeface="source-serif-pro"/>
              <a:ea typeface="+mn-lt"/>
              <a:cs typeface="+mn-lt"/>
            </a:endParaRP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네트워크 구성의 형태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(‘U’)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로 인해 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U-Net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이라는 이름이 </a:t>
            </a:r>
            <a:r>
              <a:rPr lang="ko-KR" altLang="en-US" b="0" i="0" dirty="0" err="1">
                <a:solidFill>
                  <a:srgbClr val="242424"/>
                </a:solidFill>
                <a:effectLst/>
                <a:latin typeface="source-serif-pro"/>
              </a:rPr>
              <a:t>붙여짐</a:t>
            </a:r>
            <a:endParaRPr lang="en-US" altLang="ko-KR" dirty="0">
              <a:solidFill>
                <a:srgbClr val="242424"/>
              </a:solidFill>
              <a:latin typeface="source-serif-pro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- </a:t>
            </a:r>
            <a:r>
              <a:rPr lang="en-US" altLang="ko-KR" sz="2000" b="1" i="0" dirty="0">
                <a:solidFill>
                  <a:srgbClr val="242424"/>
                </a:solidFill>
                <a:effectLst/>
              </a:rPr>
              <a:t>Contracting Path</a:t>
            </a:r>
            <a:endParaRPr lang="en-US" sz="2000" b="1" dirty="0">
              <a:ea typeface="맑은 고딕"/>
            </a:endParaRPr>
          </a:p>
          <a:p>
            <a:pPr lvl="1"/>
            <a:r>
              <a:rPr lang="ko-KR" altLang="en-US" dirty="0" err="1">
                <a:ea typeface="+mn-lt"/>
                <a:cs typeface="+mn-lt"/>
              </a:rPr>
              <a:t>컨볼루션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ko-KR" altLang="en-US" dirty="0" err="1">
                <a:ea typeface="+mn-lt"/>
                <a:cs typeface="+mn-lt"/>
              </a:rPr>
              <a:t>풀링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연산을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반복하며 이미지에서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의미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있는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특징을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추출함</a:t>
            </a:r>
            <a:endParaRPr lang="en-US" altLang="ko-KR" dirty="0">
              <a:ea typeface="+mn-lt"/>
              <a:cs typeface="+mn-lt"/>
            </a:endParaRPr>
          </a:p>
          <a:p>
            <a:r>
              <a:rPr lang="ko-KR" altLang="en-US" b="1" dirty="0">
                <a:ea typeface="+mn-lt"/>
                <a:cs typeface="+mn-lt"/>
              </a:rPr>
              <a:t>- </a:t>
            </a:r>
            <a:r>
              <a:rPr lang="en-US" altLang="ko-KR" sz="2000" b="1" i="0" dirty="0">
                <a:solidFill>
                  <a:srgbClr val="242424"/>
                </a:solidFill>
                <a:effectLst/>
                <a:latin typeface="+mj-lt"/>
              </a:rPr>
              <a:t>Expanding Path</a:t>
            </a:r>
            <a:endParaRPr lang="ko-KR" sz="2000" b="1" dirty="0">
              <a:latin typeface="+mj-lt"/>
            </a:endParaRPr>
          </a:p>
          <a:p>
            <a:pPr lvl="1"/>
            <a:r>
              <a:rPr lang="ko-KR" altLang="en-US" dirty="0" err="1">
                <a:ea typeface="+mn-lt"/>
                <a:cs typeface="+mn-lt"/>
              </a:rPr>
              <a:t>업샘플링을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통해</a:t>
            </a:r>
            <a:r>
              <a:rPr lang="en-US" dirty="0">
                <a:ea typeface="+mn-lt"/>
                <a:cs typeface="+mn-lt"/>
              </a:rPr>
              <a:t> feature</a:t>
            </a:r>
            <a:r>
              <a:rPr lang="en-US" altLang="ko-KR" dirty="0">
                <a:ea typeface="+mn-lt"/>
                <a:cs typeface="+mn-lt"/>
              </a:rPr>
              <a:t> map</a:t>
            </a:r>
            <a:r>
              <a:rPr lang="ko-KR" altLang="en-US" dirty="0">
                <a:ea typeface="+mn-lt"/>
                <a:cs typeface="+mn-lt"/>
              </a:rPr>
              <a:t>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원래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해상도로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복원하고 복원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과정에서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세부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정보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재구성</a:t>
            </a:r>
            <a:endParaRPr lang="ko-KR" dirty="0">
              <a:ea typeface="맑은 고딕"/>
            </a:endParaRPr>
          </a:p>
          <a:p>
            <a:r>
              <a:rPr lang="en-US" b="1" dirty="0">
                <a:ea typeface="+mn-lt"/>
                <a:cs typeface="+mn-lt"/>
              </a:rPr>
              <a:t>- Skip Connection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 lvl="1"/>
            <a:r>
              <a:rPr lang="en-US" dirty="0" err="1">
                <a:ea typeface="+mn-lt"/>
                <a:cs typeface="+mn-lt"/>
              </a:rPr>
              <a:t>인코더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단계의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출력을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디코더로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직접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연결함, 위치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정보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텍스처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경계선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등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세부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정보를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보존함</a:t>
            </a:r>
            <a:endParaRPr lang="ko-KR" altLang="en-US" dirty="0">
              <a:ea typeface="맑은 고딕" panose="020B0503020000020004" pitchFamily="34" charset="-127"/>
              <a:cs typeface="+mn-lt"/>
            </a:endParaRPr>
          </a:p>
          <a:p>
            <a:pPr lvl="1"/>
            <a:endParaRPr lang="ko-KR" altLang="en-US" dirty="0">
              <a:ea typeface="+mn-lt"/>
              <a:cs typeface="+mn-lt"/>
            </a:endParaRPr>
          </a:p>
          <a:p>
            <a:r>
              <a:rPr lang="en-US" sz="2000" b="1" dirty="0"/>
              <a:t>U-Net </a:t>
            </a:r>
            <a:r>
              <a:rPr lang="ko-KR" altLang="en-US" sz="2000" b="1" dirty="0">
                <a:ea typeface="맑은 고딕"/>
              </a:rPr>
              <a:t>사용</a:t>
            </a:r>
            <a:r>
              <a:rPr lang="en-US" sz="2000" b="1" dirty="0">
                <a:ea typeface="맑은 고딕"/>
              </a:rPr>
              <a:t> </a:t>
            </a:r>
            <a:r>
              <a:rPr lang="ko-KR" altLang="en-US" sz="2000" b="1" dirty="0">
                <a:ea typeface="맑은 고딕"/>
              </a:rPr>
              <a:t>이유</a:t>
            </a:r>
            <a:endParaRPr lang="en-US" altLang="ko-KR" sz="2000" b="1" dirty="0">
              <a:latin typeface="Malgun Gothic"/>
              <a:ea typeface="Malgun Gothic"/>
            </a:endParaRPr>
          </a:p>
          <a:p>
            <a:r>
              <a:rPr lang="ko-KR" altLang="en-US" dirty="0">
                <a:latin typeface="Malgun Gothic"/>
                <a:ea typeface="Malgun Gothic"/>
              </a:rPr>
              <a:t> - 흑백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이미지의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미세한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경계</a:t>
            </a:r>
            <a:r>
              <a:rPr lang="en-US" dirty="0">
                <a:latin typeface="Malgun Gothic"/>
                <a:ea typeface="Malgun Gothic"/>
              </a:rPr>
              <a:t>,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질감</a:t>
            </a:r>
            <a:r>
              <a:rPr lang="en-US" dirty="0">
                <a:latin typeface="Malgun Gothic"/>
                <a:ea typeface="Malgun Gothic"/>
              </a:rPr>
              <a:t>,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패턴을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잘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유지함</a:t>
            </a:r>
            <a:endParaRPr lang="en-US" altLang="ko-KR" dirty="0">
              <a:latin typeface="Malgun Gothic"/>
              <a:ea typeface="Malgun Gothic"/>
            </a:endParaRPr>
          </a:p>
          <a:p>
            <a:r>
              <a:rPr lang="ko-KR" altLang="en-US" dirty="0">
                <a:latin typeface="Malgun Gothic"/>
                <a:ea typeface="Malgun Gothic"/>
              </a:rPr>
              <a:t> - 학습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속도가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빠르고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구조가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단순하여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초기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실험</a:t>
            </a:r>
            <a:r>
              <a:rPr lang="en-US" dirty="0">
                <a:latin typeface="Malgun Gothic"/>
                <a:ea typeface="Malgun Gothic"/>
              </a:rPr>
              <a:t>,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구현에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적합함</a:t>
            </a:r>
            <a:endParaRPr lang="en-US" altLang="ko-KR" dirty="0">
              <a:latin typeface="Malgun Gothic"/>
              <a:ea typeface="Malgun Gothic"/>
            </a:endParaRPr>
          </a:p>
          <a:p>
            <a:r>
              <a:rPr lang="ko-KR" altLang="en-US" dirty="0">
                <a:latin typeface="Malgun Gothic"/>
                <a:ea typeface="Malgun Gothic"/>
              </a:rPr>
              <a:t> - 소량의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데이터로도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비교적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우수한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성능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확보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</a:rPr>
              <a:t>가능함</a:t>
            </a:r>
            <a:endParaRPr lang="en-US" altLang="ko-KR" dirty="0">
              <a:latin typeface="맑은 고딕" panose="02110004020202020204"/>
              <a:ea typeface="맑은 고딕"/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ko-KR" altLang="en-US" sz="2000" b="1" dirty="0">
                <a:ea typeface="맑은 고딕"/>
              </a:rPr>
              <a:t>한계점</a:t>
            </a:r>
            <a:endParaRPr lang="en-US" sz="2000" dirty="0">
              <a:ea typeface="맑은 고딕"/>
            </a:endParaRPr>
          </a:p>
          <a:p>
            <a:r>
              <a:rPr lang="ko-KR" altLang="en-US" dirty="0">
                <a:ea typeface="+mn-lt"/>
                <a:cs typeface="+mn-lt"/>
              </a:rPr>
              <a:t> - 컬러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표현력이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단순하여 </a:t>
            </a:r>
            <a:r>
              <a:rPr lang="en-US" dirty="0">
                <a:ea typeface="+mn-lt"/>
                <a:cs typeface="+mn-lt"/>
              </a:rPr>
              <a:t>GAN </a:t>
            </a:r>
            <a:r>
              <a:rPr lang="ko-KR" altLang="en-US" dirty="0">
                <a:ea typeface="+mn-lt"/>
                <a:cs typeface="+mn-lt"/>
              </a:rPr>
              <a:t>기반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모델에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비해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자연스러운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색상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복원력은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낮음</a:t>
            </a:r>
            <a:endParaRPr lang="ko-KR" dirty="0">
              <a:ea typeface="맑은 고딕" panose="020B0503020000020004" pitchFamily="34" charset="-127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- 정적인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복원에는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적합하지만 다양하고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풍부한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색상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표현에는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제약이 있음</a:t>
            </a:r>
            <a:endParaRPr lang="ko-KR" dirty="0">
              <a:ea typeface="맑은 고딕"/>
            </a:endParaRPr>
          </a:p>
          <a:p>
            <a:endParaRPr lang="en-US" dirty="0">
              <a:ea typeface="맑은 고딕"/>
            </a:endParaRPr>
          </a:p>
          <a:p>
            <a:endParaRPr lang="en-US" dirty="0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211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C129-48B2-EB0F-1932-D4EFC508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DBB9CE-AF28-2691-9A13-120426038FAE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7F13A6-B11C-294B-D3FE-5D45D41EF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A40816-B98B-F90D-1E0F-48350A3BEE5B}"/>
              </a:ext>
            </a:extLst>
          </p:cNvPr>
          <p:cNvSpPr txBox="1"/>
          <p:nvPr/>
        </p:nvSpPr>
        <p:spPr>
          <a:xfrm>
            <a:off x="373224" y="162868"/>
            <a:ext cx="835036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DD2362-E440-4D01-7985-AE275844ED70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61C24-C7E6-54D1-922E-CA5C0EA08E1E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12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B31F5-6F7A-2728-B6F7-EDEAF4879747}"/>
              </a:ext>
            </a:extLst>
          </p:cNvPr>
          <p:cNvSpPr txBox="1"/>
          <p:nvPr/>
        </p:nvSpPr>
        <p:spPr>
          <a:xfrm>
            <a:off x="443163" y="904374"/>
            <a:ext cx="116164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Malgun Gothic"/>
                <a:ea typeface="Malgun Gothic"/>
              </a:rPr>
              <a:t>Pix2Pix - </a:t>
            </a:r>
            <a:r>
              <a:rPr lang="en-US" sz="2000" b="1" dirty="0">
                <a:latin typeface="Malgun Gothic"/>
                <a:ea typeface="Malgun Gothic"/>
              </a:rPr>
              <a:t>Conditional</a:t>
            </a:r>
            <a:r>
              <a:rPr lang="ko-KR" altLang="en-US" sz="2000" b="1" dirty="0">
                <a:latin typeface="Malgun Gothic"/>
                <a:ea typeface="Malgun Gothic"/>
              </a:rPr>
              <a:t> </a:t>
            </a:r>
            <a:r>
              <a:rPr lang="en-US" sz="2000" b="1" dirty="0">
                <a:latin typeface="Malgun Gothic"/>
                <a:ea typeface="Malgun Gothic"/>
              </a:rPr>
              <a:t>GAN</a:t>
            </a:r>
            <a:r>
              <a:rPr lang="ko-KR" altLang="en-US" sz="2000" b="1" dirty="0">
                <a:latin typeface="Malgun Gothic"/>
                <a:ea typeface="Malgun Gothic"/>
              </a:rPr>
              <a:t> </a:t>
            </a:r>
            <a:r>
              <a:rPr lang="en-US" sz="2000" b="1" dirty="0">
                <a:latin typeface="Malgun Gothic"/>
                <a:ea typeface="Malgun Gothic"/>
              </a:rPr>
              <a:t>(</a:t>
            </a:r>
            <a:r>
              <a:rPr lang="ko-KR" altLang="en-US" sz="2000" b="1" dirty="0">
                <a:latin typeface="Malgun Gothic"/>
                <a:ea typeface="Malgun Gothic"/>
              </a:rPr>
              <a:t>조건부 생성 적대 신경망</a:t>
            </a:r>
            <a:r>
              <a:rPr lang="en-US" altLang="ko-KR" sz="2000" b="1" dirty="0">
                <a:latin typeface="Malgun Gothic"/>
                <a:ea typeface="Malgun Gothic"/>
              </a:rPr>
              <a:t>)</a:t>
            </a:r>
            <a:endParaRPr lang="en-US" sz="2000" dirty="0">
              <a:latin typeface="Malgun Gothic"/>
              <a:ea typeface="Malgun Gothic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1ADD30-5836-3955-EBA1-56644E60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1" y="1569037"/>
            <a:ext cx="10687664" cy="448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07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C129-48B2-EB0F-1932-D4EFC508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7F13A6-B11C-294B-D3FE-5D45D41EF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A40816-B98B-F90D-1E0F-48350A3BEE5B}"/>
              </a:ext>
            </a:extLst>
          </p:cNvPr>
          <p:cNvSpPr txBox="1"/>
          <p:nvPr/>
        </p:nvSpPr>
        <p:spPr>
          <a:xfrm>
            <a:off x="373224" y="162868"/>
            <a:ext cx="60065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DD2362-E440-4D01-7985-AE275844ED70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61C24-C7E6-54D1-922E-CA5C0EA08E1E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13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B31F5-6F7A-2728-B6F7-EDEAF4879747}"/>
              </a:ext>
            </a:extLst>
          </p:cNvPr>
          <p:cNvSpPr txBox="1"/>
          <p:nvPr/>
        </p:nvSpPr>
        <p:spPr>
          <a:xfrm>
            <a:off x="444501" y="701376"/>
            <a:ext cx="11303000" cy="6691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Malgun Gothic"/>
                <a:ea typeface="Malgun Gothic"/>
              </a:rPr>
              <a:t>Pix2Pix - </a:t>
            </a:r>
            <a:r>
              <a:rPr lang="en-US" sz="2000" b="1" dirty="0">
                <a:latin typeface="Malgun Gothic"/>
                <a:ea typeface="Malgun Gothic"/>
              </a:rPr>
              <a:t>Conditional</a:t>
            </a:r>
            <a:r>
              <a:rPr lang="ko-KR" altLang="en-US" sz="2000" b="1" dirty="0">
                <a:latin typeface="Malgun Gothic"/>
                <a:ea typeface="Malgun Gothic"/>
              </a:rPr>
              <a:t> </a:t>
            </a:r>
            <a:r>
              <a:rPr lang="en-US" sz="2000" b="1" dirty="0">
                <a:latin typeface="Malgun Gothic"/>
                <a:ea typeface="Malgun Gothic"/>
              </a:rPr>
              <a:t>GAN</a:t>
            </a:r>
            <a:r>
              <a:rPr lang="ko-KR" altLang="en-US" sz="2000" b="1" dirty="0">
                <a:latin typeface="Malgun Gothic"/>
                <a:ea typeface="Malgun Gothic"/>
              </a:rPr>
              <a:t> </a:t>
            </a:r>
            <a:r>
              <a:rPr lang="en-US" sz="2000" b="1" dirty="0">
                <a:latin typeface="Malgun Gothic"/>
                <a:ea typeface="Malgun Gothic"/>
              </a:rPr>
              <a:t>(</a:t>
            </a:r>
            <a:r>
              <a:rPr lang="ko-KR" altLang="en-US" sz="2000" b="1" dirty="0">
                <a:latin typeface="Malgun Gothic"/>
                <a:ea typeface="Malgun Gothic"/>
              </a:rPr>
              <a:t>조건부 생성 적대 신경망</a:t>
            </a:r>
            <a:r>
              <a:rPr lang="en-US" altLang="ko-KR" sz="2000" b="1" dirty="0">
                <a:latin typeface="Malgun Gothic"/>
                <a:ea typeface="Malgun Gothic"/>
              </a:rPr>
              <a:t>) </a:t>
            </a:r>
            <a:r>
              <a:rPr lang="en-US" altLang="ko-KR" dirty="0">
                <a:latin typeface="Malgun Gothic"/>
                <a:ea typeface="Malgun Gothic"/>
              </a:rPr>
              <a:t>[6][7][8][9]</a:t>
            </a:r>
            <a:endParaRPr lang="en-US" dirty="0">
              <a:latin typeface="Malgun Gothic"/>
              <a:ea typeface="Malgun Gothic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latin typeface="Malgun Gothic"/>
              <a:ea typeface="Malgun Gothic"/>
            </a:endParaRPr>
          </a:p>
          <a:p>
            <a:r>
              <a:rPr lang="ko-KR" altLang="en-US" sz="1600" b="1" dirty="0">
                <a:latin typeface="Malgun Gothic"/>
                <a:ea typeface="Malgun Gothic"/>
              </a:rPr>
              <a:t>전체</a:t>
            </a:r>
            <a:r>
              <a:rPr lang="en-US" sz="1600" b="1" dirty="0">
                <a:latin typeface="Malgun Gothic"/>
                <a:ea typeface="Malgun Gothic"/>
              </a:rPr>
              <a:t> </a:t>
            </a:r>
            <a:r>
              <a:rPr lang="ko-KR" altLang="en-US" sz="1600" b="1" dirty="0">
                <a:latin typeface="Malgun Gothic"/>
                <a:ea typeface="Malgun Gothic"/>
              </a:rPr>
              <a:t>구조</a:t>
            </a:r>
            <a:r>
              <a:rPr lang="en-US" sz="1600" dirty="0">
                <a:latin typeface="Malgun Gothic"/>
                <a:ea typeface="Malgun Gothic"/>
              </a:rPr>
              <a:t>: Generator + Discriminator</a:t>
            </a:r>
            <a:r>
              <a:rPr lang="ko-KR" altLang="en-US" sz="1600" dirty="0">
                <a:latin typeface="Malgun Gothic"/>
                <a:ea typeface="Malgun Gothic"/>
              </a:rPr>
              <a:t>로</a:t>
            </a:r>
            <a:r>
              <a:rPr lang="en-US" sz="1600" dirty="0"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latin typeface="Malgun Gothic"/>
                <a:ea typeface="Malgun Gothic"/>
              </a:rPr>
              <a:t>구성된</a:t>
            </a:r>
            <a:r>
              <a:rPr lang="en-US" sz="1600" dirty="0">
                <a:latin typeface="Malgun Gothic"/>
                <a:ea typeface="Malgun Gothic"/>
              </a:rPr>
              <a:t> GAN</a:t>
            </a:r>
          </a:p>
          <a:p>
            <a:endParaRPr lang="en-US" sz="1600" dirty="0">
              <a:latin typeface="Malgun Gothic"/>
              <a:ea typeface="Malgun Gothic"/>
            </a:endParaRPr>
          </a:p>
          <a:p>
            <a:r>
              <a:rPr lang="en-US" sz="1600" b="1" dirty="0">
                <a:latin typeface="Malgun Gothic"/>
                <a:ea typeface="Malgun Gothic"/>
              </a:rPr>
              <a:t>- Generator: </a:t>
            </a:r>
            <a:endParaRPr lang="en-US" sz="1600" dirty="0">
              <a:latin typeface="Malgun Gothic"/>
              <a:ea typeface="Malgun Gothic"/>
            </a:endParaRPr>
          </a:p>
          <a:p>
            <a:pPr lvl="1"/>
            <a:r>
              <a:rPr lang="en-US" sz="1600" dirty="0">
                <a:latin typeface="Malgun Gothic"/>
                <a:ea typeface="Malgun Gothic"/>
              </a:rPr>
              <a:t>U-Net</a:t>
            </a:r>
            <a:r>
              <a:rPr lang="ko-KR" altLang="en-US" sz="1600" dirty="0">
                <a:latin typeface="Malgun Gothic"/>
                <a:ea typeface="Malgun Gothic"/>
              </a:rPr>
              <a:t> 구조 기반이며 흑백 이미지를 입력으로 받아 대응되는 컬러 이미지를 생성함</a:t>
            </a:r>
            <a:endParaRPr lang="en-US" altLang="ko-KR" sz="1600" dirty="0">
              <a:latin typeface="Malgun Gothic"/>
              <a:ea typeface="Malgun Gothic"/>
            </a:endParaRPr>
          </a:p>
          <a:p>
            <a:pPr lvl="1"/>
            <a:endParaRPr lang="ko-KR" altLang="en-US" sz="1600" dirty="0">
              <a:latin typeface="Malgun Gothic"/>
              <a:ea typeface="Malgun Gothic"/>
            </a:endParaRPr>
          </a:p>
          <a:p>
            <a:r>
              <a:rPr lang="en-US" altLang="ko-KR" sz="1600" b="1" dirty="0">
                <a:latin typeface="Malgun Gothic"/>
                <a:ea typeface="Malgun Gothic"/>
              </a:rPr>
              <a:t>-</a:t>
            </a:r>
            <a:r>
              <a:rPr lang="ko-KR" altLang="en-US" sz="1600" b="1" dirty="0">
                <a:latin typeface="Malgun Gothic"/>
                <a:ea typeface="Malgun Gothic"/>
              </a:rPr>
              <a:t> </a:t>
            </a:r>
            <a:r>
              <a:rPr lang="en-US" sz="1600" b="1" dirty="0">
                <a:latin typeface="Malgun Gothic"/>
                <a:ea typeface="Malgun Gothic"/>
              </a:rPr>
              <a:t>Discriminator: </a:t>
            </a:r>
            <a:endParaRPr lang="ko-KR" altLang="en-US" sz="1600" dirty="0">
              <a:latin typeface="Malgun Gothic"/>
              <a:ea typeface="Malgun Gothic"/>
            </a:endParaRPr>
          </a:p>
          <a:p>
            <a:pPr lvl="1"/>
            <a:r>
              <a:rPr lang="en-US" altLang="ko-KR" sz="1600" dirty="0" err="1">
                <a:latin typeface="Malgun Gothic"/>
                <a:ea typeface="Malgun Gothic"/>
              </a:rPr>
              <a:t>PatchGAN</a:t>
            </a:r>
            <a:r>
              <a:rPr lang="ko-KR" altLang="en-US" sz="1600" dirty="0">
                <a:latin typeface="Malgun Gothic"/>
                <a:ea typeface="Malgun Gothic"/>
              </a:rPr>
              <a:t> 구조이며 작은 패치 단위로 진짜와 가짜를 판별하고 더 세밀한 지역 품질 평가가 가능함</a:t>
            </a:r>
            <a:endParaRPr lang="en-US" altLang="ko-KR" sz="1600" dirty="0">
              <a:latin typeface="Malgun Gothic"/>
              <a:ea typeface="Malgun Gothic"/>
            </a:endParaRPr>
          </a:p>
          <a:p>
            <a:pPr lvl="1"/>
            <a:endParaRPr lang="en-US" sz="1600" dirty="0"/>
          </a:p>
          <a:p>
            <a:pPr>
              <a:lnSpc>
                <a:spcPts val="1725"/>
              </a:lnSpc>
            </a:pPr>
            <a:r>
              <a:rPr lang="en-US" altLang="ko-KR" sz="1600" b="1" dirty="0">
                <a:latin typeface="Malgun Gothic"/>
                <a:ea typeface="맑은 고딕"/>
              </a:rPr>
              <a:t>- Conditional GAN </a:t>
            </a:r>
            <a:r>
              <a:rPr lang="ko-KR" sz="1600" b="1" dirty="0">
                <a:latin typeface="Malgun Gothic"/>
                <a:ea typeface="맑은 고딕"/>
              </a:rPr>
              <a:t>방식 </a:t>
            </a:r>
            <a:r>
              <a:rPr lang="en-US" altLang="ko-KR" sz="1600" b="1" dirty="0">
                <a:latin typeface="Malgun Gothic"/>
                <a:ea typeface="맑은 고딕"/>
              </a:rPr>
              <a:t>:</a:t>
            </a:r>
            <a:r>
              <a:rPr lang="en-US" altLang="ko-KR" sz="1600" dirty="0">
                <a:latin typeface="Malgun Gothic"/>
                <a:ea typeface="맑은 고딕"/>
              </a:rPr>
              <a:t>​</a:t>
            </a:r>
            <a:endParaRPr lang="en-US" sz="1600" dirty="0"/>
          </a:p>
          <a:p>
            <a:pPr>
              <a:lnSpc>
                <a:spcPts val="1725"/>
              </a:lnSpc>
            </a:pPr>
            <a:r>
              <a:rPr lang="ko-KR" sz="1600" dirty="0">
                <a:latin typeface="Malgun Gothic"/>
                <a:ea typeface="맑은 고딕"/>
              </a:rPr>
              <a:t>     </a:t>
            </a:r>
            <a:r>
              <a:rPr lang="ko-KR" altLang="en-US" sz="1600" dirty="0">
                <a:latin typeface="Malgun Gothic"/>
                <a:ea typeface="맑은 고딕"/>
              </a:rPr>
              <a:t> </a:t>
            </a:r>
            <a:r>
              <a:rPr lang="ko-KR" sz="1600" dirty="0">
                <a:latin typeface="Malgun Gothic"/>
                <a:ea typeface="맑은 고딕"/>
              </a:rPr>
              <a:t>흑백 이미지를 조건으로 제공하여 단순 생성이 아닌 의미 기반 컬러링을 수행함</a:t>
            </a:r>
            <a:r>
              <a:rPr lang="en-US" altLang="ko-KR" sz="1600" dirty="0">
                <a:latin typeface="Malgun Gothic"/>
                <a:ea typeface="맑은 고딕"/>
              </a:rPr>
              <a:t>​</a:t>
            </a:r>
          </a:p>
          <a:p>
            <a:pPr>
              <a:lnSpc>
                <a:spcPts val="1725"/>
              </a:lnSpc>
            </a:pPr>
            <a:endParaRPr lang="en-US" altLang="ko-KR" sz="1600" dirty="0">
              <a:latin typeface="Malgun Gothic"/>
              <a:ea typeface="맑은 고딕"/>
            </a:endParaRPr>
          </a:p>
          <a:p>
            <a:pPr>
              <a:lnSpc>
                <a:spcPts val="1725"/>
              </a:lnSpc>
            </a:pPr>
            <a:r>
              <a:rPr lang="en-US" altLang="ko-KR" sz="1600" b="1" dirty="0">
                <a:latin typeface="Malgun Gothic"/>
                <a:ea typeface="맑은 고딕"/>
              </a:rPr>
              <a:t>U-Net </a:t>
            </a:r>
            <a:r>
              <a:rPr lang="ko-KR" sz="1600" b="1" dirty="0">
                <a:latin typeface="Malgun Gothic"/>
                <a:ea typeface="맑은 고딕"/>
              </a:rPr>
              <a:t>사용</a:t>
            </a:r>
            <a:r>
              <a:rPr lang="en-US" altLang="ko-KR" sz="1600" b="1" dirty="0">
                <a:latin typeface="Malgun Gothic"/>
                <a:ea typeface="맑은 고딕"/>
              </a:rPr>
              <a:t> </a:t>
            </a:r>
            <a:r>
              <a:rPr lang="ko-KR" sz="1600" b="1" dirty="0">
                <a:latin typeface="Malgun Gothic"/>
                <a:ea typeface="맑은 고딕"/>
              </a:rPr>
              <a:t>이유</a:t>
            </a:r>
            <a:r>
              <a:rPr lang="en-US" altLang="ko-KR" sz="1600" dirty="0">
                <a:latin typeface="Malgun Gothic"/>
                <a:ea typeface="맑은 고딕"/>
              </a:rPr>
              <a:t>​</a:t>
            </a:r>
          </a:p>
          <a:p>
            <a:pPr>
              <a:lnSpc>
                <a:spcPts val="1725"/>
              </a:lnSpc>
            </a:pPr>
            <a:endParaRPr lang="en-US" altLang="ko-KR" sz="1600" dirty="0">
              <a:latin typeface="Malgun Gothic"/>
              <a:ea typeface="맑은 고딕"/>
            </a:endParaRPr>
          </a:p>
          <a:p>
            <a:pPr>
              <a:lnSpc>
                <a:spcPts val="1725"/>
              </a:lnSpc>
            </a:pPr>
            <a:r>
              <a:rPr lang="en-US" altLang="ko-KR" sz="1600" dirty="0">
                <a:latin typeface="Malgun Gothic"/>
                <a:ea typeface="맑은 고딕"/>
              </a:rPr>
              <a:t>- GAN</a:t>
            </a:r>
            <a:r>
              <a:rPr lang="ko-KR" sz="1600" dirty="0">
                <a:latin typeface="Malgun Gothic"/>
                <a:ea typeface="맑은 고딕"/>
              </a:rPr>
              <a:t> 기반이기 때문에 선명하고 생생한 색상 복원이 가능함</a:t>
            </a:r>
            <a:r>
              <a:rPr lang="en-US" altLang="ko-KR" sz="1600" dirty="0">
                <a:latin typeface="Malgun Gothic"/>
                <a:ea typeface="맑은 고딕"/>
              </a:rPr>
              <a:t>​</a:t>
            </a:r>
          </a:p>
          <a:p>
            <a:pPr>
              <a:lnSpc>
                <a:spcPts val="1725"/>
              </a:lnSpc>
            </a:pPr>
            <a:endParaRPr lang="en-US" altLang="ko-KR" sz="1600" dirty="0">
              <a:latin typeface="Malgun Gothic"/>
              <a:ea typeface="맑은 고딕"/>
            </a:endParaRPr>
          </a:p>
          <a:p>
            <a:pPr>
              <a:lnSpc>
                <a:spcPts val="1725"/>
              </a:lnSpc>
            </a:pPr>
            <a:r>
              <a:rPr lang="ko-KR" sz="1600" dirty="0">
                <a:latin typeface="Malgun Gothic"/>
                <a:ea typeface="맑은 고딕"/>
              </a:rPr>
              <a:t>- 입력 이미지와 출력 이미지 간의 1:1 대응 관계가 명확한 경우에서 뛰어난 성능을 발휘함</a:t>
            </a:r>
            <a:r>
              <a:rPr lang="en-US" altLang="ko-KR" sz="1600" dirty="0">
                <a:latin typeface="Malgun Gothic"/>
                <a:ea typeface="맑은 고딕"/>
              </a:rPr>
              <a:t>​</a:t>
            </a:r>
          </a:p>
          <a:p>
            <a:pPr>
              <a:lnSpc>
                <a:spcPts val="1725"/>
              </a:lnSpc>
            </a:pPr>
            <a:endParaRPr lang="en-US" altLang="ko-KR" sz="1600" dirty="0">
              <a:latin typeface="Malgun Gothic"/>
              <a:ea typeface="맑은 고딕"/>
            </a:endParaRPr>
          </a:p>
          <a:p>
            <a:pPr>
              <a:lnSpc>
                <a:spcPts val="1725"/>
              </a:lnSpc>
            </a:pPr>
            <a:r>
              <a:rPr lang="en-US" altLang="ko-KR" sz="1600" dirty="0">
                <a:latin typeface="Malgun Gothic"/>
                <a:ea typeface="맑은 고딕"/>
              </a:rPr>
              <a:t>- Generator</a:t>
            </a:r>
            <a:r>
              <a:rPr lang="ko-KR" sz="1600" dirty="0">
                <a:latin typeface="Malgun Gothic"/>
                <a:ea typeface="맑은 고딕"/>
              </a:rPr>
              <a:t>가 </a:t>
            </a:r>
            <a:r>
              <a:rPr lang="en-US" altLang="ko-KR" sz="1600" dirty="0">
                <a:latin typeface="Malgun Gothic"/>
                <a:ea typeface="맑은 고딕"/>
              </a:rPr>
              <a:t>U-Net</a:t>
            </a:r>
            <a:r>
              <a:rPr lang="ko-KR" sz="1600" dirty="0">
                <a:latin typeface="Malgun Gothic"/>
                <a:ea typeface="맑은 고딕"/>
              </a:rPr>
              <a:t> 기반이라 디테일 유지도 우수함</a:t>
            </a:r>
            <a:r>
              <a:rPr lang="en-US" altLang="ko-KR" sz="1600" dirty="0">
                <a:latin typeface="Malgun Gothic"/>
                <a:ea typeface="맑은 고딕"/>
              </a:rPr>
              <a:t>​</a:t>
            </a:r>
          </a:p>
          <a:p>
            <a:pPr>
              <a:lnSpc>
                <a:spcPts val="1725"/>
              </a:lnSpc>
            </a:pPr>
            <a:r>
              <a:rPr lang="en-US" altLang="ko-KR" sz="1600" dirty="0">
                <a:latin typeface="Malgun Gothic"/>
                <a:ea typeface="맑은 고딕"/>
              </a:rPr>
              <a:t>​</a:t>
            </a:r>
            <a:br>
              <a:rPr lang="en-US" altLang="ko-KR" sz="1600" dirty="0">
                <a:latin typeface="Malgun Gothic"/>
                <a:ea typeface="맑은 고딕"/>
              </a:rPr>
            </a:br>
            <a:r>
              <a:rPr lang="ko-KR" sz="1600" b="1" dirty="0">
                <a:latin typeface="Malgun Gothic"/>
                <a:ea typeface="맑은 고딕"/>
              </a:rPr>
              <a:t>한계점</a:t>
            </a:r>
            <a:r>
              <a:rPr lang="en-US" altLang="ko-KR" sz="1600" dirty="0">
                <a:latin typeface="Malgun Gothic"/>
                <a:ea typeface="맑은 고딕"/>
              </a:rPr>
              <a:t>​</a:t>
            </a:r>
          </a:p>
          <a:p>
            <a:pPr>
              <a:lnSpc>
                <a:spcPts val="1725"/>
              </a:lnSpc>
            </a:pPr>
            <a:endParaRPr lang="en-US" altLang="ko-KR" sz="1600" dirty="0">
              <a:latin typeface="Malgun Gothic"/>
              <a:ea typeface="맑은 고딕"/>
            </a:endParaRPr>
          </a:p>
          <a:p>
            <a:pPr>
              <a:lnSpc>
                <a:spcPts val="1725"/>
              </a:lnSpc>
            </a:pPr>
            <a:r>
              <a:rPr lang="en-US" altLang="ko-KR" sz="1600" dirty="0">
                <a:latin typeface="Malgun Gothic"/>
                <a:ea typeface="맑은 고딕"/>
              </a:rPr>
              <a:t>-</a:t>
            </a:r>
            <a:r>
              <a:rPr lang="ko-KR" sz="1600" dirty="0">
                <a:latin typeface="Malgun Gothic"/>
                <a:ea typeface="맑은 고딕"/>
              </a:rPr>
              <a:t> </a:t>
            </a:r>
            <a:r>
              <a:rPr lang="ko-KR" sz="1600" dirty="0" err="1">
                <a:latin typeface="Malgun Gothic"/>
                <a:ea typeface="맑은 고딕"/>
              </a:rPr>
              <a:t>Generator와</a:t>
            </a:r>
            <a:r>
              <a:rPr lang="ko-KR" sz="1600" dirty="0">
                <a:latin typeface="Malgun Gothic"/>
                <a:ea typeface="맑은 고딕"/>
              </a:rPr>
              <a:t> </a:t>
            </a:r>
            <a:r>
              <a:rPr lang="ko-KR" sz="1600" dirty="0" err="1">
                <a:latin typeface="Malgun Gothic"/>
                <a:ea typeface="맑은 고딕"/>
              </a:rPr>
              <a:t>Discriminator가</a:t>
            </a:r>
            <a:r>
              <a:rPr lang="ko-KR" sz="1600" dirty="0">
                <a:latin typeface="Malgun Gothic"/>
                <a:ea typeface="맑은 고딕"/>
              </a:rPr>
              <a:t> 동시에 학습하며 경쟁하므로 </a:t>
            </a:r>
            <a:r>
              <a:rPr lang="ko-KR" sz="1600" dirty="0" err="1">
                <a:latin typeface="Malgun Gothic"/>
                <a:ea typeface="맑은 고딕"/>
              </a:rPr>
              <a:t>Loss</a:t>
            </a:r>
            <a:r>
              <a:rPr lang="ko-KR" sz="1600" dirty="0">
                <a:latin typeface="Malgun Gothic"/>
                <a:ea typeface="맑은 고딕"/>
              </a:rPr>
              <a:t> 진동, 모멘텀 손실로 훈련 어려움이 발생함</a:t>
            </a:r>
            <a:endParaRPr lang="en-US" altLang="ko-KR" sz="1600" dirty="0">
              <a:latin typeface="Malgun Gothic"/>
              <a:ea typeface="맑은 고딕"/>
            </a:endParaRPr>
          </a:p>
          <a:p>
            <a:pPr>
              <a:lnSpc>
                <a:spcPts val="1725"/>
              </a:lnSpc>
            </a:pPr>
            <a:r>
              <a:rPr lang="en-US" altLang="ko-KR" sz="1600" dirty="0">
                <a:latin typeface="Malgun Gothic"/>
                <a:ea typeface="맑은 고딕"/>
              </a:rPr>
              <a:t>​</a:t>
            </a:r>
          </a:p>
          <a:p>
            <a:pPr>
              <a:lnSpc>
                <a:spcPts val="1725"/>
              </a:lnSpc>
            </a:pPr>
            <a:r>
              <a:rPr lang="ko-KR" sz="1600" dirty="0">
                <a:ea typeface="Malgun Gothic"/>
              </a:rPr>
              <a:t>- 학습된 </a:t>
            </a:r>
            <a:r>
              <a:rPr lang="ko-KR" sz="1600" dirty="0" err="1">
                <a:ea typeface="Malgun Gothic"/>
              </a:rPr>
              <a:t>컬러링</a:t>
            </a:r>
            <a:r>
              <a:rPr lang="ko-KR" sz="1600" dirty="0">
                <a:ea typeface="Malgun Gothic"/>
              </a:rPr>
              <a:t> 방식이 학습 데이터에 과하게 적응될 수 있어 다양한 스타일의 일반화에 취약함​</a:t>
            </a:r>
          </a:p>
          <a:p>
            <a:pPr>
              <a:lnSpc>
                <a:spcPts val="1725"/>
              </a:lnSpc>
            </a:pPr>
            <a:r>
              <a:rPr lang="ko-KR" sz="1600" dirty="0">
                <a:ea typeface="Malgun Gothic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265279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E703-8ADC-70A9-44B0-4F589B70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F9D605-C454-CBF1-439A-FB92C1A35960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ea typeface="맑은 고딕"/>
              </a:rPr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0FA8E1-6C7A-5927-F138-3C500E936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0BBC11-C60F-48BB-BE01-00A53CA3CB31}"/>
              </a:ext>
            </a:extLst>
          </p:cNvPr>
          <p:cNvSpPr txBox="1"/>
          <p:nvPr/>
        </p:nvSpPr>
        <p:spPr>
          <a:xfrm>
            <a:off x="373224" y="162868"/>
            <a:ext cx="745698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73EEB9-4564-68BA-23BF-87179A5D7B89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6E423-CC20-51C5-BAB7-80C1A1FEC817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653CF-094E-D33A-F3EC-000F8BF013BE}"/>
              </a:ext>
            </a:extLst>
          </p:cNvPr>
          <p:cNvSpPr txBox="1"/>
          <p:nvPr/>
        </p:nvSpPr>
        <p:spPr>
          <a:xfrm>
            <a:off x="552095" y="909278"/>
            <a:ext cx="11047704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>
                <a:ea typeface="+mn-lt"/>
                <a:cs typeface="+mn-lt"/>
              </a:rPr>
              <a:t>DeOldify</a:t>
            </a:r>
            <a:r>
              <a:rPr lang="en-US" altLang="ko-KR" sz="2400" b="1" dirty="0">
                <a:ea typeface="+mn-lt"/>
                <a:cs typeface="+mn-lt"/>
              </a:rPr>
              <a:t> -</a:t>
            </a:r>
            <a:r>
              <a:rPr lang="en-US" altLang="ko-KR" sz="2000" b="1" dirty="0">
                <a:ea typeface="+mn-lt"/>
                <a:cs typeface="+mn-lt"/>
              </a:rPr>
              <a:t> GAN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+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sz="2000" b="1" dirty="0" err="1">
                <a:ea typeface="+mn-lt"/>
                <a:cs typeface="+mn-lt"/>
              </a:rPr>
              <a:t>ResNet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sz="2000" b="1" dirty="0">
                <a:ea typeface="+mn-lt"/>
                <a:cs typeface="+mn-lt"/>
              </a:rPr>
              <a:t>기반</a:t>
            </a:r>
            <a:r>
              <a:rPr lang="en-US" altLang="ko-KR" sz="2000" b="1" dirty="0">
                <a:ea typeface="+mn-lt"/>
                <a:cs typeface="+mn-lt"/>
              </a:rPr>
              <a:t>,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NoGAN</a:t>
            </a:r>
            <a:r>
              <a:rPr lang="ko-KR" altLang="en-US" sz="2000" b="1" dirty="0">
                <a:ea typeface="+mn-lt"/>
                <a:cs typeface="+mn-lt"/>
              </a:rPr>
              <a:t> 훈련 전략 </a:t>
            </a:r>
            <a:r>
              <a:rPr lang="ko-KR" sz="2000" b="1" dirty="0">
                <a:ea typeface="+mn-lt"/>
                <a:cs typeface="+mn-lt"/>
              </a:rPr>
              <a:t>적용</a:t>
            </a:r>
            <a:endParaRPr lang="en-US" altLang="ko-KR" sz="2000" b="1" dirty="0">
              <a:ea typeface="맑은 고딕"/>
            </a:endParaRPr>
          </a:p>
          <a:p>
            <a:endParaRPr lang="en-US" dirty="0">
              <a:latin typeface="맑은 고딕"/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A9BEDF-1790-4CC4-68C9-A1BE540D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48" y="1555609"/>
            <a:ext cx="10970752" cy="439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1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E703-8ADC-70A9-44B0-4F589B70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F9D605-C454-CBF1-439A-FB92C1A35960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ea typeface="맑은 고딕"/>
              </a:rPr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0FA8E1-6C7A-5927-F138-3C500E936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0BBC11-C60F-48BB-BE01-00A53CA3CB31}"/>
              </a:ext>
            </a:extLst>
          </p:cNvPr>
          <p:cNvSpPr txBox="1"/>
          <p:nvPr/>
        </p:nvSpPr>
        <p:spPr>
          <a:xfrm>
            <a:off x="373224" y="162868"/>
            <a:ext cx="579634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73EEB9-4564-68BA-23BF-87179A5D7B89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6E423-CC20-51C5-BAB7-80C1A1FEC817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653CF-094E-D33A-F3EC-000F8BF013BE}"/>
              </a:ext>
            </a:extLst>
          </p:cNvPr>
          <p:cNvSpPr txBox="1"/>
          <p:nvPr/>
        </p:nvSpPr>
        <p:spPr>
          <a:xfrm>
            <a:off x="552095" y="909278"/>
            <a:ext cx="11047704" cy="63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>
                <a:ea typeface="+mn-lt"/>
                <a:cs typeface="+mn-lt"/>
              </a:rPr>
              <a:t>DeOldify</a:t>
            </a:r>
            <a:r>
              <a:rPr lang="en-US" altLang="ko-KR" sz="2400" b="1" dirty="0">
                <a:ea typeface="+mn-lt"/>
                <a:cs typeface="+mn-lt"/>
              </a:rPr>
              <a:t> -</a:t>
            </a:r>
            <a:r>
              <a:rPr lang="en-US" altLang="ko-KR" sz="2000" b="1" dirty="0">
                <a:ea typeface="+mn-lt"/>
                <a:cs typeface="+mn-lt"/>
              </a:rPr>
              <a:t> GAN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+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sz="2000" b="1" dirty="0" err="1">
                <a:ea typeface="+mn-lt"/>
                <a:cs typeface="+mn-lt"/>
              </a:rPr>
              <a:t>ResNet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sz="2000" b="1" dirty="0">
                <a:ea typeface="+mn-lt"/>
                <a:cs typeface="+mn-lt"/>
              </a:rPr>
              <a:t>기반</a:t>
            </a:r>
            <a:r>
              <a:rPr lang="en-US" altLang="ko-KR" sz="2000" b="1" dirty="0">
                <a:ea typeface="+mn-lt"/>
                <a:cs typeface="+mn-lt"/>
              </a:rPr>
              <a:t>,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NoGAN</a:t>
            </a:r>
            <a:r>
              <a:rPr lang="ko-KR" altLang="en-US" sz="2000" b="1" dirty="0">
                <a:ea typeface="+mn-lt"/>
                <a:cs typeface="+mn-lt"/>
              </a:rPr>
              <a:t> 훈련 전략 </a:t>
            </a:r>
            <a:r>
              <a:rPr lang="ko-KR" sz="2000" b="1" dirty="0">
                <a:ea typeface="+mn-lt"/>
                <a:cs typeface="+mn-lt"/>
              </a:rPr>
              <a:t>적용</a:t>
            </a:r>
            <a:r>
              <a:rPr lang="en-US" altLang="ko-KR" sz="2000" b="1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[10][11][12]</a:t>
            </a:r>
            <a:endParaRPr lang="en-US" altLang="ko-KR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+mn-lt"/>
              <a:cs typeface="+mn-lt"/>
            </a:endParaRPr>
          </a:p>
          <a:p>
            <a:r>
              <a:rPr lang="ko-KR" altLang="en-US" b="1" dirty="0">
                <a:latin typeface="Malgun Gothic"/>
                <a:ea typeface="Malgun Gothic"/>
                <a:cs typeface="+mn-lt"/>
              </a:rPr>
              <a:t>전체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b="1" dirty="0">
                <a:latin typeface="Malgun Gothic"/>
                <a:ea typeface="Malgun Gothic"/>
                <a:cs typeface="+mn-lt"/>
              </a:rPr>
              <a:t>구조</a:t>
            </a:r>
            <a:r>
              <a:rPr lang="en-US" dirty="0">
                <a:latin typeface="Malgun Gothic"/>
                <a:ea typeface="Malgun Gothic"/>
                <a:cs typeface="+mn-lt"/>
              </a:rPr>
              <a:t>: </a:t>
            </a:r>
            <a:r>
              <a:rPr lang="en-US" dirty="0">
                <a:ea typeface="+mn-lt"/>
                <a:cs typeface="+mn-lt"/>
              </a:rPr>
              <a:t>Generator </a:t>
            </a:r>
            <a:r>
              <a:rPr lang="ko-KR" altLang="en-US" dirty="0">
                <a:ea typeface="+mn-lt"/>
                <a:cs typeface="+mn-lt"/>
              </a:rPr>
              <a:t>중심의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컬러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복원</a:t>
            </a:r>
            <a:r>
              <a:rPr lang="en-US" dirty="0">
                <a:ea typeface="+mn-lt"/>
                <a:cs typeface="+mn-lt"/>
              </a:rPr>
              <a:t> GAN</a:t>
            </a:r>
          </a:p>
          <a:p>
            <a:endParaRPr lang="en-US" dirty="0">
              <a:latin typeface="Malgun Gothic"/>
              <a:ea typeface="Malgun Gothic"/>
            </a:endParaRPr>
          </a:p>
          <a:p>
            <a:r>
              <a:rPr lang="en-US" b="1" dirty="0">
                <a:latin typeface="Malgun Gothic"/>
                <a:ea typeface="Malgun Gothic"/>
                <a:cs typeface="+mn-lt"/>
              </a:rPr>
              <a:t> - Generator: </a:t>
            </a:r>
            <a:endParaRPr lang="en-US" altLang="ko-KR" b="1" dirty="0">
              <a:ea typeface="+mn-lt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     </a:t>
            </a:r>
            <a:r>
              <a:rPr lang="en-US" altLang="ko-KR" dirty="0">
                <a:ea typeface="+mn-lt"/>
                <a:cs typeface="+mn-lt"/>
              </a:rPr>
              <a:t>Residual Block</a:t>
            </a:r>
            <a:r>
              <a:rPr lang="ko-KR" altLang="en-US" dirty="0">
                <a:ea typeface="+mn-lt"/>
                <a:cs typeface="+mn-lt"/>
              </a:rPr>
              <a:t>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추가하여 더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깊은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신경망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구조에서도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정보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손실을 줄이고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복원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성능을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극대화함</a:t>
            </a:r>
            <a:endParaRPr lang="ko-KR" dirty="0">
              <a:ea typeface="맑은 고딕"/>
            </a:endParaRPr>
          </a:p>
          <a:p>
            <a:r>
              <a:rPr lang="en-US" altLang="ko-KR" b="1" dirty="0">
                <a:latin typeface="Malgun Gothic"/>
                <a:ea typeface="Malgun Gothic"/>
                <a:cs typeface="+mn-lt"/>
              </a:rPr>
              <a:t> -</a:t>
            </a:r>
            <a:r>
              <a:rPr lang="ko-KR" altLang="en-US" b="1" dirty="0"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>
                <a:latin typeface="Malgun Gothic"/>
                <a:ea typeface="Malgun Gothic"/>
                <a:cs typeface="+mn-lt"/>
              </a:rPr>
              <a:t>Discriminator </a:t>
            </a:r>
            <a:r>
              <a:rPr lang="en-US" dirty="0">
                <a:ea typeface="+mn-lt"/>
                <a:cs typeface="+mn-lt"/>
              </a:rPr>
              <a:t>+ NoGAN </a:t>
            </a:r>
            <a:r>
              <a:rPr lang="ko-KR" altLang="en-US" dirty="0">
                <a:ea typeface="+mn-lt"/>
                <a:cs typeface="+mn-lt"/>
              </a:rPr>
              <a:t>전략:</a:t>
            </a:r>
            <a:endParaRPr lang="en-US" altLang="ko-KR" b="1" dirty="0">
              <a:latin typeface="Malgun Gothic"/>
              <a:ea typeface="Malgun Gothic"/>
              <a:cs typeface="+mn-lt"/>
            </a:endParaRPr>
          </a:p>
          <a:p>
            <a:r>
              <a:rPr lang="ko-KR" altLang="en-US" b="1" dirty="0">
                <a:ea typeface="+mn-lt"/>
                <a:cs typeface="+mn-lt"/>
              </a:rPr>
              <a:t>       </a:t>
            </a:r>
            <a:r>
              <a:rPr lang="ko-KR" altLang="en-US" dirty="0">
                <a:ea typeface="+mn-lt"/>
                <a:cs typeface="+mn-lt"/>
              </a:rPr>
              <a:t>초기</a:t>
            </a:r>
            <a:r>
              <a:rPr lang="ko-KR" dirty="0">
                <a:ea typeface="+mn-lt"/>
                <a:cs typeface="+mn-lt"/>
              </a:rPr>
              <a:t> 훈련 단계에서만 </a:t>
            </a:r>
            <a:r>
              <a:rPr lang="ko-KR" dirty="0" err="1">
                <a:ea typeface="+mn-lt"/>
                <a:cs typeface="+mn-lt"/>
              </a:rPr>
              <a:t>Discriminator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사용하고 </a:t>
            </a:r>
            <a:r>
              <a:rPr lang="ko-KR" dirty="0">
                <a:ea typeface="+mn-lt"/>
                <a:cs typeface="+mn-lt"/>
              </a:rPr>
              <a:t>GAN 훈련의 </a:t>
            </a:r>
            <a:r>
              <a:rPr lang="ko-KR" altLang="en-US" dirty="0">
                <a:ea typeface="+mn-lt"/>
                <a:cs typeface="+mn-lt"/>
              </a:rPr>
              <a:t>불안정성을</a:t>
            </a:r>
            <a:r>
              <a:rPr lang="ko-KR" dirty="0">
                <a:ea typeface="+mn-lt"/>
                <a:cs typeface="+mn-lt"/>
              </a:rPr>
              <a:t> 피해 안정적인 학습을 유도함</a:t>
            </a:r>
            <a:endParaRPr lang="ko-KR" dirty="0">
              <a:ea typeface="맑은 고딕"/>
            </a:endParaRPr>
          </a:p>
          <a:p>
            <a:r>
              <a:rPr lang="en-US" altLang="ko-KR" b="1" dirty="0">
                <a:latin typeface="Malgun Gothic"/>
                <a:ea typeface="Malgun Gothic"/>
                <a:cs typeface="+mn-lt"/>
              </a:rPr>
              <a:t> - </a:t>
            </a:r>
            <a:r>
              <a:rPr lang="en-US" b="1" dirty="0">
                <a:ea typeface="+mn-lt"/>
                <a:cs typeface="+mn-lt"/>
              </a:rPr>
              <a:t>Perceptual Loss </a:t>
            </a:r>
            <a:r>
              <a:rPr lang="en-US" b="1" dirty="0" err="1">
                <a:ea typeface="+mn-lt"/>
                <a:cs typeface="+mn-lt"/>
              </a:rPr>
              <a:t>적용</a:t>
            </a:r>
            <a:r>
              <a:rPr lang="en-US" b="1" dirty="0">
                <a:ea typeface="+mn-lt"/>
                <a:cs typeface="+mn-lt"/>
              </a:rPr>
              <a:t>: </a:t>
            </a:r>
            <a:endParaRPr lang="ko-KR" altLang="en-US" dirty="0">
              <a:ea typeface="맑은 고딕" panose="020B0503020000020004" pitchFamily="34" charset="-127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       VGG </a:t>
            </a:r>
            <a:r>
              <a:rPr lang="en-US" dirty="0" err="1">
                <a:ea typeface="+mn-lt"/>
                <a:cs typeface="+mn-lt"/>
              </a:rPr>
              <a:t>또는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ResNet과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같은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사전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학습된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분류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모델에서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추출한</a:t>
            </a:r>
            <a:r>
              <a:rPr lang="en-US" dirty="0">
                <a:ea typeface="+mn-lt"/>
                <a:cs typeface="+mn-lt"/>
              </a:rPr>
              <a:t> feature </a:t>
            </a:r>
            <a:r>
              <a:rPr lang="en-US" dirty="0" err="1">
                <a:ea typeface="+mn-lt"/>
                <a:cs typeface="+mn-lt"/>
              </a:rPr>
              <a:t>map을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사용해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사람이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느끼는</a:t>
            </a:r>
            <a:r>
              <a:rPr lang="en-US" dirty="0">
                <a:ea typeface="+mn-lt"/>
                <a:cs typeface="+mn-lt"/>
              </a:rPr>
              <a:t>              </a:t>
            </a:r>
            <a:endParaRPr lang="ko-KR" altLang="en-US" dirty="0">
              <a:ea typeface="맑은 고딕" panose="020B0503020000020004" pitchFamily="34" charset="-127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       </a:t>
            </a:r>
            <a:r>
              <a:rPr lang="en-US" dirty="0" err="1">
                <a:ea typeface="+mn-lt"/>
                <a:cs typeface="+mn-lt"/>
              </a:rPr>
              <a:t>시각적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유사성을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정량적으로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반영함</a:t>
            </a:r>
            <a:endParaRPr lang="ko-KR" altLang="en-US" dirty="0">
              <a:ea typeface="맑은 고딕" panose="020B0503020000020004" pitchFamily="34" charset="-127"/>
            </a:endParaRPr>
          </a:p>
          <a:p>
            <a:pPr marL="285750" indent="-285750">
              <a:buFont typeface="Arial"/>
              <a:buChar char="•"/>
            </a:pPr>
            <a:endParaRPr lang="ko-KR" altLang="en-US" b="1" dirty="0">
              <a:ea typeface="+mn-lt"/>
              <a:cs typeface="+mn-lt"/>
            </a:endParaRPr>
          </a:p>
          <a:p>
            <a:r>
              <a:rPr lang="en-US" b="1" dirty="0" err="1">
                <a:ea typeface="+mn-lt"/>
                <a:cs typeface="+mn-lt"/>
              </a:rPr>
              <a:t>DeOldify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사용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이유</a:t>
            </a:r>
            <a:endParaRPr lang="en-US" b="1" dirty="0">
              <a:ea typeface="+mn-lt"/>
              <a:cs typeface="+mn-lt"/>
            </a:endParaRPr>
          </a:p>
          <a:p>
            <a:r>
              <a:rPr lang="en-US" altLang="ko-KR" dirty="0">
                <a:latin typeface="Malgun Gothic"/>
                <a:ea typeface="Malgun Gothic"/>
                <a:cs typeface="+mn-lt"/>
              </a:rPr>
              <a:t>  - </a:t>
            </a:r>
            <a:r>
              <a:rPr lang="en-US" dirty="0" err="1">
                <a:ea typeface="+mn-lt"/>
                <a:cs typeface="+mn-lt"/>
              </a:rPr>
              <a:t>기존</a:t>
            </a:r>
            <a:r>
              <a:rPr lang="en-US" dirty="0">
                <a:ea typeface="+mn-lt"/>
                <a:cs typeface="+mn-lt"/>
              </a:rPr>
              <a:t> GAN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대비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더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자연스럽고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실사에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가까운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컬러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표현이 가능함</a:t>
            </a:r>
            <a:endParaRPr lang="en-US" altLang="ko-KR" dirty="0">
              <a:latin typeface="맑은 고딕"/>
              <a:ea typeface="맑은 고딕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- 인물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피부톤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배경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색감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등에서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감성적이고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안정적인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조합이 생성됨</a:t>
            </a:r>
            <a:endParaRPr lang="en-US" altLang="ko-KR" dirty="0">
              <a:ea typeface="+mn-lt"/>
              <a:cs typeface="+mn-lt"/>
            </a:endParaRPr>
          </a:p>
          <a:p>
            <a:r>
              <a:rPr lang="en-US" dirty="0">
                <a:latin typeface="Malgun Gothic"/>
                <a:ea typeface="Malgun Gothic"/>
              </a:rPr>
              <a:t/>
            </a:r>
            <a:br>
              <a:rPr lang="en-US" dirty="0">
                <a:latin typeface="Malgun Gothic"/>
                <a:ea typeface="Malgun Gothic"/>
              </a:rPr>
            </a:br>
            <a:r>
              <a:rPr lang="ko-KR" altLang="en-US" b="1" dirty="0">
                <a:latin typeface="Malgun Gothic"/>
                <a:ea typeface="Malgun Gothic"/>
                <a:cs typeface="+mn-lt"/>
              </a:rPr>
              <a:t>한계점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- 모델</a:t>
            </a:r>
            <a:r>
              <a:rPr lang="ko-KR" dirty="0">
                <a:ea typeface="+mn-lt"/>
                <a:cs typeface="+mn-lt"/>
              </a:rPr>
              <a:t> 크기가 크고 </a:t>
            </a:r>
            <a:r>
              <a:rPr lang="ko-KR" dirty="0" err="1">
                <a:ea typeface="+mn-lt"/>
                <a:cs typeface="+mn-lt"/>
              </a:rPr>
              <a:t>연산량이</a:t>
            </a:r>
            <a:r>
              <a:rPr lang="ko-KR" dirty="0">
                <a:ea typeface="+mn-lt"/>
                <a:cs typeface="+mn-lt"/>
              </a:rPr>
              <a:t> 많음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-</a:t>
            </a:r>
            <a:r>
              <a:rPr lang="ko-KR" altLang="en-US" dirty="0">
                <a:ea typeface="+mn-lt"/>
                <a:cs typeface="+mn-lt"/>
              </a:rPr>
              <a:t> 실시간 처리에 적합하지 않음</a:t>
            </a:r>
            <a:endParaRPr lang="ko-KR" altLang="en-US" dirty="0">
              <a:ea typeface="맑은 고딕" panose="020B0503020000020004" pitchFamily="34" charset="-127"/>
              <a:cs typeface="+mn-lt"/>
            </a:endParaRPr>
          </a:p>
          <a:p>
            <a:endParaRPr lang="en-US" dirty="0">
              <a:latin typeface="맑은 고딕"/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1711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7AEA-63E6-C154-6D4D-A35C990C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3AE601-CD3A-9023-07B7-C58D0A607CFC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A7ED76-BF6E-6233-F1E0-ECFD5F37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B8FDAA-32FC-168F-C0D9-7A12BCF9C40C}"/>
              </a:ext>
            </a:extLst>
          </p:cNvPr>
          <p:cNvSpPr txBox="1"/>
          <p:nvPr/>
        </p:nvSpPr>
        <p:spPr>
          <a:xfrm>
            <a:off x="373224" y="162868"/>
            <a:ext cx="572277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F9A1E6-D98F-F905-B5F3-2DAE61916C61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1DB91-BC36-3DDF-418F-C01B58F10CE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E7D5C-581F-C6E6-C7BD-BB6BD04A62DF}"/>
              </a:ext>
            </a:extLst>
          </p:cNvPr>
          <p:cNvSpPr txBox="1"/>
          <p:nvPr/>
        </p:nvSpPr>
        <p:spPr>
          <a:xfrm>
            <a:off x="553333" y="884769"/>
            <a:ext cx="1104770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>
                <a:ea typeface="+mn-lt"/>
                <a:cs typeface="+mn-lt"/>
              </a:rPr>
              <a:t>InstColorization</a:t>
            </a:r>
            <a:r>
              <a:rPr lang="en-US" altLang="ko-KR" sz="2400" b="1" dirty="0">
                <a:ea typeface="+mn-lt"/>
                <a:cs typeface="+mn-lt"/>
              </a:rPr>
              <a:t> - </a:t>
            </a:r>
            <a:r>
              <a:rPr lang="en-US" b="1" dirty="0">
                <a:ea typeface="+mn-lt"/>
                <a:cs typeface="+mn-lt"/>
              </a:rPr>
              <a:t>CNN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기반</a:t>
            </a:r>
            <a:r>
              <a:rPr lang="en-US" b="1" dirty="0">
                <a:ea typeface="+mn-lt"/>
                <a:cs typeface="+mn-lt"/>
              </a:rPr>
              <a:t> +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객체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인식</a:t>
            </a:r>
            <a:r>
              <a:rPr lang="en-US" b="1" dirty="0">
                <a:ea typeface="+mn-lt"/>
                <a:cs typeface="+mn-lt"/>
              </a:rPr>
              <a:t>(</a:t>
            </a:r>
            <a:r>
              <a:rPr lang="en-US" altLang="ko-KR" b="1" dirty="0">
                <a:ea typeface="+mn-lt"/>
                <a:cs typeface="+mn-lt"/>
              </a:rPr>
              <a:t>Instance </a:t>
            </a:r>
            <a:r>
              <a:rPr lang="en-US" b="1" dirty="0">
                <a:ea typeface="+mn-lt"/>
                <a:cs typeface="+mn-lt"/>
              </a:rPr>
              <a:t>Segmentation</a:t>
            </a:r>
            <a:r>
              <a:rPr lang="en-US" altLang="ko-KR" b="1" dirty="0">
                <a:ea typeface="+mn-lt"/>
                <a:cs typeface="+mn-lt"/>
              </a:rPr>
              <a:t>)</a:t>
            </a:r>
            <a:endParaRPr lang="en-US" altLang="ko-KR" b="1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A62DA1-6AF7-57A6-1101-04A84285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14" y="1392600"/>
            <a:ext cx="11059685" cy="482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45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7AEA-63E6-C154-6D4D-A35C990C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3AE601-CD3A-9023-07B7-C58D0A607CFC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A7ED76-BF6E-6233-F1E0-ECFD5F37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B8FDAA-32FC-168F-C0D9-7A12BCF9C40C}"/>
              </a:ext>
            </a:extLst>
          </p:cNvPr>
          <p:cNvSpPr txBox="1"/>
          <p:nvPr/>
        </p:nvSpPr>
        <p:spPr>
          <a:xfrm>
            <a:off x="373224" y="162868"/>
            <a:ext cx="69104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F9A1E6-D98F-F905-B5F3-2DAE61916C61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1DB91-BC36-3DDF-418F-C01B58F10CE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E7D5C-581F-C6E6-C7BD-BB6BD04A62DF}"/>
              </a:ext>
            </a:extLst>
          </p:cNvPr>
          <p:cNvSpPr txBox="1"/>
          <p:nvPr/>
        </p:nvSpPr>
        <p:spPr>
          <a:xfrm>
            <a:off x="553333" y="884769"/>
            <a:ext cx="11047704" cy="57246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>
                <a:ea typeface="+mn-lt"/>
                <a:cs typeface="+mn-lt"/>
              </a:rPr>
              <a:t>InstColorization</a:t>
            </a:r>
            <a:r>
              <a:rPr lang="en-US" altLang="ko-KR" sz="2400" b="1" dirty="0">
                <a:ea typeface="+mn-lt"/>
                <a:cs typeface="+mn-lt"/>
              </a:rPr>
              <a:t> - </a:t>
            </a:r>
            <a:r>
              <a:rPr lang="en-US" b="1" dirty="0">
                <a:ea typeface="+mn-lt"/>
                <a:cs typeface="+mn-lt"/>
              </a:rPr>
              <a:t>CNN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기반</a:t>
            </a:r>
            <a:r>
              <a:rPr lang="en-US" b="1" dirty="0">
                <a:ea typeface="+mn-lt"/>
                <a:cs typeface="+mn-lt"/>
              </a:rPr>
              <a:t> +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객체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인식</a:t>
            </a:r>
            <a:r>
              <a:rPr lang="en-US" b="1" dirty="0">
                <a:ea typeface="+mn-lt"/>
                <a:cs typeface="+mn-lt"/>
              </a:rPr>
              <a:t>(</a:t>
            </a:r>
            <a:r>
              <a:rPr lang="en-US" altLang="ko-KR" b="1" dirty="0">
                <a:ea typeface="+mn-lt"/>
                <a:cs typeface="+mn-lt"/>
              </a:rPr>
              <a:t>Instance </a:t>
            </a:r>
            <a:r>
              <a:rPr lang="en-US" b="1" dirty="0">
                <a:ea typeface="+mn-lt"/>
                <a:cs typeface="+mn-lt"/>
              </a:rPr>
              <a:t>Segmentation</a:t>
            </a:r>
            <a:r>
              <a:rPr lang="en-US" altLang="ko-KR" b="1" dirty="0">
                <a:ea typeface="+mn-lt"/>
                <a:cs typeface="+mn-lt"/>
              </a:rPr>
              <a:t>) </a:t>
            </a:r>
            <a:r>
              <a:rPr lang="en-US" altLang="ko-KR" dirty="0">
                <a:ea typeface="+mn-lt"/>
                <a:cs typeface="+mn-lt"/>
              </a:rPr>
              <a:t>[13]</a:t>
            </a:r>
            <a:endParaRPr lang="en-US" altLang="ko-KR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맑은 고딕"/>
              <a:ea typeface="맑은 고딕"/>
              <a:cs typeface="+mn-lt"/>
            </a:endParaRPr>
          </a:p>
          <a:p>
            <a:r>
              <a:rPr lang="ko-KR" b="1" dirty="0">
                <a:latin typeface="Malgun Gothic"/>
                <a:ea typeface="Malgun Gothic"/>
                <a:cs typeface="+mn-lt"/>
              </a:rPr>
              <a:t>전체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 </a:t>
            </a:r>
            <a:r>
              <a:rPr lang="ko-KR" b="1" dirty="0">
                <a:latin typeface="Malgun Gothic"/>
                <a:ea typeface="Malgun Gothic"/>
                <a:cs typeface="+mn-lt"/>
              </a:rPr>
              <a:t>구조</a:t>
            </a:r>
            <a:r>
              <a:rPr lang="en-US" altLang="ko-KR" dirty="0">
                <a:latin typeface="Malgun Gothic"/>
                <a:ea typeface="Malgun Gothic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객체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인식을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결합한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의미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중심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컬러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복원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시스템</a:t>
            </a:r>
            <a:endParaRPr lang="en-US" dirty="0">
              <a:latin typeface="Malgun Gothic"/>
              <a:ea typeface="Malgun Gothic"/>
            </a:endParaRPr>
          </a:p>
          <a:p>
            <a:endParaRPr lang="en-US" dirty="0">
              <a:latin typeface="Malgun Gothic"/>
              <a:ea typeface="Malgun Gothic"/>
            </a:endParaRPr>
          </a:p>
          <a:p>
            <a:r>
              <a:rPr lang="en-US" altLang="ko-KR" b="1" dirty="0">
                <a:latin typeface="Malgun Gothic"/>
                <a:ea typeface="Malgun Gothic"/>
                <a:cs typeface="+mn-lt"/>
              </a:rPr>
              <a:t> - </a:t>
            </a:r>
            <a:r>
              <a:rPr lang="en-US" altLang="ko-KR" b="1" dirty="0" err="1">
                <a:latin typeface="Malgun Gothic"/>
                <a:ea typeface="Malgun Gothic"/>
                <a:cs typeface="+mn-lt"/>
              </a:rPr>
              <a:t>객체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b="1" dirty="0" err="1">
                <a:latin typeface="Malgun Gothic"/>
                <a:ea typeface="Malgun Gothic"/>
                <a:cs typeface="+mn-lt"/>
              </a:rPr>
              <a:t>탐지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 및 </a:t>
            </a:r>
            <a:r>
              <a:rPr lang="en-US" altLang="ko-KR" b="1" dirty="0" err="1">
                <a:latin typeface="Malgun Gothic"/>
                <a:ea typeface="Malgun Gothic"/>
                <a:cs typeface="+mn-lt"/>
              </a:rPr>
              <a:t>분할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: 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       </a:t>
            </a:r>
            <a:r>
              <a:rPr lang="en-US" dirty="0" err="1">
                <a:ea typeface="+mn-lt"/>
                <a:cs typeface="+mn-lt"/>
              </a:rPr>
              <a:t>이미지</a:t>
            </a:r>
            <a:r>
              <a:rPr lang="en-US" dirty="0">
                <a:ea typeface="+mn-lt"/>
                <a:cs typeface="+mn-lt"/>
              </a:rPr>
              <a:t> 속 </a:t>
            </a:r>
            <a:r>
              <a:rPr lang="en-US" dirty="0" err="1">
                <a:ea typeface="+mn-lt"/>
                <a:cs typeface="+mn-lt"/>
              </a:rPr>
              <a:t>사람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하늘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나무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자동차</a:t>
            </a:r>
            <a:r>
              <a:rPr lang="en-US" dirty="0">
                <a:ea typeface="+mn-lt"/>
                <a:cs typeface="+mn-lt"/>
              </a:rPr>
              <a:t> 등 </a:t>
            </a:r>
            <a:r>
              <a:rPr lang="en-US" dirty="0" err="1">
                <a:ea typeface="+mn-lt"/>
                <a:cs typeface="+mn-lt"/>
              </a:rPr>
              <a:t>다양한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객체를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먼저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식별함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       </a:t>
            </a:r>
            <a:r>
              <a:rPr lang="en-US" dirty="0" err="1">
                <a:ea typeface="+mn-lt"/>
                <a:cs typeface="+mn-lt"/>
              </a:rPr>
              <a:t>주로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유사한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인스턴스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세그멘테이션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모델을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사용하여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이미지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객체를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영역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단위로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분할함</a:t>
            </a:r>
            <a:endParaRPr lang="ko-KR" dirty="0">
              <a:ea typeface="맑은 고딕"/>
            </a:endParaRPr>
          </a:p>
          <a:p>
            <a:r>
              <a:rPr lang="en-US" b="1" dirty="0">
                <a:latin typeface="Malgun Gothic"/>
                <a:ea typeface="Malgun Gothic"/>
                <a:cs typeface="+mn-lt"/>
              </a:rPr>
              <a:t> -</a:t>
            </a:r>
            <a:r>
              <a:rPr lang="ko-KR" altLang="en-US" b="1" dirty="0">
                <a:latin typeface="Malgun Gothic"/>
                <a:ea typeface="Malgun Gothic"/>
                <a:cs typeface="+mn-lt"/>
              </a:rPr>
              <a:t> 객체별 의미 기반 </a:t>
            </a:r>
            <a:r>
              <a:rPr lang="ko-KR" altLang="en-US" b="1" dirty="0" err="1">
                <a:latin typeface="Malgun Gothic"/>
                <a:ea typeface="Malgun Gothic"/>
                <a:cs typeface="+mn-lt"/>
              </a:rPr>
              <a:t>컬러링</a:t>
            </a:r>
            <a:r>
              <a:rPr lang="ko-KR" altLang="en-US" b="1" dirty="0">
                <a:latin typeface="Malgun Gothic"/>
                <a:ea typeface="Malgun Gothic"/>
                <a:cs typeface="+mn-lt"/>
              </a:rPr>
              <a:t>: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     </a:t>
            </a:r>
            <a:r>
              <a:rPr lang="ko-KR" dirty="0">
                <a:ea typeface="+mn-lt"/>
                <a:cs typeface="+mn-lt"/>
              </a:rPr>
              <a:t>분할된 객체마다 의미에 맞는 색상을 자동으로 </a:t>
            </a:r>
            <a:r>
              <a:rPr lang="ko-KR" altLang="en-US" dirty="0">
                <a:ea typeface="+mn-lt"/>
                <a:cs typeface="+mn-lt"/>
              </a:rPr>
              <a:t>추론함 (현실</a:t>
            </a:r>
            <a:r>
              <a:rPr lang="ko-KR" dirty="0">
                <a:ea typeface="+mn-lt"/>
                <a:cs typeface="+mn-lt"/>
              </a:rPr>
              <a:t> 세계의 지식 기반 </a:t>
            </a:r>
            <a:r>
              <a:rPr lang="ko-KR" dirty="0" err="1">
                <a:ea typeface="+mn-lt"/>
                <a:cs typeface="+mn-lt"/>
              </a:rPr>
              <a:t>컬러링</a:t>
            </a:r>
            <a:r>
              <a:rPr lang="ko-KR" dirty="0">
                <a:ea typeface="+mn-lt"/>
                <a:cs typeface="+mn-lt"/>
              </a:rPr>
              <a:t> 적용</a:t>
            </a:r>
            <a:r>
              <a:rPr lang="en-US" altLang="ko-KR" dirty="0">
                <a:ea typeface="+mn-lt"/>
                <a:cs typeface="+mn-lt"/>
              </a:rPr>
              <a:t>)</a:t>
            </a:r>
            <a:endParaRPr lang="ko-KR" dirty="0">
              <a:ea typeface="맑은 고딕"/>
            </a:endParaRPr>
          </a:p>
          <a:p>
            <a:r>
              <a:rPr lang="en-US" altLang="ko-KR" b="1" dirty="0">
                <a:latin typeface="Malgun Gothic"/>
                <a:ea typeface="Malgun Gothic"/>
                <a:cs typeface="+mn-lt"/>
              </a:rPr>
              <a:t> - </a:t>
            </a:r>
            <a:r>
              <a:rPr lang="en-US" b="1" dirty="0" err="1">
                <a:ea typeface="+mn-lt"/>
                <a:cs typeface="+mn-lt"/>
              </a:rPr>
              <a:t>컬러링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네트워크</a:t>
            </a:r>
            <a:r>
              <a:rPr lang="en-US" b="1" dirty="0">
                <a:ea typeface="+mn-lt"/>
                <a:cs typeface="+mn-lt"/>
              </a:rPr>
              <a:t>(</a:t>
            </a:r>
            <a:r>
              <a:rPr lang="en-US" altLang="ko-KR" b="1" dirty="0">
                <a:ea typeface="+mn-lt"/>
                <a:cs typeface="+mn-lt"/>
              </a:rPr>
              <a:t>CNN)</a:t>
            </a:r>
            <a:r>
              <a:rPr lang="en-US" b="1" dirty="0">
                <a:latin typeface="Malgun Gothic"/>
                <a:ea typeface="Malgun Gothic"/>
                <a:cs typeface="+mn-lt"/>
              </a:rPr>
              <a:t>: </a:t>
            </a:r>
            <a:endParaRPr lang="ko-KR" altLang="en-US" dirty="0">
              <a:latin typeface="Malgun Gothic"/>
              <a:ea typeface="Malgun Gothic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     객체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인식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정보와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이미지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전체의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구조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정보를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결합하여 각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영역에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자연스럽고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일관된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색상</a:t>
            </a:r>
            <a:r>
              <a:rPr lang="en-US" dirty="0">
                <a:ea typeface="+mn-lt"/>
                <a:cs typeface="+mn-lt"/>
              </a:rPr>
              <a:t>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부여함</a:t>
            </a:r>
            <a:endParaRPr lang="ko-KR" altLang="en-US" dirty="0">
              <a:latin typeface="Malgun Gothic"/>
              <a:ea typeface="Malgun Gothic"/>
            </a:endParaRPr>
          </a:p>
          <a:p>
            <a:pPr marL="285750" indent="-285750">
              <a:buFont typeface="Arial,Sans-Serif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r>
              <a:rPr lang="en-US" altLang="ko-KR" b="1" dirty="0" err="1">
                <a:ea typeface="+mn-lt"/>
                <a:cs typeface="+mn-lt"/>
              </a:rPr>
              <a:t>InstColorization</a:t>
            </a:r>
            <a:r>
              <a:rPr lang="ko-KR" altLang="en-US" b="1" dirty="0">
                <a:ea typeface="+mn-lt"/>
                <a:cs typeface="+mn-lt"/>
              </a:rPr>
              <a:t> </a:t>
            </a:r>
            <a:r>
              <a:rPr lang="ko-KR" b="1" dirty="0">
                <a:ea typeface="+mn-lt"/>
                <a:cs typeface="+mn-lt"/>
              </a:rPr>
              <a:t>사용</a:t>
            </a:r>
            <a:r>
              <a:rPr lang="ko-KR" altLang="en-US" b="1" dirty="0">
                <a:ea typeface="+mn-lt"/>
                <a:cs typeface="+mn-lt"/>
              </a:rPr>
              <a:t> 이유</a:t>
            </a:r>
            <a:endParaRPr lang="en-US" altLang="ko-KR" b="1" dirty="0">
              <a:ea typeface="+mn-lt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- 기존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픽셀 단위 기반 컬러링보다 훨씬 의미 있는 색상으로 복원이 가능함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en-US" altLang="ko-KR" dirty="0">
                <a:latin typeface="Malgun Gothic"/>
                <a:ea typeface="Malgun Gothic"/>
              </a:rPr>
              <a:t/>
            </a:r>
            <a:br>
              <a:rPr lang="en-US" altLang="ko-KR" dirty="0">
                <a:latin typeface="Malgun Gothic"/>
                <a:ea typeface="Malgun Gothic"/>
              </a:rPr>
            </a:br>
            <a:r>
              <a:rPr lang="ko-KR" altLang="en-US" b="1" dirty="0">
                <a:latin typeface="Malgun Gothic"/>
                <a:ea typeface="Malgun Gothic"/>
              </a:rPr>
              <a:t>한계점</a:t>
            </a:r>
            <a:endParaRPr lang="en-US" dirty="0">
              <a:latin typeface="Malgun Gothic"/>
              <a:ea typeface="Malgun Gothic"/>
            </a:endParaRPr>
          </a:p>
          <a:p>
            <a:r>
              <a:rPr lang="ko-KR" altLang="en-US" dirty="0">
                <a:latin typeface="Malgun Gothic"/>
                <a:ea typeface="Malgun Gothic"/>
                <a:cs typeface="+mn-lt"/>
              </a:rPr>
              <a:t> </a:t>
            </a:r>
            <a:r>
              <a:rPr lang="ko-KR" dirty="0">
                <a:latin typeface="Malgun Gothic"/>
                <a:ea typeface="Malgun Gothic"/>
                <a:cs typeface="+mn-lt"/>
              </a:rPr>
              <a:t>- </a:t>
            </a:r>
            <a:r>
              <a:rPr lang="ko-KR" dirty="0">
                <a:ea typeface="+mn-lt"/>
                <a:cs typeface="+mn-lt"/>
              </a:rPr>
              <a:t>객체 인식 오류 발생 시 컬러링도 오류가 </a:t>
            </a:r>
            <a:r>
              <a:rPr lang="ko-KR" altLang="en-US" dirty="0">
                <a:ea typeface="+mn-lt"/>
                <a:cs typeface="+mn-lt"/>
              </a:rPr>
              <a:t>발생함</a:t>
            </a:r>
            <a:endParaRPr lang="ko-KR" altLang="en-US" dirty="0">
              <a:latin typeface="맑은 고딕" panose="02110004020202020204"/>
              <a:ea typeface="맑은 고딕" panose="02110004020202020204"/>
              <a:cs typeface="+mn-lt"/>
            </a:endParaRPr>
          </a:p>
          <a:p>
            <a:r>
              <a:rPr lang="en-US" altLang="ko-KR" dirty="0">
                <a:latin typeface="Malgun Gothic"/>
                <a:ea typeface="Malgun Gothic"/>
                <a:cs typeface="+mn-lt"/>
              </a:rPr>
              <a:t> -</a:t>
            </a:r>
            <a:r>
              <a:rPr lang="ko-KR" dirty="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복잡한 구조로 인한 </a:t>
            </a:r>
            <a:r>
              <a:rPr lang="ko-KR" altLang="en-US" dirty="0" err="1">
                <a:ea typeface="+mn-lt"/>
                <a:cs typeface="+mn-lt"/>
              </a:rPr>
              <a:t>연산량이</a:t>
            </a:r>
            <a:r>
              <a:rPr lang="ko-KR" altLang="en-US" dirty="0">
                <a:ea typeface="+mn-lt"/>
                <a:cs typeface="+mn-lt"/>
              </a:rPr>
              <a:t> 증가함</a:t>
            </a:r>
            <a:endParaRPr lang="ko-KR" altLang="en-US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04906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327A-042F-4FA1-3088-B45FE802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D4C9F2-8227-C200-3B86-E28387879D0B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B55A75-B709-C8B8-A96C-1FC65ADF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5F53A8-25B1-62FB-5C3C-38EFAB034D32}"/>
              </a:ext>
            </a:extLst>
          </p:cNvPr>
          <p:cNvSpPr txBox="1"/>
          <p:nvPr/>
        </p:nvSpPr>
        <p:spPr>
          <a:xfrm>
            <a:off x="373224" y="162868"/>
            <a:ext cx="631135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AA7AA4-4042-8D4C-0697-6780479FBD31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154CD-02E2-5431-947D-80B870EAC621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18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BC42F-802F-2CD6-35F2-AC2CC9B25B64}"/>
              </a:ext>
            </a:extLst>
          </p:cNvPr>
          <p:cNvSpPr txBox="1"/>
          <p:nvPr/>
        </p:nvSpPr>
        <p:spPr>
          <a:xfrm>
            <a:off x="572148" y="969436"/>
            <a:ext cx="1104770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>
                <a:ea typeface="+mn-lt"/>
                <a:cs typeface="+mn-lt"/>
              </a:rPr>
              <a:t>ChromaGAN</a:t>
            </a:r>
            <a:r>
              <a:rPr lang="en-US" altLang="ko-KR" sz="2400" b="1" dirty="0">
                <a:ea typeface="+mn-lt"/>
                <a:cs typeface="+mn-lt"/>
              </a:rPr>
              <a:t> - </a:t>
            </a:r>
            <a:r>
              <a:rPr lang="en-US" altLang="ko-KR" sz="2000" b="1" dirty="0">
                <a:ea typeface="+mn-lt"/>
                <a:cs typeface="+mn-lt"/>
              </a:rPr>
              <a:t>GAN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sz="2000" b="1" dirty="0">
                <a:ea typeface="+mn-lt"/>
                <a:cs typeface="+mn-lt"/>
              </a:rPr>
              <a:t>기반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+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altLang="en-US" sz="2000" b="1" dirty="0" err="1">
                <a:ea typeface="+mn-lt"/>
                <a:cs typeface="+mn-lt"/>
              </a:rPr>
              <a:t>시멘틱</a:t>
            </a:r>
            <a:r>
              <a:rPr lang="en-US" altLang="ko-KR" sz="2000" b="1" dirty="0">
                <a:ea typeface="+mn-lt"/>
                <a:cs typeface="+mn-lt"/>
              </a:rPr>
              <a:t>(semantic)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+</a:t>
            </a:r>
            <a:r>
              <a:rPr lang="ko-KR" altLang="en-US" sz="2000" b="1" dirty="0">
                <a:ea typeface="+mn-lt"/>
                <a:cs typeface="+mn-lt"/>
              </a:rPr>
              <a:t> 감성</a:t>
            </a:r>
            <a:r>
              <a:rPr lang="en-US" altLang="ko-KR" sz="2000" b="1" dirty="0">
                <a:ea typeface="+mn-lt"/>
                <a:cs typeface="+mn-lt"/>
              </a:rPr>
              <a:t>(emotion)</a:t>
            </a:r>
            <a:r>
              <a:rPr lang="ko-KR" altLang="en-US" sz="2000" b="1" dirty="0">
                <a:ea typeface="+mn-lt"/>
                <a:cs typeface="+mn-lt"/>
              </a:rPr>
              <a:t> 정보 </a:t>
            </a:r>
            <a:r>
              <a:rPr lang="ko-KR" sz="2000" b="1" dirty="0">
                <a:ea typeface="+mn-lt"/>
                <a:cs typeface="+mn-lt"/>
              </a:rPr>
              <a:t>통합</a:t>
            </a:r>
            <a:endParaRPr lang="en-US" sz="2000" b="1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+mn-lt"/>
              <a:cs typeface="+mn-l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A42116-BE08-CD12-AECF-E968B8043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4" y="1651819"/>
            <a:ext cx="10874477" cy="441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04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327A-042F-4FA1-3088-B45FE802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D4C9F2-8227-C200-3B86-E28387879D0B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B55A75-B709-C8B8-A96C-1FC65ADF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5F53A8-25B1-62FB-5C3C-38EFAB034D32}"/>
              </a:ext>
            </a:extLst>
          </p:cNvPr>
          <p:cNvSpPr txBox="1"/>
          <p:nvPr/>
        </p:nvSpPr>
        <p:spPr>
          <a:xfrm>
            <a:off x="373224" y="162868"/>
            <a:ext cx="536542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AA7AA4-4042-8D4C-0697-6780479FBD31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154CD-02E2-5431-947D-80B870EAC621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19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BC42F-802F-2CD6-35F2-AC2CC9B25B64}"/>
              </a:ext>
            </a:extLst>
          </p:cNvPr>
          <p:cNvSpPr txBox="1"/>
          <p:nvPr/>
        </p:nvSpPr>
        <p:spPr>
          <a:xfrm>
            <a:off x="572148" y="969436"/>
            <a:ext cx="11047704" cy="54784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>
                <a:ea typeface="+mn-lt"/>
                <a:cs typeface="+mn-lt"/>
              </a:rPr>
              <a:t>ChromaGAN</a:t>
            </a:r>
            <a:r>
              <a:rPr lang="en-US" altLang="ko-KR" sz="2400" b="1" dirty="0">
                <a:ea typeface="+mn-lt"/>
                <a:cs typeface="+mn-lt"/>
              </a:rPr>
              <a:t> - </a:t>
            </a:r>
            <a:r>
              <a:rPr lang="en-US" altLang="ko-KR" sz="2000" b="1" dirty="0">
                <a:ea typeface="+mn-lt"/>
                <a:cs typeface="+mn-lt"/>
              </a:rPr>
              <a:t>GAN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sz="2000" b="1" dirty="0">
                <a:ea typeface="+mn-lt"/>
                <a:cs typeface="+mn-lt"/>
              </a:rPr>
              <a:t>기반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+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ko-KR" altLang="en-US" sz="2000" b="1" dirty="0" err="1">
                <a:ea typeface="+mn-lt"/>
                <a:cs typeface="+mn-lt"/>
              </a:rPr>
              <a:t>시멘틱</a:t>
            </a:r>
            <a:r>
              <a:rPr lang="en-US" altLang="ko-KR" sz="2000" b="1" dirty="0">
                <a:ea typeface="+mn-lt"/>
                <a:cs typeface="+mn-lt"/>
              </a:rPr>
              <a:t>(semantic)</a:t>
            </a:r>
            <a:r>
              <a:rPr lang="ko-KR" altLang="en-US" sz="20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+</a:t>
            </a:r>
            <a:r>
              <a:rPr lang="ko-KR" altLang="en-US" sz="2000" b="1" dirty="0">
                <a:ea typeface="+mn-lt"/>
                <a:cs typeface="+mn-lt"/>
              </a:rPr>
              <a:t> 감성</a:t>
            </a:r>
            <a:r>
              <a:rPr lang="en-US" altLang="ko-KR" sz="2000" b="1" dirty="0">
                <a:ea typeface="+mn-lt"/>
                <a:cs typeface="+mn-lt"/>
              </a:rPr>
              <a:t>(emotion)</a:t>
            </a:r>
            <a:r>
              <a:rPr lang="ko-KR" altLang="en-US" sz="2000" b="1" dirty="0">
                <a:ea typeface="+mn-lt"/>
                <a:cs typeface="+mn-lt"/>
              </a:rPr>
              <a:t> 정보 </a:t>
            </a:r>
            <a:r>
              <a:rPr lang="ko-KR" sz="2000" b="1" dirty="0">
                <a:ea typeface="+mn-lt"/>
                <a:cs typeface="+mn-lt"/>
              </a:rPr>
              <a:t>통합</a:t>
            </a:r>
            <a:r>
              <a:rPr lang="en-US" altLang="ko-KR" sz="2000" b="1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[14]</a:t>
            </a:r>
            <a:endParaRPr lang="en-US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+mn-lt"/>
              <a:cs typeface="+mn-lt"/>
            </a:endParaRPr>
          </a:p>
          <a:p>
            <a:r>
              <a:rPr lang="ko-KR" b="1" dirty="0">
                <a:latin typeface="Malgun Gothic"/>
                <a:ea typeface="Malgun Gothic"/>
                <a:cs typeface="+mn-lt"/>
              </a:rPr>
              <a:t>전체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 </a:t>
            </a:r>
            <a:r>
              <a:rPr lang="ko-KR" b="1" dirty="0">
                <a:latin typeface="Malgun Gothic"/>
                <a:ea typeface="Malgun Gothic"/>
                <a:cs typeface="+mn-lt"/>
              </a:rPr>
              <a:t>구조</a:t>
            </a:r>
            <a:r>
              <a:rPr lang="en-US" altLang="ko-KR" dirty="0">
                <a:latin typeface="Malgun Gothic"/>
                <a:ea typeface="Malgun Gothic"/>
                <a:cs typeface="+mn-lt"/>
              </a:rPr>
              <a:t>: </a:t>
            </a:r>
            <a:r>
              <a:rPr lang="ko-KR" altLang="en-US" dirty="0">
                <a:ea typeface="+mn-lt"/>
                <a:cs typeface="+mn-lt"/>
              </a:rPr>
              <a:t>의미와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감성을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반영한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고차원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컬러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복원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시스템</a:t>
            </a:r>
            <a:endParaRPr lang="en-US" dirty="0">
              <a:ea typeface="+mn-lt"/>
              <a:cs typeface="+mn-lt"/>
            </a:endParaRPr>
          </a:p>
          <a:p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en-US" b="1" dirty="0">
                <a:latin typeface="Malgun Gothic"/>
                <a:ea typeface="Malgun Gothic"/>
                <a:cs typeface="+mn-lt"/>
              </a:rPr>
              <a:t> -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b="1" dirty="0" err="1">
                <a:ea typeface="+mn-lt"/>
                <a:cs typeface="+mn-lt"/>
              </a:rPr>
              <a:t>시멘틱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분할</a:t>
            </a:r>
            <a:r>
              <a:rPr lang="en-US" b="1" dirty="0">
                <a:ea typeface="+mn-lt"/>
                <a:cs typeface="+mn-lt"/>
              </a:rPr>
              <a:t>(Semantic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Segmentation)</a:t>
            </a:r>
            <a:r>
              <a:rPr lang="en-US" b="1" dirty="0">
                <a:latin typeface="Malgun Gothic"/>
                <a:ea typeface="Malgun Gothic"/>
                <a:cs typeface="+mn-lt"/>
              </a:rPr>
              <a:t>: </a:t>
            </a:r>
            <a:endParaRPr lang="en-US" altLang="ko-KR" b="1" dirty="0">
              <a:latin typeface="Malgun Gothic"/>
              <a:ea typeface="Malgun Gothic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    이미지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내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의미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있는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영역</a:t>
            </a:r>
            <a:r>
              <a:rPr lang="en-US" altLang="ko-KR" dirty="0">
                <a:ea typeface="+mn-lt"/>
                <a:cs typeface="+mn-lt"/>
              </a:rPr>
              <a:t>(</a:t>
            </a:r>
            <a:r>
              <a:rPr lang="en-US" dirty="0">
                <a:ea typeface="+mn-lt"/>
                <a:cs typeface="+mn-lt"/>
              </a:rPr>
              <a:t>예</a:t>
            </a:r>
            <a:r>
              <a:rPr lang="en-US" altLang="ko-KR" dirty="0">
                <a:ea typeface="+mn-lt"/>
                <a:cs typeface="+mn-lt"/>
              </a:rPr>
              <a:t>: </a:t>
            </a:r>
            <a:r>
              <a:rPr lang="ko-KR" altLang="en-US" dirty="0">
                <a:ea typeface="+mn-lt"/>
                <a:cs typeface="+mn-lt"/>
              </a:rPr>
              <a:t>하늘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인물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배경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등</a:t>
            </a:r>
            <a:r>
              <a:rPr lang="en-US" altLang="ko-KR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파악하여 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픽셀의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의미를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인식함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+mn-lt"/>
              </a:rPr>
              <a:t>[13]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latin typeface="Malgun Gothic"/>
                <a:ea typeface="Malgun Gothic"/>
                <a:cs typeface="+mn-lt"/>
              </a:rPr>
              <a:t> - </a:t>
            </a:r>
            <a:r>
              <a:rPr lang="ko-KR" altLang="en-US" b="1" dirty="0">
                <a:ea typeface="+mn-lt"/>
                <a:cs typeface="+mn-lt"/>
              </a:rPr>
              <a:t>감성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정보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ko-KR" altLang="en-US" b="1" dirty="0">
                <a:ea typeface="+mn-lt"/>
                <a:cs typeface="+mn-lt"/>
              </a:rPr>
              <a:t>인식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(Emotion Embedding)</a:t>
            </a:r>
            <a:r>
              <a:rPr lang="en-US" altLang="ko-KR" b="1" dirty="0">
                <a:latin typeface="Malgun Gothic"/>
                <a:ea typeface="Malgun Gothic"/>
                <a:cs typeface="+mn-lt"/>
              </a:rPr>
              <a:t>: </a:t>
            </a:r>
            <a:endParaRPr lang="ko-KR" alt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     </a:t>
            </a:r>
            <a:r>
              <a:rPr lang="en-US" dirty="0" err="1">
                <a:ea typeface="+mn-lt"/>
                <a:cs typeface="+mn-lt"/>
              </a:rPr>
              <a:t>장면이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주는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분위기나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감정을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학습하고</a:t>
            </a:r>
            <a:r>
              <a:rPr lang="en-US" dirty="0">
                <a:ea typeface="+mn-lt"/>
                <a:cs typeface="+mn-lt"/>
              </a:rPr>
              <a:t>,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이를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컬러에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반영함</a:t>
            </a:r>
            <a:endParaRPr lang="ko-KR" altLang="en-US" dirty="0"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</a:rPr>
              <a:t> - </a:t>
            </a:r>
            <a:r>
              <a:rPr lang="ko-KR" b="1" dirty="0">
                <a:ea typeface="+mn-lt"/>
                <a:cs typeface="+mn-lt"/>
              </a:rPr>
              <a:t>컬러 생성 네트워크 (GAN 기반</a:t>
            </a:r>
            <a:r>
              <a:rPr lang="en-US" altLang="ko-KR" b="1" dirty="0">
                <a:ea typeface="+mn-lt"/>
                <a:cs typeface="+mn-lt"/>
              </a:rPr>
              <a:t>):</a:t>
            </a:r>
            <a:endParaRPr lang="ko-KR" altLang="en-US" b="1" dirty="0">
              <a:latin typeface="맑은 고딕"/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  <a:cs typeface="+mn-lt"/>
              </a:rPr>
              <a:t>      </a:t>
            </a:r>
            <a:r>
              <a:rPr lang="ko-KR" dirty="0" err="1">
                <a:ea typeface="+mn-lt"/>
                <a:cs typeface="+mn-lt"/>
              </a:rPr>
              <a:t>Generator가</a:t>
            </a:r>
            <a:r>
              <a:rPr lang="ko-KR" dirty="0">
                <a:ea typeface="+mn-lt"/>
                <a:cs typeface="+mn-lt"/>
              </a:rPr>
              <a:t> 위의 의미 정보와 감성 정보를 결합하여 예술적이고 심미적인 컬러를 </a:t>
            </a:r>
            <a:r>
              <a:rPr lang="ko-KR" altLang="en-US" dirty="0">
                <a:ea typeface="+mn-lt"/>
                <a:cs typeface="+mn-lt"/>
              </a:rPr>
              <a:t>생성함</a:t>
            </a:r>
            <a:endParaRPr lang="ko-KR" dirty="0">
              <a:ea typeface="+mn-lt"/>
              <a:cs typeface="+mn-lt"/>
            </a:endParaRPr>
          </a:p>
          <a:p>
            <a:endParaRPr lang="en-US" b="1" dirty="0"/>
          </a:p>
          <a:p>
            <a:r>
              <a:rPr lang="en-US" b="1" dirty="0" err="1"/>
              <a:t>ChromaGAN</a:t>
            </a:r>
            <a:r>
              <a:rPr lang="en-US" b="1" dirty="0"/>
              <a:t> </a:t>
            </a:r>
            <a:r>
              <a:rPr lang="ko-KR" b="1" dirty="0">
                <a:ea typeface="맑은 고딕"/>
              </a:rPr>
              <a:t>사용 이유</a:t>
            </a:r>
            <a:endParaRPr lang="ko-KR" altLang="en-US" dirty="0">
              <a:ea typeface="맑은 고딕"/>
            </a:endParaRPr>
          </a:p>
          <a:p>
            <a:r>
              <a:rPr lang="ko-KR" dirty="0">
                <a:latin typeface="Malgun Gothic"/>
                <a:ea typeface="Malgun Gothic"/>
                <a:cs typeface="+mn-lt"/>
              </a:rPr>
              <a:t> - </a:t>
            </a:r>
            <a:r>
              <a:rPr lang="ko-KR" altLang="en-US" dirty="0">
                <a:ea typeface="+mn-lt"/>
                <a:cs typeface="+mn-lt"/>
              </a:rPr>
              <a:t>감성 표현이 필요한 이미지</a:t>
            </a:r>
            <a:r>
              <a:rPr lang="en-US" altLang="ko-KR" dirty="0">
                <a:ea typeface="+mn-lt"/>
                <a:cs typeface="+mn-lt"/>
              </a:rPr>
              <a:t>(</a:t>
            </a:r>
            <a:r>
              <a:rPr lang="ko-KR" altLang="en-US" dirty="0">
                <a:ea typeface="+mn-lt"/>
                <a:cs typeface="+mn-lt"/>
              </a:rPr>
              <a:t>예</a:t>
            </a:r>
            <a:r>
              <a:rPr lang="en-US" altLang="ko-KR" dirty="0">
                <a:ea typeface="+mn-lt"/>
                <a:cs typeface="+mn-lt"/>
              </a:rPr>
              <a:t>:</a:t>
            </a:r>
            <a:r>
              <a:rPr lang="ko-KR" altLang="en-US" dirty="0">
                <a:ea typeface="+mn-lt"/>
                <a:cs typeface="+mn-lt"/>
              </a:rPr>
              <a:t> 예술 작품</a:t>
            </a:r>
            <a:r>
              <a:rPr lang="en-US" altLang="ko-KR" dirty="0">
                <a:ea typeface="+mn-lt"/>
                <a:cs typeface="+mn-lt"/>
              </a:rPr>
              <a:t>,</a:t>
            </a:r>
            <a:r>
              <a:rPr lang="ko-KR" altLang="en-US" dirty="0">
                <a:ea typeface="+mn-lt"/>
                <a:cs typeface="+mn-lt"/>
              </a:rPr>
              <a:t> 인물 사진 등</a:t>
            </a:r>
            <a:r>
              <a:rPr lang="en-US" altLang="ko-KR" dirty="0">
                <a:ea typeface="+mn-lt"/>
                <a:cs typeface="+mn-lt"/>
              </a:rPr>
              <a:t>)</a:t>
            </a:r>
            <a:r>
              <a:rPr lang="ko-KR" altLang="en-US" dirty="0">
                <a:ea typeface="+mn-lt"/>
                <a:cs typeface="+mn-lt"/>
              </a:rPr>
              <a:t>에서 심미성 높은 </a:t>
            </a:r>
            <a:r>
              <a:rPr lang="ko-KR" dirty="0">
                <a:ea typeface="+mn-lt"/>
                <a:cs typeface="+mn-lt"/>
              </a:rPr>
              <a:t>결과물</a:t>
            </a:r>
            <a:r>
              <a:rPr lang="ko-KR" altLang="en-US" dirty="0">
                <a:ea typeface="+mn-lt"/>
                <a:cs typeface="+mn-lt"/>
              </a:rPr>
              <a:t> 생성이 가능함</a:t>
            </a:r>
          </a:p>
          <a:p>
            <a:pPr marL="285750" indent="-285750">
              <a:buFont typeface="Arial"/>
              <a:buChar char="•"/>
            </a:pP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ko-KR" altLang="en-US" b="1" dirty="0">
                <a:latin typeface="Malgun Gothic"/>
                <a:ea typeface="Malgun Gothic"/>
                <a:cs typeface="+mn-lt"/>
              </a:rPr>
              <a:t>한계점</a:t>
            </a:r>
            <a:endParaRPr lang="en-US" dirty="0">
              <a:latin typeface="Malgun Gothic"/>
              <a:ea typeface="Malgun Gothic"/>
            </a:endParaRPr>
          </a:p>
          <a:p>
            <a:r>
              <a:rPr lang="en-US" altLang="ko-KR" dirty="0">
                <a:latin typeface="Malgun Gothic"/>
                <a:ea typeface="Malgun Gothic"/>
                <a:cs typeface="+mn-lt"/>
              </a:rPr>
              <a:t>-</a:t>
            </a:r>
            <a:r>
              <a:rPr lang="ko-KR" altLang="en-US" dirty="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훈련 복잡도 높음</a:t>
            </a:r>
            <a:endParaRPr lang="en-US" dirty="0">
              <a:latin typeface="Malgun Gothic"/>
              <a:ea typeface="Malgun Gothic"/>
            </a:endParaRPr>
          </a:p>
          <a:p>
            <a:r>
              <a:rPr lang="en-US" dirty="0">
                <a:latin typeface="Malgun Gothic"/>
                <a:ea typeface="Malgun Gothic"/>
                <a:cs typeface="+mn-lt"/>
              </a:rPr>
              <a:t>-</a:t>
            </a:r>
            <a:r>
              <a:rPr lang="ko-KR" dirty="0">
                <a:latin typeface="Malgun Gothic"/>
                <a:ea typeface="Malgun Gothic"/>
                <a:cs typeface="+mn-lt"/>
              </a:rPr>
              <a:t> </a:t>
            </a:r>
            <a:r>
              <a:rPr lang="ko-KR" dirty="0">
                <a:ea typeface="+mn-lt"/>
                <a:cs typeface="+mn-lt"/>
              </a:rPr>
              <a:t>감성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dirty="0">
                <a:ea typeface="+mn-lt"/>
                <a:cs typeface="+mn-lt"/>
              </a:rPr>
              <a:t>정보의 </a:t>
            </a:r>
            <a:r>
              <a:rPr lang="ko-KR" altLang="en-US" dirty="0">
                <a:ea typeface="+mn-lt"/>
                <a:cs typeface="+mn-lt"/>
              </a:rPr>
              <a:t>주관성이 나타남</a:t>
            </a:r>
            <a:endParaRPr lang="en-US" dirty="0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15494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53549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F189C-E5F8-96ED-39C5-209CF37458CB}"/>
              </a:ext>
            </a:extLst>
          </p:cNvPr>
          <p:cNvSpPr txBox="1"/>
          <p:nvPr/>
        </p:nvSpPr>
        <p:spPr>
          <a:xfrm>
            <a:off x="572148" y="880831"/>
            <a:ext cx="11047704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Colorization Transformer</a:t>
            </a:r>
            <a:r>
              <a:rPr lang="en-US" altLang="ko-KR" sz="24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- </a:t>
            </a:r>
            <a:r>
              <a:rPr lang="ko-KR" altLang="en-US" sz="2000" b="1" dirty="0">
                <a:ea typeface="+mn-lt"/>
                <a:cs typeface="+mn-lt"/>
              </a:rPr>
              <a:t>트랜스포머</a:t>
            </a:r>
            <a:r>
              <a:rPr lang="ko-KR" sz="2000" b="1" dirty="0">
                <a:ea typeface="+mn-lt"/>
                <a:cs typeface="+mn-lt"/>
              </a:rPr>
              <a:t> 기반 </a:t>
            </a:r>
            <a:r>
              <a:rPr lang="ko-KR" altLang="en-US" sz="2000" b="1" dirty="0">
                <a:ea typeface="+mn-lt"/>
                <a:cs typeface="+mn-lt"/>
              </a:rPr>
              <a:t>모델</a:t>
            </a:r>
            <a:endParaRPr lang="en-US" sz="2000" b="1" dirty="0">
              <a:ea typeface="맑은 고딕"/>
            </a:endParaRPr>
          </a:p>
          <a:p>
            <a:endParaRPr lang="en-US" altLang="ko-KR" sz="2000" dirty="0">
              <a:ea typeface="+mn-lt"/>
              <a:cs typeface="+mn-lt"/>
            </a:endParaRPr>
          </a:p>
          <a:p>
            <a:endParaRPr lang="en-US" dirty="0">
              <a:ea typeface="맑은 고딕"/>
            </a:endParaRPr>
          </a:p>
          <a:p>
            <a:endParaRPr lang="ko-KR" altLang="en-US" sz="2000" dirty="0">
              <a:ea typeface="맑은 고딕"/>
            </a:endParaRPr>
          </a:p>
          <a:p>
            <a:endParaRPr lang="en-US" dirty="0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4665C9-5C50-CCC7-C236-0DA2242E4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55" y="1622323"/>
            <a:ext cx="10559845" cy="453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57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프로젝트에 사용할 모델 선정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F189C-E5F8-96ED-39C5-209CF37458CB}"/>
              </a:ext>
            </a:extLst>
          </p:cNvPr>
          <p:cNvSpPr txBox="1"/>
          <p:nvPr/>
        </p:nvSpPr>
        <p:spPr>
          <a:xfrm>
            <a:off x="549372" y="837197"/>
            <a:ext cx="11047704" cy="57554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ColTran</a:t>
            </a:r>
            <a:r>
              <a:rPr lang="en-US" sz="2400" b="1" dirty="0">
                <a:ea typeface="+mn-lt"/>
                <a:cs typeface="+mn-lt"/>
              </a:rPr>
              <a:t> (Colorization Transformer)</a:t>
            </a:r>
            <a:r>
              <a:rPr lang="en-US" altLang="ko-KR" sz="2400" b="1" dirty="0">
                <a:ea typeface="+mn-lt"/>
                <a:cs typeface="+mn-lt"/>
              </a:rPr>
              <a:t> </a:t>
            </a:r>
            <a:r>
              <a:rPr lang="en-US" altLang="ko-KR" sz="2000" b="1" dirty="0">
                <a:ea typeface="+mn-lt"/>
                <a:cs typeface="+mn-lt"/>
              </a:rPr>
              <a:t>- </a:t>
            </a:r>
            <a:r>
              <a:rPr lang="ko-KR" altLang="en-US" sz="2000" b="1" dirty="0">
                <a:ea typeface="+mn-lt"/>
                <a:cs typeface="+mn-lt"/>
              </a:rPr>
              <a:t>트랜스포머</a:t>
            </a:r>
            <a:r>
              <a:rPr lang="ko-KR" sz="2000" b="1" dirty="0">
                <a:ea typeface="+mn-lt"/>
                <a:cs typeface="+mn-lt"/>
              </a:rPr>
              <a:t> 기반 </a:t>
            </a:r>
            <a:r>
              <a:rPr lang="ko-KR" altLang="en-US" sz="2000" b="1" dirty="0">
                <a:ea typeface="+mn-lt"/>
                <a:cs typeface="+mn-lt"/>
              </a:rPr>
              <a:t>모델 </a:t>
            </a:r>
            <a:r>
              <a:rPr lang="en-US" altLang="ko-KR" dirty="0">
                <a:ea typeface="+mn-lt"/>
                <a:cs typeface="+mn-lt"/>
              </a:rPr>
              <a:t>[16][17]</a:t>
            </a:r>
            <a:endParaRPr lang="en-US" dirty="0">
              <a:ea typeface="맑은 고딕"/>
            </a:endParaRPr>
          </a:p>
          <a:p>
            <a:endParaRPr lang="en-US" altLang="ko-KR" sz="2000" dirty="0">
              <a:ea typeface="+mn-lt"/>
              <a:cs typeface="+mn-lt"/>
            </a:endParaRPr>
          </a:p>
          <a:p>
            <a:r>
              <a:rPr lang="ko-KR" altLang="en-US" b="1" dirty="0">
                <a:latin typeface="Malgun Gothic"/>
                <a:ea typeface="Malgun Gothic"/>
              </a:rPr>
              <a:t>전체</a:t>
            </a:r>
            <a:r>
              <a:rPr lang="en-US" altLang="ko-KR" b="1" dirty="0">
                <a:latin typeface="Malgun Gothic"/>
                <a:ea typeface="Malgun Gothic"/>
              </a:rPr>
              <a:t> </a:t>
            </a:r>
            <a:r>
              <a:rPr lang="ko-KR" altLang="en-US" b="1" dirty="0">
                <a:latin typeface="Malgun Gothic"/>
                <a:ea typeface="Malgun Gothic"/>
              </a:rPr>
              <a:t>구조</a:t>
            </a:r>
            <a:r>
              <a:rPr lang="en-US" dirty="0">
                <a:latin typeface="Malgun Gothic"/>
                <a:ea typeface="Malgun Gothic"/>
              </a:rPr>
              <a:t>: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en-US" altLang="ko-KR" dirty="0">
                <a:ea typeface="+mn-lt"/>
                <a:cs typeface="+mn-lt"/>
              </a:rPr>
              <a:t>3</a:t>
            </a:r>
            <a:r>
              <a:rPr lang="ko-KR" altLang="en-US" dirty="0">
                <a:ea typeface="+mn-lt"/>
                <a:cs typeface="+mn-lt"/>
              </a:rPr>
              <a:t>단계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트랜스포머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기반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컬러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생성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시스템</a:t>
            </a:r>
            <a:endParaRPr lang="en-US" dirty="0">
              <a:ea typeface="+mn-lt"/>
              <a:cs typeface="+mn-lt"/>
            </a:endParaRPr>
          </a:p>
          <a:p>
            <a:endParaRPr lang="en-US" altLang="ko-KR" b="1" dirty="0">
              <a:latin typeface="Malgun Gothic"/>
              <a:ea typeface="Malgun Gothic"/>
              <a:cs typeface="+mn-lt"/>
            </a:endParaRPr>
          </a:p>
          <a:p>
            <a:r>
              <a:rPr lang="en-US" altLang="ko-KR" b="1" dirty="0">
                <a:latin typeface="Malgun Gothic"/>
                <a:ea typeface="Malgun Gothic"/>
                <a:cs typeface="+mn-lt"/>
              </a:rPr>
              <a:t> - </a:t>
            </a:r>
            <a:r>
              <a:rPr lang="en-US" altLang="ko-KR" b="1" dirty="0">
                <a:ea typeface="+mn-lt"/>
                <a:cs typeface="+mn-lt"/>
              </a:rPr>
              <a:t>1</a:t>
            </a:r>
            <a:r>
              <a:rPr lang="en-US" b="1" dirty="0">
                <a:ea typeface="+mn-lt"/>
                <a:cs typeface="+mn-lt"/>
              </a:rPr>
              <a:t>단계: Global Prior Network: </a:t>
            </a:r>
            <a:endParaRPr lang="ko-KR" b="1" dirty="0">
              <a:ea typeface="+mn-lt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     이미지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전체의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전반적인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구조와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색상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분포를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이해하고 낮은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해상도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정보를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바탕으로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전역적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색상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흐</a:t>
            </a:r>
            <a:r>
              <a:rPr lang="en-US" dirty="0">
                <a:ea typeface="+mn-lt"/>
                <a:cs typeface="+mn-lt"/>
              </a:rPr>
              <a:t>     </a:t>
            </a:r>
            <a:r>
              <a:rPr lang="en-US" altLang="ko-KR" dirty="0">
                <a:ea typeface="+mn-lt"/>
                <a:cs typeface="+mn-lt"/>
              </a:rPr>
              <a:t> </a:t>
            </a:r>
            <a:endParaRPr lang="ko-KR" altLang="en-US" dirty="0" err="1">
              <a:latin typeface="Malgun Gothic"/>
              <a:ea typeface="Malgun Gothic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     </a:t>
            </a:r>
            <a:r>
              <a:rPr lang="ko-KR" altLang="en-US" dirty="0" err="1">
                <a:ea typeface="+mn-lt"/>
                <a:cs typeface="+mn-lt"/>
              </a:rPr>
              <a:t>름을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학습함</a:t>
            </a:r>
            <a:endParaRPr lang="ko-KR" altLang="en-US" dirty="0">
              <a:latin typeface="Malgun Gothic"/>
              <a:ea typeface="Malgun Gothic"/>
            </a:endParaRPr>
          </a:p>
          <a:p>
            <a:r>
              <a:rPr lang="en-US" altLang="ko-KR" b="1" dirty="0">
                <a:latin typeface="Malgun Gothic"/>
                <a:ea typeface="Malgun Gothic"/>
              </a:rPr>
              <a:t> - </a:t>
            </a:r>
            <a:r>
              <a:rPr lang="en-US" altLang="ko-KR" b="1" dirty="0">
                <a:ea typeface="+mn-lt"/>
                <a:cs typeface="+mn-lt"/>
              </a:rPr>
              <a:t>2</a:t>
            </a:r>
            <a:r>
              <a:rPr lang="ko-KR" altLang="en-US" b="1" dirty="0">
                <a:ea typeface="+mn-lt"/>
                <a:cs typeface="+mn-lt"/>
              </a:rPr>
              <a:t>단계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altLang="ko-KR" b="1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Local Colorization Network:</a:t>
            </a:r>
            <a:endParaRPr lang="ko-KR" b="1" dirty="0">
              <a:latin typeface="Malgun Gothic"/>
              <a:ea typeface="Malgun Gothic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       이미지의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세부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영역을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고해상도로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분할하고 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영역에서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로컬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ko-KR" altLang="en-US" dirty="0">
                <a:ea typeface="+mn-lt"/>
                <a:cs typeface="+mn-lt"/>
              </a:rPr>
              <a:t>지역적</a:t>
            </a:r>
            <a:r>
              <a:rPr lang="en-US" dirty="0">
                <a:ea typeface="+mn-lt"/>
                <a:cs typeface="+mn-lt"/>
              </a:rPr>
              <a:t>)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색상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패턴</a:t>
            </a:r>
            <a:r>
              <a:rPr lang="ko-KR" altLang="en-US" dirty="0">
                <a:ea typeface="+mn-lt"/>
                <a:cs typeface="+mn-lt"/>
              </a:rPr>
              <a:t>을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학습하고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적용함</a:t>
            </a:r>
            <a:endParaRPr lang="ko-KR" dirty="0">
              <a:ea typeface="맑은 고딕"/>
            </a:endParaRPr>
          </a:p>
          <a:p>
            <a:r>
              <a:rPr lang="en-US" altLang="ko-KR" dirty="0">
                <a:latin typeface="Malgun Gothic"/>
                <a:ea typeface="Malgun Gothic"/>
              </a:rPr>
              <a:t> -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b="1" dirty="0">
                <a:ea typeface="+mn-lt"/>
                <a:cs typeface="+mn-lt"/>
              </a:rPr>
              <a:t>3단계: </a:t>
            </a:r>
            <a:r>
              <a:rPr lang="en-US" altLang="ko-KR" b="1" dirty="0">
                <a:ea typeface="+mn-lt"/>
                <a:cs typeface="+mn-lt"/>
              </a:rPr>
              <a:t>Refinement</a:t>
            </a:r>
            <a:r>
              <a:rPr lang="ko-KR" altLang="en-US" b="1" dirty="0">
                <a:ea typeface="+mn-lt"/>
                <a:cs typeface="+mn-lt"/>
              </a:rPr>
              <a:t> </a:t>
            </a:r>
            <a:r>
              <a:rPr lang="en-US" altLang="ko-KR" b="1" dirty="0">
                <a:ea typeface="+mn-lt"/>
                <a:cs typeface="+mn-lt"/>
              </a:rPr>
              <a:t>Network: </a:t>
            </a:r>
            <a:endParaRPr lang="ko-KR" altLang="en-US" b="1" dirty="0">
              <a:latin typeface="Malgun Gothic"/>
              <a:ea typeface="Malgun Gothic"/>
            </a:endParaRPr>
          </a:p>
          <a:p>
            <a:r>
              <a:rPr lang="en-US" altLang="ko-KR" dirty="0">
                <a:latin typeface="Malgun Gothic"/>
                <a:ea typeface="Malgun Gothic"/>
                <a:cs typeface="+mn-lt"/>
              </a:rPr>
              <a:t>       Generator</a:t>
            </a:r>
            <a:r>
              <a:rPr lang="ko-KR" altLang="en-US" dirty="0">
                <a:latin typeface="Malgun Gothic"/>
                <a:ea typeface="Malgun Gothic"/>
                <a:cs typeface="+mn-lt"/>
              </a:rPr>
              <a:t>가 위의 의미 정보와 감성 정보를 결합하여 예술적이고 </a:t>
            </a:r>
            <a:r>
              <a:rPr lang="ko-KR" dirty="0">
                <a:latin typeface="Malgun Gothic"/>
                <a:ea typeface="Malgun Gothic"/>
                <a:cs typeface="+mn-lt"/>
              </a:rPr>
              <a:t>심미적인</a:t>
            </a:r>
            <a:r>
              <a:rPr lang="ko-KR" altLang="en-US" dirty="0">
                <a:latin typeface="Malgun Gothic"/>
                <a:ea typeface="Malgun Gothic"/>
                <a:cs typeface="+mn-lt"/>
              </a:rPr>
              <a:t> 컬러를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latin typeface="Malgun Gothic"/>
                <a:ea typeface="Malgun Gothic"/>
                <a:cs typeface="+mn-lt"/>
              </a:rPr>
              <a:t>생성함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endParaRPr lang="en-US" dirty="0">
              <a:latin typeface="Malgun Gothic"/>
              <a:ea typeface="Malgun Gothic"/>
            </a:endParaRPr>
          </a:p>
          <a:p>
            <a:r>
              <a:rPr lang="en-US" altLang="ko-KR" b="1" dirty="0" err="1">
                <a:ea typeface="+mn-lt"/>
                <a:cs typeface="+mn-lt"/>
              </a:rPr>
              <a:t>ColTran</a:t>
            </a:r>
            <a:r>
              <a:rPr lang="ko-KR" altLang="en-US" b="1" dirty="0">
                <a:ea typeface="+mn-lt"/>
                <a:cs typeface="+mn-lt"/>
              </a:rPr>
              <a:t> </a:t>
            </a:r>
            <a:r>
              <a:rPr lang="ko-KR" b="1" dirty="0">
                <a:ea typeface="+mn-lt"/>
                <a:cs typeface="+mn-lt"/>
              </a:rPr>
              <a:t>사용 이유</a:t>
            </a:r>
          </a:p>
          <a:p>
            <a:r>
              <a:rPr lang="ko-KR" dirty="0">
                <a:latin typeface="Malgun Gothic"/>
                <a:ea typeface="Malgun Gothic"/>
                <a:cs typeface="+mn-lt"/>
              </a:rPr>
              <a:t>- </a:t>
            </a:r>
            <a:r>
              <a:rPr lang="ko-KR" altLang="en-US" dirty="0">
                <a:ea typeface="+mn-lt"/>
                <a:cs typeface="+mn-lt"/>
              </a:rPr>
              <a:t>복잡한 </a:t>
            </a:r>
            <a:r>
              <a:rPr lang="ko-KR" dirty="0">
                <a:ea typeface="+mn-lt"/>
                <a:cs typeface="+mn-lt"/>
              </a:rPr>
              <a:t>장면이나 </a:t>
            </a:r>
            <a:r>
              <a:rPr lang="ko-KR" altLang="en-US" dirty="0">
                <a:ea typeface="+mn-lt"/>
                <a:cs typeface="+mn-lt"/>
              </a:rPr>
              <a:t>고해상도 이미지</a:t>
            </a:r>
            <a:r>
              <a:rPr lang="ko-KR" dirty="0">
                <a:ea typeface="+mn-lt"/>
                <a:cs typeface="+mn-lt"/>
              </a:rPr>
              <a:t>에서도 </a:t>
            </a:r>
            <a:r>
              <a:rPr lang="ko-KR" altLang="en-US" dirty="0">
                <a:ea typeface="+mn-lt"/>
                <a:cs typeface="+mn-lt"/>
              </a:rPr>
              <a:t>정밀한 컬러 복원이 </a:t>
            </a:r>
            <a:r>
              <a:rPr lang="ko-KR" altLang="en-US" dirty="0">
                <a:latin typeface="맑은 고딕"/>
                <a:ea typeface="맑은 고딕"/>
                <a:cs typeface="+mn-lt"/>
              </a:rPr>
              <a:t>가능함</a:t>
            </a:r>
            <a:endParaRPr lang="ko-KR" dirty="0">
              <a:latin typeface="맑은 고딕"/>
              <a:ea typeface="맑은 고딕"/>
            </a:endParaRPr>
          </a:p>
          <a:p>
            <a:pPr marL="285750" indent="-285750">
              <a:buFont typeface="Calibri"/>
              <a:buChar char="-"/>
            </a:pPr>
            <a:r>
              <a:rPr lang="ko-KR" dirty="0">
                <a:ea typeface="+mn-lt"/>
                <a:cs typeface="+mn-lt"/>
              </a:rPr>
              <a:t>트랜스포머의 장점을 활용해 자연스럽고 조화로운 컬러 조합을 </a:t>
            </a:r>
            <a:r>
              <a:rPr lang="ko-KR" altLang="en-US" dirty="0">
                <a:ea typeface="+mn-lt"/>
                <a:cs typeface="+mn-lt"/>
              </a:rPr>
              <a:t>생성함</a:t>
            </a:r>
            <a:endParaRPr lang="ko-KR" altLang="en-US" dirty="0">
              <a:latin typeface="맑은 고딕"/>
              <a:ea typeface="맑은 고딕"/>
            </a:endParaRPr>
          </a:p>
          <a:p>
            <a:pPr marL="285750" indent="-285750">
              <a:buFont typeface="Calibri"/>
              <a:buChar char="-"/>
            </a:pP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ko-KR" b="1" dirty="0">
                <a:latin typeface="Malgun Gothic"/>
                <a:ea typeface="Malgun Gothic"/>
                <a:cs typeface="+mn-lt"/>
              </a:rPr>
              <a:t>한계점</a:t>
            </a:r>
            <a:endParaRPr lang="en-US" altLang="ko-KR" dirty="0">
              <a:latin typeface="Malgun Gothic"/>
              <a:ea typeface="Malgun Gothic"/>
              <a:cs typeface="+mn-lt"/>
            </a:endParaRPr>
          </a:p>
          <a:p>
            <a:r>
              <a:rPr lang="en-US" altLang="ko-KR" dirty="0">
                <a:latin typeface="Malgun Gothic"/>
                <a:ea typeface="Malgun Gothic"/>
                <a:cs typeface="+mn-lt"/>
              </a:rPr>
              <a:t>-</a:t>
            </a:r>
            <a:r>
              <a:rPr lang="ko-KR" dirty="0">
                <a:latin typeface="Malgun Gothic"/>
                <a:ea typeface="Malgun Gothic"/>
                <a:cs typeface="+mn-lt"/>
              </a:rPr>
              <a:t> </a:t>
            </a:r>
            <a:r>
              <a:rPr lang="ko-KR" dirty="0" err="1">
                <a:ea typeface="+mn-lt"/>
                <a:cs typeface="+mn-lt"/>
              </a:rPr>
              <a:t>연산량</a:t>
            </a:r>
            <a:r>
              <a:rPr lang="ko-KR" dirty="0">
                <a:ea typeface="+mn-lt"/>
                <a:cs typeface="+mn-lt"/>
              </a:rPr>
              <a:t> 매우 큼</a:t>
            </a:r>
            <a:endParaRPr lang="en-US" dirty="0">
              <a:latin typeface="Malgun Gothic"/>
              <a:ea typeface="Malgun Gothic"/>
            </a:endParaRPr>
          </a:p>
          <a:p>
            <a:r>
              <a:rPr lang="en-US" altLang="ko-KR" dirty="0">
                <a:latin typeface="Malgun Gothic"/>
                <a:ea typeface="Malgun Gothic"/>
                <a:cs typeface="+mn-lt"/>
              </a:rPr>
              <a:t>-</a:t>
            </a:r>
            <a:r>
              <a:rPr lang="ko-KR" altLang="en-US" dirty="0">
                <a:latin typeface="Malgun Gothic"/>
                <a:ea typeface="Malgun Gothic"/>
                <a:cs typeface="+mn-lt"/>
              </a:rPr>
              <a:t> </a:t>
            </a:r>
            <a:r>
              <a:rPr lang="ko-KR" dirty="0">
                <a:ea typeface="+mn-lt"/>
                <a:cs typeface="+mn-lt"/>
              </a:rPr>
              <a:t>고성능 장비</a:t>
            </a:r>
            <a:r>
              <a:rPr lang="ko-KR" altLang="en-US" dirty="0">
                <a:ea typeface="+mn-lt"/>
                <a:cs typeface="+mn-lt"/>
              </a:rPr>
              <a:t> 요구</a:t>
            </a: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96279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F189C-E5F8-96ED-39C5-209CF37458CB}"/>
              </a:ext>
            </a:extLst>
          </p:cNvPr>
          <p:cNvSpPr txBox="1"/>
          <p:nvPr/>
        </p:nvSpPr>
        <p:spPr>
          <a:xfrm>
            <a:off x="549372" y="837197"/>
            <a:ext cx="11047704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ea typeface="+mn-lt"/>
                <a:cs typeface="+mn-lt"/>
              </a:rPr>
              <a:t>프로젝트에 들어가기 앞서 다양한 색상화 모델 중 무슨 모델이 가장 프로젝트에 적합한지에 대하여 다양한 모델을 구현해본 후 모델 결정 예정</a:t>
            </a:r>
            <a:endParaRPr lang="en-US" altLang="ko-KR" sz="2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n-lt"/>
                <a:cs typeface="+mn-lt"/>
              </a:rPr>
              <a:t>DACON(</a:t>
            </a:r>
            <a:r>
              <a:rPr lang="ko-KR" altLang="en-US" sz="2000" dirty="0" err="1">
                <a:ea typeface="+mn-lt"/>
                <a:cs typeface="+mn-lt"/>
              </a:rPr>
              <a:t>데이콘</a:t>
            </a:r>
            <a:r>
              <a:rPr lang="en-US" altLang="ko-KR" sz="2000" dirty="0">
                <a:ea typeface="+mn-lt"/>
                <a:cs typeface="+mn-lt"/>
              </a:rPr>
              <a:t>) </a:t>
            </a:r>
            <a:r>
              <a:rPr lang="ko-KR" altLang="en-US" sz="2000" dirty="0">
                <a:ea typeface="+mn-lt"/>
                <a:cs typeface="+mn-lt"/>
              </a:rPr>
              <a:t>대회 중 </a:t>
            </a:r>
            <a:r>
              <a:rPr lang="en-US" altLang="ko-KR" sz="2000" dirty="0">
                <a:ea typeface="+mn-lt"/>
                <a:cs typeface="+mn-lt"/>
              </a:rPr>
              <a:t>‘</a:t>
            </a:r>
            <a:r>
              <a:rPr lang="ko-KR" altLang="en-US" sz="2000" dirty="0">
                <a:ea typeface="+mn-lt"/>
                <a:cs typeface="+mn-lt"/>
              </a:rPr>
              <a:t>이미지 색상화 및 손실 부분 복원 </a:t>
            </a:r>
            <a:r>
              <a:rPr lang="en-US" altLang="ko-KR" sz="2000" dirty="0">
                <a:ea typeface="+mn-lt"/>
                <a:cs typeface="+mn-lt"/>
              </a:rPr>
              <a:t>AI </a:t>
            </a:r>
            <a:r>
              <a:rPr lang="ko-KR" altLang="en-US" sz="2000" dirty="0">
                <a:ea typeface="+mn-lt"/>
                <a:cs typeface="+mn-lt"/>
              </a:rPr>
              <a:t>경진대회</a:t>
            </a:r>
            <a:r>
              <a:rPr lang="en-US" altLang="ko-KR" sz="2000" dirty="0">
                <a:ea typeface="+mn-lt"/>
                <a:cs typeface="+mn-lt"/>
              </a:rPr>
              <a:t>‘</a:t>
            </a:r>
            <a:r>
              <a:rPr lang="ko-KR" altLang="en-US" sz="2000" dirty="0">
                <a:ea typeface="+mn-lt"/>
                <a:cs typeface="+mn-lt"/>
              </a:rPr>
              <a:t>에서</a:t>
            </a:r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ko-KR" altLang="en-US" sz="2000" dirty="0">
                <a:ea typeface="+mn-lt"/>
                <a:cs typeface="+mn-lt"/>
              </a:rPr>
              <a:t>손상된 흑백 이미지 색상화 및 복원 부분에 관련된 모델 코드가 있어 구현해볼 예정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6ECB4-F4FE-EC53-EDB6-195C25B046F7}"/>
              </a:ext>
            </a:extLst>
          </p:cNvPr>
          <p:cNvSpPr txBox="1"/>
          <p:nvPr/>
        </p:nvSpPr>
        <p:spPr>
          <a:xfrm>
            <a:off x="559448" y="2830736"/>
            <a:ext cx="1104770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400" b="1" dirty="0">
                <a:ea typeface="+mn-lt"/>
                <a:cs typeface="+mn-lt"/>
              </a:rPr>
              <a:t>DACON(</a:t>
            </a:r>
            <a:r>
              <a:rPr lang="ko-KR" altLang="en-US" sz="2400" b="1" dirty="0" err="1">
                <a:ea typeface="+mn-lt"/>
                <a:cs typeface="+mn-lt"/>
              </a:rPr>
              <a:t>데이콘</a:t>
            </a:r>
            <a:r>
              <a:rPr lang="en-US" altLang="ko-KR" sz="2400" b="1" dirty="0">
                <a:ea typeface="+mn-lt"/>
                <a:cs typeface="+mn-lt"/>
              </a:rPr>
              <a:t>) ‘</a:t>
            </a:r>
            <a:r>
              <a:rPr lang="ko-KR" altLang="en-US" sz="2400" b="1" dirty="0">
                <a:ea typeface="+mn-lt"/>
                <a:cs typeface="+mn-lt"/>
              </a:rPr>
              <a:t>이미지 색상화 및 손실 부분 복원 </a:t>
            </a:r>
            <a:r>
              <a:rPr lang="en-US" altLang="ko-KR" sz="2400" b="1" dirty="0">
                <a:ea typeface="+mn-lt"/>
                <a:cs typeface="+mn-lt"/>
              </a:rPr>
              <a:t>AI </a:t>
            </a:r>
            <a:r>
              <a:rPr lang="ko-KR" altLang="en-US" sz="2400" b="1" dirty="0">
                <a:ea typeface="+mn-lt"/>
                <a:cs typeface="+mn-lt"/>
              </a:rPr>
              <a:t>경진대회</a:t>
            </a:r>
            <a:r>
              <a:rPr lang="en-US" altLang="ko-KR" sz="2400" b="1" dirty="0">
                <a:ea typeface="+mn-lt"/>
                <a:cs typeface="+mn-lt"/>
              </a:rPr>
              <a:t>‘</a:t>
            </a:r>
            <a:endParaRPr lang="ko-KR" altLang="en-US" sz="2400" b="1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98C95-4573-D943-0647-86F8515459A7}"/>
              </a:ext>
            </a:extLst>
          </p:cNvPr>
          <p:cNvSpPr txBox="1"/>
          <p:nvPr/>
        </p:nvSpPr>
        <p:spPr>
          <a:xfrm>
            <a:off x="572148" y="3521383"/>
            <a:ext cx="1104770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ea typeface="+mn-lt"/>
                <a:cs typeface="+mn-lt"/>
              </a:rPr>
              <a:t>이 대회는 이미지 복원 기술에 대한 간략한 소개와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+mj-lt"/>
              </a:rPr>
              <a:t>이러한 복원 기술을 활용할 수 있는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+mj-lt"/>
              </a:rPr>
              <a:t>Vision AI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+mj-lt"/>
              </a:rPr>
              <a:t>알고리즘을 개발하는 것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+mj-lt"/>
                <a:ea typeface="+mn-lt"/>
                <a:cs typeface="+mn-lt"/>
              </a:rPr>
              <a:t>을 대회의 목표로 잡음</a:t>
            </a:r>
            <a:endParaRPr lang="ko-KR" altLang="en-US" sz="2000" dirty="0">
              <a:latin typeface="+mj-lt"/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AD3F7-BC92-EEF8-1485-923006681F69}"/>
              </a:ext>
            </a:extLst>
          </p:cNvPr>
          <p:cNvSpPr txBox="1"/>
          <p:nvPr/>
        </p:nvSpPr>
        <p:spPr>
          <a:xfrm>
            <a:off x="572148" y="4503590"/>
            <a:ext cx="11047704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>
                <a:ea typeface="+mn-lt"/>
                <a:cs typeface="+mn-lt"/>
              </a:rPr>
              <a:t>데이터</a:t>
            </a:r>
            <a:r>
              <a:rPr lang="ko-KR" altLang="en-US" sz="2400" dirty="0">
                <a:ea typeface="+mn-lt"/>
                <a:cs typeface="+mn-lt"/>
              </a:rPr>
              <a:t> </a:t>
            </a:r>
            <a:endParaRPr lang="en-US" altLang="ko-KR" sz="24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ea typeface="+mn-lt"/>
                <a:cs typeface="+mn-lt"/>
              </a:rPr>
              <a:t>train_input</a:t>
            </a:r>
            <a:r>
              <a:rPr lang="en-US" altLang="ko-KR" sz="2000" dirty="0">
                <a:ea typeface="+mn-lt"/>
                <a:cs typeface="+mn-lt"/>
              </a:rPr>
              <a:t>(</a:t>
            </a:r>
            <a:r>
              <a:rPr lang="ko-KR" altLang="en-US" sz="2000" b="0" i="0" dirty="0">
                <a:effectLst/>
                <a:latin typeface="+mj-lt"/>
              </a:rPr>
              <a:t>흑백</a:t>
            </a:r>
            <a:r>
              <a:rPr lang="en-US" altLang="ko-KR" sz="2000" b="0" i="0" dirty="0">
                <a:effectLst/>
                <a:latin typeface="+mj-lt"/>
              </a:rPr>
              <a:t>, </a:t>
            </a:r>
            <a:r>
              <a:rPr lang="ko-KR" altLang="en-US" sz="2000" b="0" i="0" dirty="0">
                <a:effectLst/>
                <a:latin typeface="+mj-lt"/>
              </a:rPr>
              <a:t>일부 손상된 </a:t>
            </a:r>
            <a:r>
              <a:rPr lang="en-US" altLang="ko-KR" sz="2000" b="0" i="0" dirty="0">
                <a:effectLst/>
                <a:latin typeface="+mj-lt"/>
              </a:rPr>
              <a:t>PNG </a:t>
            </a:r>
            <a:r>
              <a:rPr lang="ko-KR" altLang="en-US" sz="2000" b="0" i="0" dirty="0">
                <a:effectLst/>
                <a:latin typeface="+mj-lt"/>
              </a:rPr>
              <a:t>학습 이미지</a:t>
            </a:r>
            <a:r>
              <a:rPr lang="en-US" altLang="ko-KR" sz="2000" b="0" i="0" dirty="0">
                <a:effectLst/>
                <a:latin typeface="Roboto" panose="02000000000000000000" pitchFamily="2" charset="0"/>
              </a:rPr>
              <a:t>)</a:t>
            </a:r>
            <a:r>
              <a:rPr lang="en-US" altLang="ko-KR" sz="2000" dirty="0">
                <a:ea typeface="+mn-lt"/>
                <a:cs typeface="+mn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ea typeface="+mn-lt"/>
                <a:cs typeface="+mn-lt"/>
              </a:rPr>
              <a:t>train_gt</a:t>
            </a:r>
            <a:r>
              <a:rPr lang="en-US" altLang="ko-KR" sz="2000" dirty="0">
                <a:ea typeface="+mn-lt"/>
                <a:cs typeface="+mn-lt"/>
              </a:rPr>
              <a:t>(</a:t>
            </a:r>
            <a:r>
              <a:rPr lang="ko-KR" altLang="en-US" sz="2000" dirty="0">
                <a:ea typeface="+mn-lt"/>
                <a:cs typeface="+mn-lt"/>
              </a:rPr>
              <a:t>원본 이미지</a:t>
            </a:r>
            <a:r>
              <a:rPr lang="en-US" altLang="ko-KR" sz="2000" dirty="0">
                <a:ea typeface="+mn-lt"/>
                <a:cs typeface="+mn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ea typeface="+mn-lt"/>
                <a:cs typeface="+mn-lt"/>
              </a:rPr>
              <a:t>test_input</a:t>
            </a:r>
            <a:r>
              <a:rPr lang="en-US" altLang="ko-KR" sz="2000" dirty="0">
                <a:ea typeface="+mn-lt"/>
                <a:cs typeface="+mn-lt"/>
              </a:rPr>
              <a:t>(</a:t>
            </a:r>
            <a:r>
              <a:rPr lang="ko-KR" altLang="en-US" sz="2000" b="0" i="0" dirty="0">
                <a:effectLst/>
                <a:latin typeface="+mj-lt"/>
              </a:rPr>
              <a:t>흑백</a:t>
            </a:r>
            <a:r>
              <a:rPr lang="en-US" altLang="ko-KR" sz="2000" b="0" i="0" dirty="0">
                <a:effectLst/>
                <a:latin typeface="+mj-lt"/>
              </a:rPr>
              <a:t>, </a:t>
            </a:r>
            <a:r>
              <a:rPr lang="ko-KR" altLang="en-US" sz="2000" b="0" i="0" dirty="0">
                <a:effectLst/>
                <a:latin typeface="+mj-lt"/>
              </a:rPr>
              <a:t>일부 손상된 </a:t>
            </a:r>
            <a:r>
              <a:rPr lang="en-US" altLang="ko-KR" sz="2000" b="0" i="0" dirty="0">
                <a:effectLst/>
                <a:latin typeface="+mj-lt"/>
              </a:rPr>
              <a:t>PNG </a:t>
            </a:r>
            <a:r>
              <a:rPr lang="ko-KR" altLang="en-US" sz="2000" b="0" i="0" dirty="0">
                <a:effectLst/>
                <a:latin typeface="+mj-lt"/>
              </a:rPr>
              <a:t>학습 이미지</a:t>
            </a:r>
            <a:r>
              <a:rPr lang="en-US" altLang="ko-KR" sz="2000" b="0" i="0" dirty="0">
                <a:effectLst/>
                <a:latin typeface="Roboto" panose="02000000000000000000" pitchFamily="2" charset="0"/>
              </a:rPr>
              <a:t>)</a:t>
            </a:r>
            <a:endParaRPr lang="ko-KR" altLang="en-US" sz="2000" dirty="0">
              <a:latin typeface="+mj-lt"/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AA981-4599-E101-99A3-139A88586774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7293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F189C-E5F8-96ED-39C5-209CF37458CB}"/>
              </a:ext>
            </a:extLst>
          </p:cNvPr>
          <p:cNvSpPr txBox="1"/>
          <p:nvPr/>
        </p:nvSpPr>
        <p:spPr>
          <a:xfrm>
            <a:off x="549372" y="837197"/>
            <a:ext cx="1104770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n-lt"/>
                <a:cs typeface="+mn-lt"/>
              </a:rPr>
              <a:t>18G </a:t>
            </a:r>
            <a:r>
              <a:rPr lang="ko-KR" altLang="en-US" sz="2000" dirty="0">
                <a:ea typeface="+mn-lt"/>
                <a:cs typeface="+mn-lt"/>
              </a:rPr>
              <a:t>정도의 비교적 큰 데이터이므로 우선 모델의 실행이 잘되는지 알아보기 위해 데이터 셋에서 일부만 뽑아내어 연습용 데이터인 </a:t>
            </a:r>
            <a:r>
              <a:rPr lang="ko-KR" altLang="en-US" sz="2000" b="1" dirty="0">
                <a:ea typeface="+mn-lt"/>
                <a:cs typeface="+mn-lt"/>
              </a:rPr>
              <a:t>토이</a:t>
            </a:r>
            <a:r>
              <a:rPr lang="en-US" altLang="ko-KR" sz="2000" b="1" dirty="0">
                <a:ea typeface="+mn-lt"/>
                <a:cs typeface="+mn-lt"/>
              </a:rPr>
              <a:t>(Toy) </a:t>
            </a:r>
            <a:r>
              <a:rPr lang="ko-KR" altLang="en-US" sz="2000" b="1" dirty="0">
                <a:ea typeface="+mn-lt"/>
                <a:cs typeface="+mn-lt"/>
              </a:rPr>
              <a:t>데이터를 제작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8655F-1306-6019-F1BE-7330D6667295}"/>
              </a:ext>
            </a:extLst>
          </p:cNvPr>
          <p:cNvSpPr txBox="1"/>
          <p:nvPr/>
        </p:nvSpPr>
        <p:spPr>
          <a:xfrm>
            <a:off x="549372" y="1680904"/>
            <a:ext cx="1104770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 b="1" dirty="0">
                <a:ea typeface="+mn-lt"/>
                <a:cs typeface="+mn-lt"/>
              </a:rPr>
              <a:t>토이</a:t>
            </a:r>
            <a:r>
              <a:rPr lang="en-US" altLang="ko-KR" sz="2000" b="1" dirty="0">
                <a:ea typeface="+mn-lt"/>
                <a:cs typeface="+mn-lt"/>
              </a:rPr>
              <a:t>(Toy) </a:t>
            </a:r>
            <a:r>
              <a:rPr lang="ko-KR" altLang="en-US" sz="2000" b="1" dirty="0">
                <a:ea typeface="+mn-lt"/>
                <a:cs typeface="+mn-lt"/>
              </a:rPr>
              <a:t>데이터 </a:t>
            </a:r>
            <a:endParaRPr lang="en-US" altLang="ko-KR" sz="2000" b="1" dirty="0">
              <a:ea typeface="+mn-lt"/>
              <a:cs typeface="+mn-lt"/>
            </a:endParaRPr>
          </a:p>
          <a:p>
            <a:r>
              <a:rPr lang="en-US" altLang="ko-KR" sz="2000" dirty="0" err="1">
                <a:ea typeface="+mn-lt"/>
                <a:cs typeface="+mn-lt"/>
              </a:rPr>
              <a:t>train_input</a:t>
            </a:r>
            <a:r>
              <a:rPr lang="en-US" altLang="ko-KR" sz="2000" dirty="0">
                <a:ea typeface="+mn-lt"/>
                <a:cs typeface="+mn-lt"/>
              </a:rPr>
              <a:t>(</a:t>
            </a:r>
            <a:r>
              <a:rPr lang="ko-KR" altLang="en-US" sz="2000" b="0" i="0" dirty="0">
                <a:effectLst/>
                <a:latin typeface="+mj-lt"/>
              </a:rPr>
              <a:t>흑백</a:t>
            </a:r>
            <a:r>
              <a:rPr lang="en-US" altLang="ko-KR" sz="2000" b="0" i="0" dirty="0">
                <a:effectLst/>
                <a:latin typeface="+mj-lt"/>
              </a:rPr>
              <a:t>, </a:t>
            </a:r>
            <a:r>
              <a:rPr lang="ko-KR" altLang="en-US" sz="2000" b="0" i="0" dirty="0">
                <a:effectLst/>
                <a:latin typeface="+mj-lt"/>
              </a:rPr>
              <a:t>일부 손상된 </a:t>
            </a:r>
            <a:r>
              <a:rPr lang="en-US" altLang="ko-KR" sz="2000" b="0" i="0" dirty="0">
                <a:effectLst/>
                <a:latin typeface="+mj-lt"/>
              </a:rPr>
              <a:t>PNG </a:t>
            </a:r>
            <a:r>
              <a:rPr lang="ko-KR" altLang="en-US" sz="2000" b="0" i="0" dirty="0">
                <a:effectLst/>
                <a:latin typeface="+mj-lt"/>
              </a:rPr>
              <a:t>학습 이미지</a:t>
            </a:r>
            <a:r>
              <a:rPr lang="en-US" altLang="ko-KR" sz="2000" b="0" i="0" dirty="0">
                <a:effectLst/>
                <a:latin typeface="Roboto" panose="02000000000000000000" pitchFamily="2" charset="0"/>
              </a:rPr>
              <a:t>): 702</a:t>
            </a:r>
            <a:r>
              <a:rPr lang="ko-KR" altLang="en-US" sz="2000" b="0" i="0" dirty="0">
                <a:effectLst/>
                <a:latin typeface="+mj-lt"/>
              </a:rPr>
              <a:t>장</a:t>
            </a:r>
            <a:r>
              <a:rPr lang="en-US" altLang="ko-KR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altLang="ko-KR" sz="2000" dirty="0">
                <a:ea typeface="+mn-lt"/>
                <a:cs typeface="+mn-lt"/>
              </a:rPr>
              <a:t> </a:t>
            </a:r>
          </a:p>
          <a:p>
            <a:r>
              <a:rPr lang="en-US" altLang="ko-KR" sz="2000" dirty="0" err="1">
                <a:ea typeface="+mn-lt"/>
                <a:cs typeface="+mn-lt"/>
              </a:rPr>
              <a:t>train_gt</a:t>
            </a:r>
            <a:r>
              <a:rPr lang="en-US" altLang="ko-KR" sz="2000" dirty="0">
                <a:ea typeface="+mn-lt"/>
                <a:cs typeface="+mn-lt"/>
              </a:rPr>
              <a:t>(</a:t>
            </a:r>
            <a:r>
              <a:rPr lang="ko-KR" altLang="en-US" sz="2000" dirty="0">
                <a:ea typeface="+mn-lt"/>
                <a:cs typeface="+mn-lt"/>
              </a:rPr>
              <a:t>원본 이미지</a:t>
            </a:r>
            <a:r>
              <a:rPr lang="en-US" altLang="ko-KR" sz="2000" dirty="0">
                <a:ea typeface="+mn-lt"/>
                <a:cs typeface="+mn-lt"/>
              </a:rPr>
              <a:t>): 702</a:t>
            </a:r>
            <a:r>
              <a:rPr lang="ko-KR" altLang="en-US" sz="2000" dirty="0">
                <a:ea typeface="+mn-lt"/>
                <a:cs typeface="+mn-lt"/>
              </a:rPr>
              <a:t>장</a:t>
            </a:r>
            <a:endParaRPr lang="en-US" altLang="ko-KR" sz="2000" dirty="0">
              <a:ea typeface="+mn-lt"/>
              <a:cs typeface="+mn-lt"/>
            </a:endParaRPr>
          </a:p>
          <a:p>
            <a:r>
              <a:rPr lang="en-US" altLang="ko-KR" sz="2000" dirty="0" err="1">
                <a:ea typeface="+mn-lt"/>
                <a:cs typeface="+mn-lt"/>
              </a:rPr>
              <a:t>test_input</a:t>
            </a:r>
            <a:r>
              <a:rPr lang="en-US" altLang="ko-KR" sz="2000" dirty="0">
                <a:ea typeface="+mn-lt"/>
                <a:cs typeface="+mn-lt"/>
              </a:rPr>
              <a:t>(</a:t>
            </a:r>
            <a:r>
              <a:rPr lang="ko-KR" altLang="en-US" sz="2000" b="0" i="0" dirty="0">
                <a:effectLst/>
                <a:latin typeface="+mj-lt"/>
              </a:rPr>
              <a:t>흑백</a:t>
            </a:r>
            <a:r>
              <a:rPr lang="en-US" altLang="ko-KR" sz="2000" b="0" i="0" dirty="0">
                <a:effectLst/>
                <a:latin typeface="+mj-lt"/>
              </a:rPr>
              <a:t>, </a:t>
            </a:r>
            <a:r>
              <a:rPr lang="ko-KR" altLang="en-US" sz="2000" b="0" i="0" dirty="0">
                <a:effectLst/>
                <a:latin typeface="+mj-lt"/>
              </a:rPr>
              <a:t>일부 손상된 </a:t>
            </a:r>
            <a:r>
              <a:rPr lang="en-US" altLang="ko-KR" sz="2000" b="0" i="0" dirty="0">
                <a:effectLst/>
                <a:latin typeface="+mj-lt"/>
              </a:rPr>
              <a:t>PNG </a:t>
            </a:r>
            <a:r>
              <a:rPr lang="ko-KR" altLang="en-US" sz="2000" b="0" i="0" dirty="0">
                <a:effectLst/>
                <a:latin typeface="+mj-lt"/>
              </a:rPr>
              <a:t>학습 이미지</a:t>
            </a:r>
            <a:r>
              <a:rPr lang="en-US" altLang="ko-KR" sz="2000" b="0" i="0" dirty="0">
                <a:effectLst/>
                <a:latin typeface="Roboto" panose="02000000000000000000" pitchFamily="2" charset="0"/>
              </a:rPr>
              <a:t>): 27</a:t>
            </a:r>
            <a:r>
              <a:rPr lang="ko-KR" altLang="en-US" sz="2000" b="0" i="0" dirty="0">
                <a:effectLst/>
                <a:latin typeface="+mj-lt"/>
              </a:rPr>
              <a:t>장</a:t>
            </a:r>
            <a:r>
              <a:rPr lang="en-US" altLang="ko-KR" sz="2000" b="0" i="0" dirty="0">
                <a:effectLst/>
                <a:latin typeface="Roboto" panose="02000000000000000000" pitchFamily="2" charset="0"/>
              </a:rPr>
              <a:t> </a:t>
            </a:r>
            <a:endParaRPr lang="ko-KR" altLang="en-US" sz="2000" dirty="0">
              <a:latin typeface="+mj-lt"/>
              <a:ea typeface="+mn-lt"/>
              <a:cs typeface="+mn-lt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0AEFF3B-808A-E799-7BCC-FED003C77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34" y="3419090"/>
            <a:ext cx="2834886" cy="27129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F45FCAF-BAA4-3420-D9B2-91280DE89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5654" y="3449573"/>
            <a:ext cx="2834886" cy="268247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F5AA258-3064-016A-6D25-BA1C13BCA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7574" y="3419090"/>
            <a:ext cx="2712955" cy="2797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46CE2B-F4F1-F151-FAA5-67F3A76CF9E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3187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D23655-F2F5-1F5A-17D3-93A5F59F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2" t="-264" r="7538" b="365"/>
          <a:stretch>
            <a:fillRect/>
          </a:stretch>
        </p:blipFill>
        <p:spPr>
          <a:xfrm>
            <a:off x="445731" y="878410"/>
            <a:ext cx="11313493" cy="3867123"/>
          </a:xfrm>
          <a:prstGeom prst="rect">
            <a:avLst/>
          </a:prstGeom>
        </p:spPr>
      </p:pic>
      <p:sp>
        <p:nvSpPr>
          <p:cNvPr id="93" name="직사각형 11"/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/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5" name="TextBox 16"/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96" name="TextBox 17"/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/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834109" y="1752371"/>
            <a:ext cx="5144892" cy="921864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sz="1400" dirty="0">
                <a:ea typeface="+mn-lt"/>
                <a:cs typeface="+mn-lt"/>
              </a:rPr>
              <a:t>딥러닝</a:t>
            </a:r>
            <a:r>
              <a:rPr lang="en-US" altLang="ko-KR" sz="1400" dirty="0">
                <a:ea typeface="+mn-lt"/>
                <a:cs typeface="+mn-lt"/>
              </a:rPr>
              <a:t> </a:t>
            </a:r>
            <a:r>
              <a:rPr lang="ko-KR" sz="1400" dirty="0">
                <a:ea typeface="+mn-lt"/>
                <a:cs typeface="+mn-lt"/>
              </a:rPr>
              <a:t>학습</a:t>
            </a:r>
            <a:r>
              <a:rPr lang="en-US" sz="1400" dirty="0">
                <a:ea typeface="+mn-lt"/>
                <a:cs typeface="+mn-lt"/>
              </a:rPr>
              <a:t>,</a:t>
            </a:r>
            <a:r>
              <a:rPr lang="en-US" altLang="ko-KR" sz="1400" dirty="0">
                <a:ea typeface="+mn-lt"/>
                <a:cs typeface="+mn-lt"/>
              </a:rPr>
              <a:t> </a:t>
            </a:r>
            <a:r>
              <a:rPr lang="ko-KR" sz="1400" dirty="0">
                <a:ea typeface="+mn-lt"/>
                <a:cs typeface="+mn-lt"/>
              </a:rPr>
              <a:t>이미지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ko-KR" sz="1400" dirty="0">
                <a:ea typeface="+mn-lt"/>
                <a:cs typeface="+mn-lt"/>
              </a:rPr>
              <a:t>처리</a:t>
            </a:r>
            <a:r>
              <a:rPr lang="en-US" altLang="ko-KR" sz="1400" dirty="0">
                <a:ea typeface="+mn-lt"/>
                <a:cs typeface="+mn-lt"/>
              </a:rPr>
              <a:t>,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ko-KR" sz="1400" dirty="0">
                <a:ea typeface="+mn-lt"/>
                <a:cs typeface="+mn-lt"/>
              </a:rPr>
              <a:t>데이터</a:t>
            </a:r>
            <a:r>
              <a:rPr lang="en-US" altLang="ko-KR" sz="1400" dirty="0">
                <a:ea typeface="+mn-lt"/>
                <a:cs typeface="+mn-lt"/>
              </a:rPr>
              <a:t> </a:t>
            </a:r>
            <a:r>
              <a:rPr lang="ko-KR" sz="1400" dirty="0">
                <a:ea typeface="+mn-lt"/>
                <a:cs typeface="+mn-lt"/>
              </a:rPr>
              <a:t>불러오기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ko-KR" sz="1400" dirty="0">
                <a:ea typeface="+mn-lt"/>
                <a:cs typeface="+mn-lt"/>
              </a:rPr>
              <a:t>압축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ko-KR" sz="1400" dirty="0">
                <a:ea typeface="+mn-lt"/>
                <a:cs typeface="+mn-lt"/>
              </a:rPr>
              <a:t>저장을</a:t>
            </a:r>
            <a:r>
              <a:rPr lang="en-US" altLang="ko-KR" sz="1400" dirty="0">
                <a:ea typeface="+mn-lt"/>
                <a:cs typeface="+mn-lt"/>
              </a:rPr>
              <a:t> </a:t>
            </a:r>
            <a:endParaRPr lang="en-US" altLang="ko-KR" sz="1400">
              <a:ea typeface="+mn-lt"/>
              <a:cs typeface="+mn-lt"/>
            </a:endParaRPr>
          </a:p>
          <a:p>
            <a:r>
              <a:rPr lang="ko-KR" altLang="en-US" sz="1400" dirty="0">
                <a:ea typeface="+mn-lt"/>
                <a:cs typeface="+mn-lt"/>
              </a:rPr>
              <a:t>위해</a:t>
            </a:r>
            <a:r>
              <a:rPr lang="ko-KR" sz="1400" dirty="0">
                <a:ea typeface="+mn-lt"/>
                <a:cs typeface="+mn-lt"/>
              </a:rPr>
              <a:t> 필요한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ko-KR" sz="1400" dirty="0">
                <a:ea typeface="+mn-lt"/>
                <a:cs typeface="+mn-lt"/>
              </a:rPr>
              <a:t>주요</a:t>
            </a:r>
            <a:r>
              <a:rPr lang="en-US" altLang="ko-KR" sz="1400" dirty="0">
                <a:ea typeface="+mn-lt"/>
                <a:cs typeface="+mn-lt"/>
              </a:rPr>
              <a:t> </a:t>
            </a:r>
            <a:r>
              <a:rPr lang="ko-KR" sz="1400">
                <a:ea typeface="+mn-lt"/>
                <a:cs typeface="+mn-lt"/>
              </a:rPr>
              <a:t>도구들을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ko-KR" altLang="en-US" sz="1400">
                <a:ea typeface="+mn-lt"/>
                <a:cs typeface="+mn-lt"/>
              </a:rPr>
              <a:t>준비함</a:t>
            </a:r>
            <a:endParaRPr lang="en-US" altLang="ko-KR" sz="1400">
              <a:ea typeface="+mn-lt"/>
              <a:cs typeface="+mn-lt"/>
            </a:endParaRPr>
          </a:p>
          <a:p>
            <a:endParaRPr lang="en-US" altLang="ko-KR" sz="1400">
              <a:ea typeface="+mn-lt"/>
              <a:cs typeface="+mn-lt"/>
            </a:endParaRPr>
          </a:p>
          <a:p>
            <a:r>
              <a:rPr lang="en-US" altLang="ko-KR" sz="1400">
                <a:ea typeface="맑은 고딕"/>
              </a:rPr>
              <a:t>PIL </a:t>
            </a:r>
            <a:r>
              <a:rPr lang="ko-KR" altLang="en-US" sz="1400">
                <a:ea typeface="맑은 고딕"/>
              </a:rPr>
              <a:t>라이브러리 및 </a:t>
            </a:r>
            <a:r>
              <a:rPr lang="en-US" altLang="ko-KR" sz="1400">
                <a:ea typeface="맑은 고딕"/>
              </a:rPr>
              <a:t>transforms </a:t>
            </a:r>
            <a:r>
              <a:rPr lang="ko-KR" altLang="en-US" sz="1400">
                <a:ea typeface="맑은 고딕"/>
              </a:rPr>
              <a:t>모듈로 이미지 파일 조작 가능</a:t>
            </a:r>
            <a:endParaRPr lang="en-US" sz="1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D6D25-E828-5CCA-28F6-031A1C8F61E5}"/>
              </a:ext>
            </a:extLst>
          </p:cNvPr>
          <p:cNvSpPr txBox="1"/>
          <p:nvPr/>
        </p:nvSpPr>
        <p:spPr>
          <a:xfrm>
            <a:off x="6708098" y="4022360"/>
            <a:ext cx="3879955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400" dirty="0">
                <a:ea typeface="+mn-lt"/>
                <a:cs typeface="+mn-lt"/>
              </a:rPr>
              <a:t>모델이 GPU 또는 CPU 중 사용 가능한 장치를 </a:t>
            </a:r>
            <a:endParaRPr lang="ko-KR" altLang="en-US" sz="1400" dirty="0">
              <a:ea typeface="+mn-lt"/>
              <a:cs typeface="+mn-lt"/>
            </a:endParaRPr>
          </a:p>
          <a:p>
            <a:r>
              <a:rPr lang="ko-KR" sz="1400" dirty="0">
                <a:ea typeface="+mn-lt"/>
                <a:cs typeface="+mn-lt"/>
              </a:rPr>
              <a:t>자동으로 선택하도록 </a:t>
            </a:r>
            <a:r>
              <a:rPr lang="ko-KR" altLang="en-US" sz="1400" dirty="0">
                <a:ea typeface="+mn-lt"/>
                <a:cs typeface="+mn-lt"/>
              </a:rPr>
              <a:t>설정함</a:t>
            </a:r>
            <a:endParaRPr lang="ko-KR" altLang="en-US" sz="1400" dirty="0">
              <a:ea typeface="맑은 고딕"/>
            </a:endParaRPr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83C4EA-FDB2-DC74-BA60-01BDEBC81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41" y="4742074"/>
            <a:ext cx="11322327" cy="18915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CB65D8-ED71-C699-58A7-53B433E70956}"/>
              </a:ext>
            </a:extLst>
          </p:cNvPr>
          <p:cNvSpPr txBox="1"/>
          <p:nvPr/>
        </p:nvSpPr>
        <p:spPr>
          <a:xfrm>
            <a:off x="3874169" y="5660718"/>
            <a:ext cx="7303832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400" dirty="0">
                <a:ea typeface="+mn-lt"/>
                <a:cs typeface="+mn-lt"/>
              </a:rPr>
              <a:t>모델 학습을 제어하기 </a:t>
            </a:r>
            <a:r>
              <a:rPr lang="ko-KR" sz="1400">
                <a:ea typeface="+mn-lt"/>
                <a:cs typeface="+mn-lt"/>
              </a:rPr>
              <a:t>위한 </a:t>
            </a:r>
            <a:r>
              <a:rPr lang="ko-KR" altLang="en-US" sz="1400">
                <a:ea typeface="+mn-lt"/>
                <a:cs typeface="+mn-lt"/>
              </a:rPr>
              <a:t>하이퍼파라미터값</a:t>
            </a:r>
            <a:r>
              <a:rPr lang="ko-KR" sz="1400">
                <a:ea typeface="+mn-lt"/>
                <a:cs typeface="+mn-lt"/>
              </a:rPr>
              <a:t>(</a:t>
            </a:r>
            <a:r>
              <a:rPr lang="en-US" altLang="ko-KR" sz="1400">
                <a:ea typeface="+mn-lt"/>
                <a:cs typeface="+mn-lt"/>
              </a:rPr>
              <a:t>epoch </a:t>
            </a:r>
            <a:r>
              <a:rPr lang="ko-KR" sz="1400">
                <a:ea typeface="+mn-lt"/>
                <a:cs typeface="+mn-lt"/>
              </a:rPr>
              <a:t>수, </a:t>
            </a:r>
            <a:r>
              <a:rPr lang="ko-KR" altLang="en-US" sz="1400">
                <a:ea typeface="+mn-lt"/>
                <a:cs typeface="+mn-lt"/>
              </a:rPr>
              <a:t>학습률</a:t>
            </a:r>
            <a:r>
              <a:rPr lang="ko-KR" sz="1400">
                <a:ea typeface="+mn-lt"/>
                <a:cs typeface="+mn-lt"/>
              </a:rPr>
              <a:t>, </a:t>
            </a:r>
            <a:r>
              <a:rPr lang="ko-KR" altLang="en-US" sz="1400">
                <a:ea typeface="+mn-lt"/>
                <a:cs typeface="+mn-lt"/>
              </a:rPr>
              <a:t>배치 크기</a:t>
            </a:r>
            <a:r>
              <a:rPr lang="ko-KR" sz="1400">
                <a:ea typeface="+mn-lt"/>
                <a:cs typeface="+mn-lt"/>
              </a:rPr>
              <a:t>, </a:t>
            </a:r>
            <a:r>
              <a:rPr lang="ko-KR" sz="1400" err="1">
                <a:ea typeface="+mn-lt"/>
                <a:cs typeface="+mn-lt"/>
              </a:rPr>
              <a:t>시드번호</a:t>
            </a:r>
            <a:r>
              <a:rPr lang="ko-KR" sz="1400">
                <a:ea typeface="+mn-lt"/>
                <a:cs typeface="+mn-lt"/>
              </a:rPr>
              <a:t>)</a:t>
            </a:r>
            <a:r>
              <a:rPr lang="ko-KR" altLang="en-US" sz="1400">
                <a:ea typeface="+mn-lt"/>
                <a:cs typeface="+mn-lt"/>
              </a:rPr>
              <a:t>을</a:t>
            </a:r>
          </a:p>
          <a:p>
            <a:r>
              <a:rPr lang="ko-KR" sz="1400" dirty="0">
                <a:ea typeface="+mn-lt"/>
                <a:cs typeface="+mn-lt"/>
              </a:rPr>
              <a:t>하나의 </a:t>
            </a:r>
            <a:r>
              <a:rPr lang="ko-KR" sz="1400" err="1">
                <a:ea typeface="+mn-lt"/>
                <a:cs typeface="+mn-lt"/>
              </a:rPr>
              <a:t>딕셔너리에</a:t>
            </a:r>
            <a:r>
              <a:rPr lang="ko-KR" sz="1400">
                <a:ea typeface="+mn-lt"/>
                <a:cs typeface="+mn-lt"/>
              </a:rPr>
              <a:t> 저장함</a:t>
            </a:r>
            <a:endParaRPr lang="en-US" altLang="ko-KR" sz="140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4DC28-100D-264C-7EF5-C02CDFA5080A}"/>
              </a:ext>
            </a:extLst>
          </p:cNvPr>
          <p:cNvSpPr txBox="1"/>
          <p:nvPr/>
        </p:nvSpPr>
        <p:spPr>
          <a:xfrm>
            <a:off x="5521288" y="4628623"/>
            <a:ext cx="68269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*CUDA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는 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GPU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에서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딥러닝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계산을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빠르게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처리할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수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있게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해주는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tx2">
                    <a:lumMod val="76000"/>
                    <a:lumOff val="24000"/>
                  </a:schemeClr>
                </a:solidFill>
              </a:rPr>
              <a:t>도구셋임</a:t>
            </a:r>
            <a:endParaRPr lang="ko-KR" altLang="en-US" sz="1200" dirty="0" err="1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B0475-8635-8662-7C7D-2EC5083F2A48}"/>
              </a:ext>
            </a:extLst>
          </p:cNvPr>
          <p:cNvSpPr txBox="1"/>
          <p:nvPr/>
        </p:nvSpPr>
        <p:spPr>
          <a:xfrm>
            <a:off x="5834109" y="2940206"/>
            <a:ext cx="43205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  <a:latin typeface="+mn-ea"/>
              </a:rPr>
              <a:t>* PIL </a:t>
            </a:r>
            <a:r>
              <a:rPr lang="ko-KR" altLang="en-US" sz="1200">
                <a:solidFill>
                  <a:schemeClr val="accent1"/>
                </a:solidFill>
                <a:latin typeface="+mn-ea"/>
              </a:rPr>
              <a:t>라이브러리가 다룰 수 있는 이미지 파일 형식으로는</a:t>
            </a:r>
            <a:endParaRPr lang="en-US" altLang="ko-KR" sz="1200">
              <a:solidFill>
                <a:schemeClr val="accent1"/>
              </a:solidFill>
              <a:latin typeface="+mn-ea"/>
            </a:endParaRPr>
          </a:p>
          <a:p>
            <a:r>
              <a:rPr lang="en-US" altLang="ko-KR" sz="1200">
                <a:solidFill>
                  <a:schemeClr val="accent1"/>
                </a:solidFill>
                <a:effectLst/>
                <a:latin typeface="+mn-ea"/>
                <a:cs typeface="Times New Roman" panose="02020603050405020304" pitchFamily="18" charset="0"/>
              </a:rPr>
              <a:t>PPM, PNG, JPEG, GIF, TIFF, BMP</a:t>
            </a:r>
            <a:r>
              <a:rPr lang="ko-KR" altLang="en-US" sz="1200">
                <a:solidFill>
                  <a:schemeClr val="accent1"/>
                </a:solidFill>
                <a:latin typeface="+mn-ea"/>
                <a:cs typeface="Malgun Gothic Semilight" panose="020B0502040204020203" pitchFamily="50" charset="-127"/>
              </a:rPr>
              <a:t>가 있음</a:t>
            </a:r>
            <a:endParaRPr lang="en-US" altLang="ko-KR" sz="1200">
              <a:solidFill>
                <a:schemeClr val="accent1"/>
              </a:solidFill>
              <a:latin typeface="+mn-ea"/>
              <a:cs typeface="Malgun Gothic Semilight" panose="020B0502040204020203" pitchFamily="50" charset="-127"/>
            </a:endParaRPr>
          </a:p>
          <a:p>
            <a:endParaRPr lang="en-US" altLang="ko-KR" sz="1200">
              <a:solidFill>
                <a:schemeClr val="accent1"/>
              </a:solidFill>
              <a:latin typeface="+mn-ea"/>
              <a:cs typeface="Malgun Gothic Semilight" panose="020B0502040204020203" pitchFamily="50" charset="-127"/>
            </a:endParaRPr>
          </a:p>
          <a:p>
            <a:r>
              <a:rPr lang="en-US" altLang="ko-KR" sz="1200" b="0" strike="noStrike" spc="-1">
                <a:solidFill>
                  <a:schemeClr val="accent1"/>
                </a:solidFill>
                <a:latin typeface="+mj-lt"/>
              </a:rPr>
              <a:t>* transform </a:t>
            </a:r>
            <a:r>
              <a:rPr lang="ko-KR" altLang="en-US" sz="1200" b="0" strike="noStrike" spc="-1">
                <a:solidFill>
                  <a:schemeClr val="accent1"/>
                </a:solidFill>
                <a:latin typeface="+mj-lt"/>
              </a:rPr>
              <a:t>모듈은 이미지 텐서 변환 및 정규화에 이용</a:t>
            </a:r>
            <a:endParaRPr lang="ko-KR" altLang="en-US" sz="1200" dirty="0" err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7D61D2-EB01-1CC9-D078-B2BECB647787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24</a:t>
            </a:r>
            <a:endParaRPr lang="en-US" altLang="ko-KR" dirty="0"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B6D8E-0C82-C971-E3BB-2CB3ACA4990B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EE8AC-1E08-CBAD-C7C5-25878577F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FFCF79-F177-334F-168A-0140630C25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30" t="-54" r="7433" b="-775"/>
          <a:stretch>
            <a:fillRect/>
          </a:stretch>
        </p:blipFill>
        <p:spPr>
          <a:xfrm>
            <a:off x="404254" y="901411"/>
            <a:ext cx="11326124" cy="2659505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45CEF396-02A2-AFA3-AFCF-B3AC75D7A89F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BF640B0E-7203-58F5-6069-2C54212F62A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910356C1-53EC-A6EA-23EF-ECA15D8AFC13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B4C9867A-F3DD-457A-56FB-8615AB1D47F8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CB93D12-A2FA-BC33-4228-D7AC938B3B54}"/>
              </a:ext>
            </a:extLst>
          </p:cNvPr>
          <p:cNvSpPr txBox="1"/>
          <p:nvPr/>
        </p:nvSpPr>
        <p:spPr>
          <a:xfrm>
            <a:off x="4643875" y="1712159"/>
            <a:ext cx="6779880" cy="786273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random</a:t>
            </a:r>
            <a:r>
              <a:rPr lang="en-US" sz="1400" b="0" strike="noStrike" spc="-1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altLang="ko-KR" sz="1400" spc="-1" err="1">
                <a:solidFill>
                  <a:srgbClr val="000000"/>
                </a:solidFill>
                <a:ea typeface="+mn-lt"/>
                <a:cs typeface="+mn-lt"/>
              </a:rPr>
              <a:t>numpy</a:t>
            </a:r>
            <a:r>
              <a:rPr lang="en-US" sz="1400" b="0" strike="noStrike" spc="-1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torch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내부에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랜덤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요소가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있기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때문에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같은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모델</a:t>
            </a:r>
            <a:r>
              <a:rPr lang="en-US" sz="1400" b="0" strike="noStrike" spc="-1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같은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데이터</a:t>
            </a:r>
            <a:r>
              <a:rPr 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endParaRPr lang="en-US" altLang="ko-KR" sz="1400" b="1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같은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코드라도 결과가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매번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조금씩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달라지는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경우가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있음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1400" b="1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400" b="1" spc="-1" dirty="0">
                <a:solidFill>
                  <a:srgbClr val="000000"/>
                </a:solidFill>
                <a:ea typeface="+mn-lt"/>
                <a:cs typeface="+mn-lt"/>
              </a:rPr>
              <a:t>seed</a:t>
            </a:r>
            <a:r>
              <a:rPr lang="ko-KR" altLang="en-US" sz="1400" b="1" spc="-1" err="1">
                <a:solidFill>
                  <a:srgbClr val="000000"/>
                </a:solidFill>
                <a:ea typeface="+mn-lt"/>
                <a:cs typeface="+mn-lt"/>
              </a:rPr>
              <a:t>를</a:t>
            </a:r>
            <a:r>
              <a:rPr lang="en-US" altLang="ko-KR" sz="1400" b="1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b="1" spc="-1" dirty="0">
                <a:solidFill>
                  <a:srgbClr val="000000"/>
                </a:solidFill>
                <a:ea typeface="+mn-lt"/>
                <a:cs typeface="+mn-lt"/>
              </a:rPr>
              <a:t>고정하면</a:t>
            </a:r>
            <a:r>
              <a:rPr lang="en-US" altLang="ko-KR" sz="1400" b="1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b="1" spc="-1" dirty="0">
                <a:solidFill>
                  <a:srgbClr val="000000"/>
                </a:solidFill>
                <a:ea typeface="+mn-lt"/>
                <a:cs typeface="+mn-lt"/>
              </a:rPr>
              <a:t>결과</a:t>
            </a:r>
            <a:r>
              <a:rPr lang="en-US" altLang="ko-KR" sz="1400" b="1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b="1" spc="-1" dirty="0">
                <a:solidFill>
                  <a:srgbClr val="000000"/>
                </a:solidFill>
                <a:ea typeface="+mn-lt"/>
                <a:cs typeface="+mn-lt"/>
              </a:rPr>
              <a:t>재현성을</a:t>
            </a:r>
            <a:r>
              <a:rPr lang="en-US" sz="1400" b="1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b="1" spc="-1" dirty="0">
                <a:solidFill>
                  <a:srgbClr val="000000"/>
                </a:solidFill>
                <a:ea typeface="+mn-lt"/>
                <a:cs typeface="+mn-lt"/>
              </a:rPr>
              <a:t>확보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할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수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있음</a:t>
            </a:r>
            <a:endParaRPr lang="en-US" sz="1400">
              <a:ea typeface="맑은 고딕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72DF60B-031D-AE9F-25E7-E65768F8C0A9}"/>
              </a:ext>
            </a:extLst>
          </p:cNvPr>
          <p:cNvGraphicFramePr>
            <a:graphicFrameLocks noGrp="1"/>
          </p:cNvGraphicFramePr>
          <p:nvPr/>
        </p:nvGraphicFramePr>
        <p:xfrm>
          <a:off x="0" y="4422098"/>
          <a:ext cx="5030607" cy="54605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30607">
                  <a:extLst>
                    <a:ext uri="{9D8B030D-6E8A-4147-A177-3AD203B41FA5}">
                      <a16:colId xmlns:a16="http://schemas.microsoft.com/office/drawing/2014/main" val="3712854223"/>
                    </a:ext>
                  </a:extLst>
                </a:gridCol>
              </a:tblGrid>
              <a:tr h="54605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31522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A64BF4D-B06B-60F9-7836-1BF6BBE09042}"/>
              </a:ext>
            </a:extLst>
          </p:cNvPr>
          <p:cNvGraphicFramePr>
            <a:graphicFrameLocks noGrp="1"/>
          </p:cNvGraphicFramePr>
          <p:nvPr/>
        </p:nvGraphicFramePr>
        <p:xfrm>
          <a:off x="4472065" y="2621530"/>
          <a:ext cx="6260843" cy="2959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60843">
                  <a:extLst>
                    <a:ext uri="{9D8B030D-6E8A-4147-A177-3AD203B41FA5}">
                      <a16:colId xmlns:a16="http://schemas.microsoft.com/office/drawing/2014/main" val="3596852616"/>
                    </a:ext>
                  </a:extLst>
                </a:gridCol>
              </a:tblGrid>
              <a:tr h="295922">
                <a:tc>
                  <a:txBody>
                    <a:bodyPr/>
                    <a:lstStyle/>
                    <a:p>
                      <a:r>
                        <a:rPr lang="af-ZA" sz="120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*</a:t>
                      </a:r>
                      <a:r>
                        <a:rPr lang="af-ZA" sz="1200" err="1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deterministic</a:t>
                      </a:r>
                      <a:r>
                        <a:rPr lang="ko-KR" altLang="af-ZA" sz="1200" err="1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은</a:t>
                      </a:r>
                      <a:r>
                        <a:rPr lang="af-ZA" sz="120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 PyTorch</a:t>
                      </a:r>
                      <a:r>
                        <a:rPr lang="ko-KR" altLang="en-US" sz="120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가 항상 같은 연산 순서로 실행되도록 설정 </a:t>
                      </a:r>
                      <a:r>
                        <a:rPr lang="en-US" altLang="ko-KR" sz="120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속도↓</a:t>
                      </a:r>
                      <a:r>
                        <a:rPr lang="en-US" altLang="ko-KR" sz="120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재현성↑</a:t>
                      </a:r>
                      <a:r>
                        <a:rPr lang="en-US" altLang="ko-KR" sz="120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5877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A4768B-8075-6ED2-AADB-F7D69B1916F6}"/>
              </a:ext>
            </a:extLst>
          </p:cNvPr>
          <p:cNvSpPr txBox="1"/>
          <p:nvPr/>
        </p:nvSpPr>
        <p:spPr>
          <a:xfrm>
            <a:off x="4474564" y="2913089"/>
            <a:ext cx="65906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rgbClr val="215E99"/>
                </a:solidFill>
              </a:rPr>
              <a:t>*</a:t>
            </a:r>
            <a:r>
              <a:rPr lang="ko-KR" altLang="en-US" sz="1200" dirty="0" err="1">
                <a:solidFill>
                  <a:srgbClr val="215E99"/>
                </a:solidFill>
              </a:rPr>
              <a:t>benchmark는</a:t>
            </a:r>
            <a:r>
              <a:rPr lang="ko-KR" altLang="en-US" sz="1200" dirty="0">
                <a:solidFill>
                  <a:srgbClr val="215E99"/>
                </a:solidFill>
              </a:rPr>
              <a:t> 여러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연산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방식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중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가장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빠른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걸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자동으로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찾아서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학습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속도를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 err="1">
                <a:solidFill>
                  <a:srgbClr val="215E99"/>
                </a:solidFill>
              </a:rPr>
              <a:t>높여줌</a:t>
            </a:r>
            <a:r>
              <a:rPr lang="en-US" altLang="ko-KR" sz="1200" dirty="0">
                <a:solidFill>
                  <a:srgbClr val="215E99"/>
                </a:solidFill>
              </a:rPr>
              <a:t> (</a:t>
            </a:r>
            <a:r>
              <a:rPr lang="ko-KR" altLang="en-US" sz="1200" dirty="0">
                <a:solidFill>
                  <a:srgbClr val="215E99"/>
                </a:solidFill>
              </a:rPr>
              <a:t>재현성과는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반비례</a:t>
            </a:r>
            <a:r>
              <a:rPr lang="en-US" altLang="ko-KR" sz="1200" dirty="0">
                <a:solidFill>
                  <a:srgbClr val="215E99"/>
                </a:solidFill>
              </a:rPr>
              <a:t>)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DEF78ADF-9AF0-5974-8C56-FC3D941D6EF8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8135F-02F8-CFCB-D65D-B5673F29F512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25</a:t>
            </a:r>
            <a:endParaRPr lang="en-US" altLang="ko-KR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364D3-A952-4AFE-3A86-F5B665B90337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2814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BC31-7281-39D4-13BD-FAFCDC23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842C3F-8324-1C10-8E0C-8940118E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73" t="-697" r="7505" b="255"/>
          <a:stretch>
            <a:fillRect/>
          </a:stretch>
        </p:blipFill>
        <p:spPr>
          <a:xfrm>
            <a:off x="434083" y="705855"/>
            <a:ext cx="11291944" cy="5778134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6C93746D-1470-A008-B263-0D83CD09E073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E435A435-C443-F90F-E51F-8E5C34AC261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B934A07A-A040-50C1-85B0-83D66BD02919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29AAB896-27B6-3F44-1220-3BB8B703E1BA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03CA4E9-63EC-67AC-DD1D-EF1AEF34B396}"/>
              </a:ext>
            </a:extLst>
          </p:cNvPr>
          <p:cNvSpPr txBox="1"/>
          <p:nvPr/>
        </p:nvSpPr>
        <p:spPr>
          <a:xfrm>
            <a:off x="6375930" y="1717131"/>
            <a:ext cx="4912355" cy="508711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손상된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이미지</a:t>
            </a:r>
            <a:r>
              <a:rPr 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(</a:t>
            </a:r>
            <a:r>
              <a:rPr lang="en-US" altLang="ko-KR" sz="1400" spc="-1" dirty="0" err="1">
                <a:solidFill>
                  <a:srgbClr val="000000"/>
                </a:solidFill>
                <a:latin typeface="Consolas"/>
                <a:ea typeface="맑은 고딕"/>
              </a:rPr>
              <a:t>damage_dir</a:t>
            </a:r>
            <a:r>
              <a:rPr 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)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와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원본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이미지</a:t>
            </a:r>
            <a:r>
              <a:rPr 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(</a:t>
            </a:r>
            <a:r>
              <a:rPr lang="en-US" sz="1400" spc="-1" dirty="0" err="1">
                <a:solidFill>
                  <a:srgbClr val="000000"/>
                </a:solidFill>
                <a:latin typeface="Consolas"/>
                <a:ea typeface="맑은 고딕"/>
              </a:rPr>
              <a:t>origin_dir</a:t>
            </a:r>
            <a:r>
              <a:rPr 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)</a:t>
            </a:r>
            <a:r>
              <a:rPr lang="ko-KR" alt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를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동시에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불러오고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전처리도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적용한 코드</a:t>
            </a:r>
            <a:endParaRPr lang="en-US" sz="1400" spc="-1" dirty="0"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BE9EBA-DE1A-5C3F-13F3-F6A7A5A7A298}"/>
              </a:ext>
            </a:extLst>
          </p:cNvPr>
          <p:cNvSpPr txBox="1"/>
          <p:nvPr/>
        </p:nvSpPr>
        <p:spPr>
          <a:xfrm>
            <a:off x="5834109" y="5012924"/>
            <a:ext cx="6575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rgbClr val="215E99"/>
                </a:solidFill>
              </a:rPr>
              <a:t>*</a:t>
            </a:r>
            <a:r>
              <a:rPr lang="ko-KR" sz="1200" dirty="0">
                <a:solidFill>
                  <a:srgbClr val="215E99"/>
                </a:solidFill>
                <a:ea typeface="+mn-lt"/>
                <a:cs typeface="+mn-lt"/>
              </a:rPr>
              <a:t>흑백</a:t>
            </a:r>
            <a:r>
              <a:rPr lang="ko-KR" altLang="en-US" sz="1200" dirty="0">
                <a:solidFill>
                  <a:srgbClr val="215E99"/>
                </a:solidFill>
                <a:ea typeface="+mn-lt"/>
                <a:cs typeface="+mn-lt"/>
              </a:rPr>
              <a:t> </a:t>
            </a:r>
            <a:r>
              <a:rPr lang="ko-KR" sz="1200" dirty="0">
                <a:solidFill>
                  <a:srgbClr val="215E99"/>
                </a:solidFill>
                <a:ea typeface="+mn-lt"/>
                <a:cs typeface="+mn-lt"/>
              </a:rPr>
              <a:t>이미지를 포함한 </a:t>
            </a:r>
            <a:r>
              <a:rPr lang="ko-KR" altLang="en-US" sz="1200" dirty="0">
                <a:solidFill>
                  <a:srgbClr val="215E99"/>
                </a:solidFill>
                <a:ea typeface="+mn-lt"/>
                <a:cs typeface="+mn-lt"/>
              </a:rPr>
              <a:t>모든</a:t>
            </a:r>
            <a:r>
              <a:rPr lang="ko-KR" sz="1200" dirty="0">
                <a:solidFill>
                  <a:srgbClr val="215E99"/>
                </a:solidFill>
                <a:ea typeface="+mn-lt"/>
                <a:cs typeface="+mn-lt"/>
              </a:rPr>
              <a:t> 이미지를</a:t>
            </a:r>
            <a:r>
              <a:rPr lang="ko-KR" altLang="en-US" sz="1200" dirty="0">
                <a:solidFill>
                  <a:srgbClr val="215E99"/>
                </a:solidFill>
                <a:ea typeface="+mn-lt"/>
                <a:cs typeface="+mn-lt"/>
              </a:rPr>
              <a:t> </a:t>
            </a:r>
            <a:r>
              <a:rPr lang="en-US" altLang="ko-KR" sz="1200" dirty="0">
                <a:solidFill>
                  <a:srgbClr val="215E99"/>
                </a:solidFill>
                <a:ea typeface="+mn-lt"/>
                <a:cs typeface="+mn-lt"/>
              </a:rPr>
              <a:t>RGB(</a:t>
            </a:r>
            <a:r>
              <a:rPr lang="ko-KR" sz="1200" dirty="0">
                <a:solidFill>
                  <a:srgbClr val="215E99"/>
                </a:solidFill>
                <a:ea typeface="+mn-lt"/>
                <a:cs typeface="+mn-lt"/>
              </a:rPr>
              <a:t>컬러</a:t>
            </a:r>
            <a:r>
              <a:rPr lang="en-US" altLang="ko-KR" sz="1200" dirty="0">
                <a:solidFill>
                  <a:srgbClr val="215E99"/>
                </a:solidFill>
                <a:ea typeface="+mn-lt"/>
                <a:cs typeface="+mn-lt"/>
              </a:rPr>
              <a:t>)</a:t>
            </a:r>
            <a:r>
              <a:rPr lang="ko-KR" altLang="en-US" sz="1200" dirty="0">
                <a:solidFill>
                  <a:srgbClr val="215E99"/>
                </a:solidFill>
                <a:ea typeface="+mn-lt"/>
                <a:cs typeface="+mn-lt"/>
              </a:rPr>
              <a:t> </a:t>
            </a:r>
            <a:r>
              <a:rPr lang="ko-KR" sz="1200" dirty="0">
                <a:solidFill>
                  <a:srgbClr val="215E99"/>
                </a:solidFill>
                <a:ea typeface="+mn-lt"/>
                <a:cs typeface="+mn-lt"/>
              </a:rPr>
              <a:t>형식으로</a:t>
            </a:r>
            <a:r>
              <a:rPr lang="ko-KR" altLang="en-US" sz="1200" dirty="0">
                <a:solidFill>
                  <a:srgbClr val="215E99"/>
                </a:solidFill>
                <a:ea typeface="+mn-lt"/>
                <a:cs typeface="+mn-lt"/>
              </a:rPr>
              <a:t> </a:t>
            </a:r>
            <a:r>
              <a:rPr lang="ko-KR" sz="1200" dirty="0">
                <a:solidFill>
                  <a:srgbClr val="215E99"/>
                </a:solidFill>
                <a:ea typeface="+mn-lt"/>
                <a:cs typeface="+mn-lt"/>
              </a:rPr>
              <a:t>통일하는</a:t>
            </a:r>
            <a:r>
              <a:rPr lang="ko-KR" altLang="en-US" sz="1200" dirty="0">
                <a:solidFill>
                  <a:srgbClr val="215E99"/>
                </a:solidFill>
                <a:ea typeface="+mn-lt"/>
                <a:cs typeface="+mn-lt"/>
              </a:rPr>
              <a:t> </a:t>
            </a:r>
            <a:r>
              <a:rPr lang="ko-KR" sz="1200" dirty="0">
                <a:solidFill>
                  <a:srgbClr val="215E99"/>
                </a:solidFill>
                <a:ea typeface="+mn-lt"/>
                <a:cs typeface="+mn-lt"/>
              </a:rPr>
              <a:t>처리</a:t>
            </a:r>
            <a:endParaRPr lang="en-US" sz="1200" dirty="0">
              <a:solidFill>
                <a:srgbClr val="215E99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0F0D3-E129-A836-CAD3-158D62E30064}"/>
              </a:ext>
            </a:extLst>
          </p:cNvPr>
          <p:cNvSpPr txBox="1"/>
          <p:nvPr/>
        </p:nvSpPr>
        <p:spPr>
          <a:xfrm>
            <a:off x="5933242" y="5726097"/>
            <a:ext cx="2559728" cy="147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F1330-279D-C283-B5B3-E0D4952C5CDF}"/>
              </a:ext>
            </a:extLst>
          </p:cNvPr>
          <p:cNvSpPr txBox="1"/>
          <p:nvPr/>
        </p:nvSpPr>
        <p:spPr>
          <a:xfrm>
            <a:off x="6199572" y="5518951"/>
            <a:ext cx="4231689" cy="7693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EB8D5-9000-8492-FBE6-471023E74362}"/>
              </a:ext>
            </a:extLst>
          </p:cNvPr>
          <p:cNvSpPr txBox="1"/>
          <p:nvPr/>
        </p:nvSpPr>
        <p:spPr>
          <a:xfrm>
            <a:off x="4897515" y="6155184"/>
            <a:ext cx="5533746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딥러닝 학습 시 (</a:t>
            </a:r>
            <a:r>
              <a:rPr lang="ko-KR" sz="12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)와 (</a:t>
            </a:r>
            <a:r>
              <a:rPr lang="ko-KR" sz="12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B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)를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구분해서 반환하기 위한 구조 (</a:t>
            </a:r>
            <a:r>
              <a:rPr lang="ko-KR" sz="12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딕셔너리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형태)</a:t>
            </a:r>
            <a:endParaRPr lang="ko-KR" sz="12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07F741B-CE58-4998-C2FF-47E34B425AAB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1C1F2-83BD-DC9C-BA69-EFAB33D1882F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26</a:t>
            </a:r>
            <a:endParaRPr lang="en-US" altLang="ko-KR" dirty="0"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A183E-7606-699A-AF6F-724FB542F7BD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8211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815E-380B-452F-3F21-36D89B0A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A058DE-82BD-EE35-CC01-469B97B60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5" t="-327" r="7533"/>
          <a:stretch>
            <a:fillRect/>
          </a:stretch>
        </p:blipFill>
        <p:spPr>
          <a:xfrm>
            <a:off x="404829" y="911479"/>
            <a:ext cx="11314408" cy="3528320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B0994653-2C42-6C76-ADDC-1EA600916196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0B6A27C2-7951-79E4-8D7D-A050E7CF29E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9707A0E4-61A0-F96D-016C-B216B4A36749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D906AF2E-63D8-BD0C-3548-49A283D97F03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7F2873A-37E1-E170-58D6-728B3B2F1236}"/>
              </a:ext>
            </a:extLst>
          </p:cNvPr>
          <p:cNvSpPr txBox="1"/>
          <p:nvPr/>
        </p:nvSpPr>
        <p:spPr>
          <a:xfrm>
            <a:off x="5268525" y="1835620"/>
            <a:ext cx="6136552" cy="561421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학습에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사용할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손상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이미지와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altLang="ko-KR" sz="1400" spc="-1" dirty="0" err="1">
                <a:solidFill>
                  <a:srgbClr val="000000"/>
                </a:solidFill>
                <a:ea typeface="+mn-lt"/>
                <a:cs typeface="+mn-lt"/>
              </a:rPr>
              <a:t>원본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이미지의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경로를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지정하고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/>
            </a:r>
            <a:b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ko-KR" alt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이미지</a:t>
            </a:r>
            <a:r>
              <a:rPr lang="en-US" altLang="ko-KR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전처리를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설정한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뒤에 모델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학습을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위한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altLang="ko-KR" sz="1400" spc="-1" dirty="0" err="1">
                <a:solidFill>
                  <a:srgbClr val="000000"/>
                </a:solidFill>
                <a:latin typeface="Consolas"/>
                <a:ea typeface="맑은 고딕"/>
              </a:rPr>
              <a:t>DataLoader</a:t>
            </a:r>
            <a:r>
              <a:rPr lang="ko-KR" alt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를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altLang="ko-KR" sz="1400" spc="-1" dirty="0" err="1">
                <a:solidFill>
                  <a:srgbClr val="000000"/>
                </a:solidFill>
                <a:ea typeface="+mn-lt"/>
                <a:cs typeface="+mn-lt"/>
              </a:rPr>
              <a:t>생성함</a:t>
            </a:r>
            <a:endParaRPr lang="ko-KR" altLang="en-US" sz="1400" spc="-1" dirty="0" err="1"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659D2-CC70-25D5-48BA-B22CC28E6579}"/>
              </a:ext>
            </a:extLst>
          </p:cNvPr>
          <p:cNvSpPr txBox="1"/>
          <p:nvPr/>
        </p:nvSpPr>
        <p:spPr>
          <a:xfrm>
            <a:off x="3935767" y="2718745"/>
            <a:ext cx="36250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모든 이미지를 동일한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크기로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맞춤</a:t>
            </a:r>
            <a:endParaRPr lang="ko-KR" sz="1200" dirty="0">
              <a:solidFill>
                <a:schemeClr val="tx2">
                  <a:lumMod val="76000"/>
                  <a:lumOff val="24000"/>
                </a:schemeClr>
              </a:solidFill>
              <a:ea typeface="맑은 고딕" panose="021100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C07DC-4917-98BC-1291-172899C963C5}"/>
              </a:ext>
            </a:extLst>
          </p:cNvPr>
          <p:cNvSpPr txBox="1"/>
          <p:nvPr/>
        </p:nvSpPr>
        <p:spPr>
          <a:xfrm>
            <a:off x="3932808" y="2977483"/>
            <a:ext cx="528813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*이미지를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2">
                    <a:lumMod val="76000"/>
                    <a:lumOff val="24000"/>
                  </a:schemeClr>
                </a:solidFill>
              </a:rPr>
              <a:t>PyTorch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가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사용하는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tx2">
                    <a:lumMod val="76000"/>
                    <a:lumOff val="24000"/>
                  </a:schemeClr>
                </a:solidFill>
              </a:rPr>
              <a:t>텐서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형식으로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변환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(0~1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사이로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tx2">
                    <a:lumMod val="76000"/>
                    <a:lumOff val="24000"/>
                  </a:schemeClr>
                </a:solidFill>
              </a:rPr>
              <a:t>정규화됨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)</a:t>
            </a:r>
            <a:endParaRPr lang="en-US" altLang="ko-KR" sz="120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BDA4A-8E87-F30A-B4E9-8B84641CD670}"/>
              </a:ext>
            </a:extLst>
          </p:cNvPr>
          <p:cNvSpPr txBox="1"/>
          <p:nvPr/>
        </p:nvSpPr>
        <p:spPr>
          <a:xfrm>
            <a:off x="3935765" y="3231975"/>
            <a:ext cx="70971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픽셀 값을 -1~1 사이로 정규화 (중앙 기준 </a:t>
            </a:r>
            <a:r>
              <a:rPr 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정규화)</a:t>
            </a:r>
            <a:endParaRPr lang="en-US" altLang="ko-KR" sz="12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endParaRPr lang="en-US" altLang="ko-KR" sz="4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r>
              <a:rPr lang="en-US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* [0.5], [0.5]</a:t>
            </a:r>
            <a:r>
              <a:rPr lang="ko-KR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는 채널</a:t>
            </a:r>
            <a:r>
              <a:rPr lang="en-US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1</a:t>
            </a:r>
            <a:r>
              <a:rPr lang="ko-KR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개</a:t>
            </a:r>
            <a:r>
              <a:rPr lang="en-US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</a:t>
            </a:r>
            <a:r>
              <a:rPr lang="ko-KR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흑백</a:t>
            </a:r>
            <a:r>
              <a:rPr lang="en-US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)</a:t>
            </a:r>
            <a:r>
              <a:rPr lang="ko-KR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에 쓰는 형식으로</a:t>
            </a:r>
            <a:r>
              <a:rPr lang="en-US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RGB</a:t>
            </a:r>
            <a:r>
              <a:rPr lang="ko-KR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일때는</a:t>
            </a:r>
            <a:r>
              <a:rPr lang="en-US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[0.5, 0.5, 0.5], [0.5, 0.5, 0.5]</a:t>
            </a:r>
            <a:r>
              <a:rPr lang="ko-KR" altLang="ko-KR" sz="1200">
                <a:solidFill>
                  <a:schemeClr val="accent1"/>
                </a:solidFill>
                <a:effectLst/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의 형태로 사용</a:t>
            </a:r>
            <a:endParaRPr lang="ko-KR" sz="1200" dirty="0">
              <a:solidFill>
                <a:schemeClr val="accent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C291C327-EF90-48BB-B32D-47B8C10FA992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0EB72-3B24-B26E-4686-B7CBEC40DEA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27</a:t>
            </a:r>
            <a:endParaRPr lang="en-US" altLang="ko-KR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21ED4-D181-E085-DC93-B0B208D8F841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8420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ACBD8-2448-6A13-4829-D66777BC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F2877E-75E3-5B43-67FA-4A21927D0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41" t="-531" r="5976"/>
          <a:stretch>
            <a:fillRect/>
          </a:stretch>
        </p:blipFill>
        <p:spPr>
          <a:xfrm>
            <a:off x="404829" y="728204"/>
            <a:ext cx="11320841" cy="5904794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19B846FA-81B9-8131-4900-F21C6CD8B182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F4C7D6D0-FF67-3A5A-F18F-A9A6017CF44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DCCBFF60-9DCA-5AC2-5FCC-9B0B32046365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593ABD93-5C44-5BCA-2B56-39B171D9874E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0DB588E-3B35-8672-94CB-14F917CCC189}"/>
              </a:ext>
            </a:extLst>
          </p:cNvPr>
          <p:cNvSpPr txBox="1"/>
          <p:nvPr/>
        </p:nvSpPr>
        <p:spPr>
          <a:xfrm>
            <a:off x="6973596" y="1712159"/>
            <a:ext cx="4337732" cy="811257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이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err="1">
                <a:solidFill>
                  <a:srgbClr val="000000"/>
                </a:solidFill>
                <a:ea typeface="+mn-lt"/>
                <a:cs typeface="+mn-lt"/>
              </a:rPr>
              <a:t>Generator는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U-Net </a:t>
            </a:r>
            <a:r>
              <a:rPr lang="en-US" sz="1400" spc="-1" err="1">
                <a:solidFill>
                  <a:srgbClr val="000000"/>
                </a:solidFill>
                <a:ea typeface="+mn-lt"/>
                <a:cs typeface="+mn-lt"/>
              </a:rPr>
              <a:t>구조를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err="1">
                <a:solidFill>
                  <a:srgbClr val="000000"/>
                </a:solidFill>
                <a:ea typeface="+mn-lt"/>
                <a:cs typeface="+mn-lt"/>
              </a:rPr>
              <a:t>기반으로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사용했으며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/>
            </a:r>
            <a:b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손상된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이미지를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점점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압축한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후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다시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복원하며</a:t>
            </a:r>
            <a:r>
              <a:rPr lang="en-US" sz="1400" b="0" strike="noStrike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altLang="ko-KR" sz="1400" spc="-1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ko-KR" altLang="en-US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컬러</a:t>
            </a:r>
            <a:r>
              <a:rPr lang="en-US" altLang="ko-KR" sz="1400" strike="noStrike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이미지를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생성함</a:t>
            </a:r>
            <a:endParaRPr lang="en-US" altLang="ko-KR" sz="1400" spc="-1"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881A9-8636-EE1F-A0FA-52BF1348A204}"/>
              </a:ext>
            </a:extLst>
          </p:cNvPr>
          <p:cNvSpPr txBox="1"/>
          <p:nvPr/>
        </p:nvSpPr>
        <p:spPr>
          <a:xfrm>
            <a:off x="2948866" y="1232517"/>
            <a:ext cx="629426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rgbClr val="215E99"/>
                </a:solidFill>
              </a:rPr>
              <a:t>*이미지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복원</a:t>
            </a:r>
            <a:r>
              <a:rPr lang="en-US" altLang="ko-KR" sz="1200" dirty="0">
                <a:solidFill>
                  <a:srgbClr val="215E99"/>
                </a:solidFill>
              </a:rPr>
              <a:t>(</a:t>
            </a:r>
            <a:r>
              <a:rPr lang="ko-KR" altLang="en-US" sz="1200" dirty="0">
                <a:solidFill>
                  <a:srgbClr val="215E99"/>
                </a:solidFill>
              </a:rPr>
              <a:t>컬러화</a:t>
            </a:r>
            <a:r>
              <a:rPr lang="en-US" altLang="ko-KR" sz="1200" dirty="0">
                <a:solidFill>
                  <a:srgbClr val="215E99"/>
                </a:solidFill>
              </a:rPr>
              <a:t>)</a:t>
            </a:r>
            <a:r>
              <a:rPr lang="ko-KR" altLang="en-US" sz="1200" dirty="0">
                <a:solidFill>
                  <a:srgbClr val="215E99"/>
                </a:solidFill>
              </a:rPr>
              <a:t>을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위한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en-US" altLang="ko-KR" sz="1200" b="1" dirty="0">
                <a:solidFill>
                  <a:srgbClr val="215E99"/>
                </a:solidFill>
              </a:rPr>
              <a:t>U-Net </a:t>
            </a:r>
            <a:r>
              <a:rPr lang="ko-KR" altLang="en-US" sz="1200" b="1" dirty="0">
                <a:solidFill>
                  <a:srgbClr val="215E99"/>
                </a:solidFill>
              </a:rPr>
              <a:t>기반의</a:t>
            </a:r>
            <a:r>
              <a:rPr lang="en-US" altLang="ko-KR" sz="1200" b="1" dirty="0">
                <a:solidFill>
                  <a:srgbClr val="215E99"/>
                </a:solidFill>
              </a:rPr>
              <a:t> </a:t>
            </a:r>
            <a:r>
              <a:rPr lang="ko-KR" altLang="en-US" sz="1200" b="1" dirty="0">
                <a:solidFill>
                  <a:srgbClr val="215E99"/>
                </a:solidFill>
              </a:rPr>
              <a:t>생성</a:t>
            </a:r>
            <a:r>
              <a:rPr lang="en-US" altLang="ko-KR" sz="1200" b="1" dirty="0">
                <a:solidFill>
                  <a:srgbClr val="215E99"/>
                </a:solidFill>
              </a:rPr>
              <a:t> </a:t>
            </a:r>
            <a:r>
              <a:rPr lang="ko-KR" altLang="en-US" sz="1200" b="1" dirty="0">
                <a:solidFill>
                  <a:srgbClr val="215E99"/>
                </a:solidFill>
              </a:rPr>
              <a:t>모델</a:t>
            </a:r>
            <a:endParaRPr lang="en-US" altLang="ko-KR" sz="1200" dirty="0">
              <a:solidFill>
                <a:srgbClr val="215E9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8BE5A-B548-FF25-0507-70405C78CEDC}"/>
              </a:ext>
            </a:extLst>
          </p:cNvPr>
          <p:cNvSpPr txBox="1"/>
          <p:nvPr/>
        </p:nvSpPr>
        <p:spPr>
          <a:xfrm>
            <a:off x="6292516" y="2601371"/>
            <a:ext cx="560671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down_block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에서는 이미지 정보를 압축하는 과정에서 값이 급격히 줄어듦</a:t>
            </a:r>
            <a:endParaRPr lang="en-US" altLang="ko-KR" sz="12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Dying ReLU 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문제가 발생할 수 있기 때문에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LeakyReLU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사용</a:t>
            </a:r>
            <a:endParaRPr lang="ko-KR" sz="12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8CC2C-360D-4AEC-3549-39B8CFAFF998}"/>
              </a:ext>
            </a:extLst>
          </p:cNvPr>
          <p:cNvSpPr txBox="1"/>
          <p:nvPr/>
        </p:nvSpPr>
        <p:spPr>
          <a:xfrm>
            <a:off x="4584668" y="5007341"/>
            <a:ext cx="52184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</a:t>
            </a:r>
            <a:r>
              <a:rPr lang="ko-KR" sz="12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디코더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역할: 이미지 크기를 키우며 복원</a:t>
            </a:r>
            <a:endParaRPr lang="ko-KR" sz="120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07E0AE15-192F-B22B-0B18-1059BC17FD3A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FDBF9-D359-5077-0453-B7FB0AB89E5F}"/>
              </a:ext>
            </a:extLst>
          </p:cNvPr>
          <p:cNvSpPr txBox="1"/>
          <p:nvPr/>
        </p:nvSpPr>
        <p:spPr>
          <a:xfrm>
            <a:off x="4584668" y="4119584"/>
            <a:ext cx="626646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인코더 역할: 이미지 크기를 줄이며 특징 추출</a:t>
            </a:r>
            <a:endParaRPr lang="ko-KR" sz="12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83CFB-3A06-0D33-DB95-81B42F5B1CC1}"/>
              </a:ext>
            </a:extLst>
          </p:cNvPr>
          <p:cNvSpPr txBox="1"/>
          <p:nvPr/>
        </p:nvSpPr>
        <p:spPr>
          <a:xfrm>
            <a:off x="4584668" y="5322489"/>
            <a:ext cx="52184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 초반 블록에만 과적합 방지 및 특징 일반화를 위해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dropout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을 사용</a:t>
            </a:r>
            <a:endParaRPr lang="ko-KR" sz="120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2712C-5D97-EAD6-9C2A-971F91BDFBFA}"/>
              </a:ext>
            </a:extLst>
          </p:cNvPr>
          <p:cNvSpPr txBox="1"/>
          <p:nvPr/>
        </p:nvSpPr>
        <p:spPr>
          <a:xfrm>
            <a:off x="4584667" y="6344375"/>
            <a:ext cx="59670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 이미지를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[-1, 1]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의 범위로 정규화 했으므로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Tanh()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로 출력 범위를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-1~1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로 제한</a:t>
            </a:r>
            <a:endParaRPr lang="ko-KR" sz="120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EE695-44A4-F6BC-B369-85C0A6D02392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28</a:t>
            </a:r>
            <a:endParaRPr lang="en-US" altLang="ko-KR" dirty="0"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A783BC-FEA8-B6CC-11DB-82412099DF07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326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6449-253C-4AED-71A8-E4A99ACB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A78588-BACC-485F-909F-DB3D3361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" r="6145" b="-272"/>
          <a:stretch>
            <a:fillRect/>
          </a:stretch>
        </p:blipFill>
        <p:spPr>
          <a:xfrm>
            <a:off x="258125" y="706775"/>
            <a:ext cx="11480090" cy="6073279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2BE16453-609F-75E8-3D41-4352F50322B9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125ADF5B-FC7B-6F49-1AB2-FF969A2275A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1CEF1870-A522-3148-D565-D5D10F964EA5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8CF5DC27-A2A6-EDC8-38DA-C0FE5DC916D9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EC2E55-F4EB-C29C-18EA-32CC0A265344}"/>
              </a:ext>
            </a:extLst>
          </p:cNvPr>
          <p:cNvSpPr txBox="1"/>
          <p:nvPr/>
        </p:nvSpPr>
        <p:spPr>
          <a:xfrm>
            <a:off x="5866613" y="1227890"/>
            <a:ext cx="5549440" cy="605142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Generator와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Discriminator의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forward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연산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흐름을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정의하고</a:t>
            </a:r>
            <a:r>
              <a:rPr lang="en-US" sz="1400" spc="-1" dirty="0">
                <a:ea typeface="+mn-lt"/>
                <a:cs typeface="+mn-lt"/>
              </a:rPr>
              <a:t/>
            </a:r>
            <a:br>
              <a:rPr lang="en-US" sz="1400" spc="-1" dirty="0">
                <a:ea typeface="+mn-lt"/>
                <a:cs typeface="+mn-lt"/>
              </a:rPr>
            </a:b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학습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안정성을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위해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가중치를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정규분포로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초기화하는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함수를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포함</a:t>
            </a:r>
            <a:endParaRPr lang="en-US" altLang="ko-KR" sz="1400" spc="-1" dirty="0"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7617C-E5D6-A660-C779-D493F6509C8C}"/>
              </a:ext>
            </a:extLst>
          </p:cNvPr>
          <p:cNvSpPr txBox="1"/>
          <p:nvPr/>
        </p:nvSpPr>
        <p:spPr>
          <a:xfrm>
            <a:off x="3629487" y="4043779"/>
            <a:ext cx="545088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solidFill>
                  <a:srgbClr val="215E99"/>
                </a:solidFill>
                <a:ea typeface="+mn-lt"/>
                <a:cs typeface="+mn-lt"/>
              </a:rPr>
              <a:t>*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Dying ReLU 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문제 방지를 위한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LeakyReLU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사용</a:t>
            </a:r>
            <a:endParaRPr lang="ko-KR" altLang="ko-KR" sz="120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E5B13-2E41-771F-B5AB-0BB3880C9DD0}"/>
              </a:ext>
            </a:extLst>
          </p:cNvPr>
          <p:cNvSpPr txBox="1"/>
          <p:nvPr/>
        </p:nvSpPr>
        <p:spPr>
          <a:xfrm>
            <a:off x="5301449" y="3740458"/>
            <a:ext cx="546568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>
                <a:solidFill>
                  <a:srgbClr val="215E99"/>
                </a:solidFill>
              </a:rPr>
              <a:t>*2D </a:t>
            </a:r>
            <a:r>
              <a:rPr lang="ko-KR" altLang="en-US" sz="1200" dirty="0">
                <a:solidFill>
                  <a:srgbClr val="215E99"/>
                </a:solidFill>
              </a:rPr>
              <a:t>이미지에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필터를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적용하는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 err="1">
                <a:solidFill>
                  <a:srgbClr val="215E99"/>
                </a:solidFill>
              </a:rPr>
              <a:t>합성곱</a:t>
            </a:r>
            <a:r>
              <a:rPr lang="en-US" altLang="ko-KR" sz="1200" dirty="0">
                <a:solidFill>
                  <a:srgbClr val="215E99"/>
                </a:solidFill>
              </a:rPr>
              <a:t> </a:t>
            </a:r>
            <a:r>
              <a:rPr lang="ko-KR" altLang="en-US" sz="1200" dirty="0">
                <a:solidFill>
                  <a:srgbClr val="215E99"/>
                </a:solidFill>
              </a:rPr>
              <a:t>연산</a:t>
            </a:r>
            <a:endParaRPr lang="en-US" altLang="ko-KR" sz="1200" dirty="0">
              <a:solidFill>
                <a:srgbClr val="215E9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8FFCD-72EE-A78A-4A63-CBBAEAF93FBA}"/>
              </a:ext>
            </a:extLst>
          </p:cNvPr>
          <p:cNvSpPr txBox="1"/>
          <p:nvPr/>
        </p:nvSpPr>
        <p:spPr>
          <a:xfrm>
            <a:off x="3000652" y="2194264"/>
            <a:ext cx="619069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</a:rPr>
              <a:t>*U-Net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에서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특징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tx2">
                    <a:lumMod val="76000"/>
                    <a:lumOff val="24000"/>
                  </a:schemeClr>
                </a:solidFill>
              </a:rPr>
              <a:t>맵을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skip connection</a:t>
            </a:r>
            <a:r>
              <a:rPr lang="ko-KR" altLang="en-US" sz="1200" dirty="0" err="1">
                <a:solidFill>
                  <a:schemeClr val="tx2">
                    <a:lumMod val="76000"/>
                    <a:lumOff val="24000"/>
                  </a:schemeClr>
                </a:solidFill>
              </a:rPr>
              <a:t>으로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연결함</a:t>
            </a:r>
            <a:endParaRPr lang="en-US" altLang="ko-KR" sz="12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57FCA-8F86-44AF-EFB2-E2FB21F36967}"/>
              </a:ext>
            </a:extLst>
          </p:cNvPr>
          <p:cNvSpPr txBox="1"/>
          <p:nvPr/>
        </p:nvSpPr>
        <p:spPr>
          <a:xfrm>
            <a:off x="3629487" y="4768730"/>
            <a:ext cx="5780719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*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여러 </a:t>
            </a:r>
            <a:r>
              <a:rPr lang="ko-KR" sz="12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Conv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블록을 쌓아 </a:t>
            </a:r>
            <a:r>
              <a:rPr 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이미지의 진위 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평가</a:t>
            </a:r>
            <a:endParaRPr lang="ko-KR" sz="12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F780DAB0-1970-8ED1-C788-E1C671C9BE57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42C11-0D80-4509-A2AB-EFEFC948742A}"/>
              </a:ext>
            </a:extLst>
          </p:cNvPr>
          <p:cNvSpPr txBox="1"/>
          <p:nvPr/>
        </p:nvSpPr>
        <p:spPr>
          <a:xfrm>
            <a:off x="3874946" y="3223035"/>
            <a:ext cx="619069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</a:rPr>
              <a:t>* PatchGAN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</a:rPr>
              <a:t>으로 이미지를 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</a:rPr>
              <a:t>patch 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</a:rPr>
              <a:t>단위로 진위 여부 평가</a:t>
            </a:r>
            <a:endParaRPr lang="en-US" altLang="ko-KR" sz="12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B38A0-366C-8ED4-2AE8-E802B6DEB479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29</a:t>
            </a:r>
            <a:endParaRPr lang="en-US" altLang="ko-KR" dirty="0"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4A958-EE4A-29F6-B0FE-85C865680CC1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8100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69DD-3E30-6799-35A2-FDE74C52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84D924-9D73-A591-5213-4B1580834D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2" t="-113" r="7410"/>
          <a:stretch>
            <a:fillRect/>
          </a:stretch>
        </p:blipFill>
        <p:spPr>
          <a:xfrm>
            <a:off x="404484" y="911472"/>
            <a:ext cx="11329136" cy="4456995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16822F7B-0C83-849C-CDF6-3039AB4AC3D3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0DFCADCD-E663-858F-B929-6AE673B9538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FC150148-D3F7-945F-A60F-60D5F9A31069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4367948B-C947-BB62-9E9F-E1E0A7564A7D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F72A2-9191-F0DB-F86E-BF1E5AF9DAD1}"/>
              </a:ext>
            </a:extLst>
          </p:cNvPr>
          <p:cNvSpPr txBox="1"/>
          <p:nvPr/>
        </p:nvSpPr>
        <p:spPr>
          <a:xfrm>
            <a:off x="4268449" y="1601450"/>
            <a:ext cx="67093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*</a:t>
            </a:r>
            <a:r>
              <a:rPr lang="en-US" altLang="ko-KR" sz="1200" err="1">
                <a:solidFill>
                  <a:schemeClr val="tx2">
                    <a:lumMod val="76000"/>
                    <a:lumOff val="24000"/>
                  </a:schemeClr>
                </a:solidFill>
              </a:rPr>
              <a:t>os.makedirs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()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는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결과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파일을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저장하기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위한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폴더를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자동으로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생성하는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코드이며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이미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폴더가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있어도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en-US" altLang="ko-KR" sz="1200" err="1">
                <a:solidFill>
                  <a:schemeClr val="tx2">
                    <a:lumMod val="76000"/>
                    <a:lumOff val="24000"/>
                  </a:schemeClr>
                </a:solidFill>
              </a:rPr>
              <a:t>exist_ok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=True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로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인해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에러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없이</a:t>
            </a:r>
            <a:r>
              <a:rPr lang="en-US" alt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실행됨</a:t>
            </a:r>
            <a:endParaRPr lang="en-US" altLang="ko-KR" sz="120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27CE6-E553-6B31-67E6-5E994190708E}"/>
              </a:ext>
            </a:extLst>
          </p:cNvPr>
          <p:cNvSpPr txBox="1"/>
          <p:nvPr/>
        </p:nvSpPr>
        <p:spPr>
          <a:xfrm>
            <a:off x="5708721" y="2236613"/>
            <a:ext cx="5956539" cy="5428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/>
              <a:t>모델</a:t>
            </a:r>
            <a:r>
              <a:rPr lang="en-US" altLang="ko-KR" sz="1400" dirty="0"/>
              <a:t> </a:t>
            </a:r>
            <a:r>
              <a:rPr lang="ko-KR" altLang="en-US" sz="1400" dirty="0"/>
              <a:t>학습</a:t>
            </a:r>
            <a:r>
              <a:rPr lang="en-US" altLang="ko-KR" sz="1400" dirty="0"/>
              <a:t> </a:t>
            </a:r>
            <a:r>
              <a:rPr lang="ko-KR" altLang="en-US" sz="1400" dirty="0"/>
              <a:t>전</a:t>
            </a:r>
            <a:r>
              <a:rPr lang="en-US" altLang="ko-KR" sz="1400" dirty="0"/>
              <a:t> </a:t>
            </a:r>
            <a:r>
              <a:rPr lang="ko-KR" altLang="en-US" sz="1400" dirty="0"/>
              <a:t>준비</a:t>
            </a:r>
            <a:r>
              <a:rPr lang="en-US" altLang="ko-KR" sz="1400" dirty="0"/>
              <a:t> </a:t>
            </a:r>
            <a:r>
              <a:rPr lang="ko-KR" altLang="en-US" sz="1400" dirty="0"/>
              <a:t>단계로 </a:t>
            </a:r>
            <a:endParaRPr lang="en-US" altLang="ko-KR" sz="1400" dirty="0"/>
          </a:p>
          <a:p>
            <a:r>
              <a:rPr lang="ko-KR" altLang="en-US" sz="1400" b="1" dirty="0"/>
              <a:t>폴더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생성</a:t>
            </a:r>
            <a:r>
              <a:rPr lang="en-US" altLang="ko-KR" sz="1400" dirty="0"/>
              <a:t>, </a:t>
            </a:r>
            <a:r>
              <a:rPr lang="ko-KR" altLang="en-US" sz="1400" b="1" dirty="0"/>
              <a:t>모델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손실함수</a:t>
            </a:r>
            <a:r>
              <a:rPr lang="en-US" altLang="ko-KR" sz="1400" b="1" dirty="0"/>
              <a:t>/</a:t>
            </a:r>
            <a:r>
              <a:rPr lang="ko-KR" altLang="en-US" sz="1400" b="1" dirty="0" err="1"/>
              <a:t>옵티마이저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초기화</a:t>
            </a:r>
            <a:r>
              <a:rPr lang="en-US" altLang="ko-KR" sz="1400" dirty="0"/>
              <a:t>, </a:t>
            </a:r>
            <a:r>
              <a:rPr lang="ko-KR" altLang="en-US" sz="1400" b="1" dirty="0"/>
              <a:t>가중치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설정</a:t>
            </a:r>
            <a:r>
              <a:rPr lang="en-US" altLang="ko-KR" sz="1400" dirty="0"/>
              <a:t> </a:t>
            </a:r>
            <a:r>
              <a:rPr lang="ko-KR" altLang="en-US" sz="1400" dirty="0"/>
              <a:t>등을</a:t>
            </a:r>
            <a:r>
              <a:rPr lang="en-US" altLang="ko-KR" sz="1400" dirty="0"/>
              <a:t> </a:t>
            </a:r>
            <a:r>
              <a:rPr lang="ko-KR" altLang="en-US" sz="1400" dirty="0"/>
              <a:t>처리함</a:t>
            </a:r>
            <a:endParaRPr lang="en-US" altLang="ko-KR" sz="1400"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B14AD3-3EA0-7085-3152-E6005E9B6313}"/>
              </a:ext>
            </a:extLst>
          </p:cNvPr>
          <p:cNvSpPr txBox="1"/>
          <p:nvPr/>
        </p:nvSpPr>
        <p:spPr>
          <a:xfrm>
            <a:off x="3508232" y="4369803"/>
            <a:ext cx="744411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*</a:t>
            </a:r>
            <a:r>
              <a:rPr lang="ko-KR" sz="12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Generator가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만든 이미지가 진짜라고 </a:t>
            </a:r>
            <a:r>
              <a:rPr lang="ko-KR" sz="12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Discriminator를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속이는 손실</a:t>
            </a:r>
            <a:endParaRPr lang="ko-KR" altLang="en-US" sz="12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E80059-A3F9-ACBE-FFDE-D3EA62CB465A}"/>
              </a:ext>
            </a:extLst>
          </p:cNvPr>
          <p:cNvSpPr txBox="1"/>
          <p:nvPr/>
        </p:nvSpPr>
        <p:spPr>
          <a:xfrm>
            <a:off x="3508232" y="4585030"/>
            <a:ext cx="512163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*</a:t>
            </a:r>
            <a:r>
              <a:rPr lang="ko-KR" sz="12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복원된 이미지와 정답 이미지 사이의 픽셀 </a:t>
            </a:r>
            <a:r>
              <a:rPr lang="ko-KR" sz="1200">
                <a:solidFill>
                  <a:schemeClr val="tx2">
                    <a:lumMod val="76000"/>
                    <a:lumOff val="24000"/>
                  </a:schemeClr>
                </a:solidFill>
              </a:rPr>
              <a:t>차이 손실</a:t>
            </a:r>
            <a:endParaRPr lang="ko-KR" altLang="en-US" sz="1200" dirty="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826A7A8B-8185-9819-7D25-6ECE98FE88A0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19DFD-CB74-D8F7-0CC6-1E22DB41F871}"/>
              </a:ext>
            </a:extLst>
          </p:cNvPr>
          <p:cNvSpPr txBox="1"/>
          <p:nvPr/>
        </p:nvSpPr>
        <p:spPr>
          <a:xfrm>
            <a:off x="5337439" y="3688778"/>
            <a:ext cx="4739808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MSELoss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만 할 경우 디테일이 실제와 다를 수 있고</a:t>
            </a:r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,</a:t>
            </a:r>
          </a:p>
          <a:p>
            <a:r>
              <a:rPr lang="en-US" altLang="ko-KR" sz="120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   L1Loss</a:t>
            </a:r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만 할 경우 복원 이미지가 흐릿할 수 있기 때문에</a:t>
            </a:r>
            <a:endParaRPr lang="en-US" altLang="ko-KR" sz="120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  <a:p>
            <a:endParaRPr lang="en-US" altLang="ko-KR" sz="200">
              <a:solidFill>
                <a:schemeClr val="tx2">
                  <a:lumMod val="76000"/>
                  <a:lumOff val="24000"/>
                </a:schemeClr>
              </a:solidFill>
              <a:ea typeface="맑은 고딕"/>
            </a:endParaRPr>
          </a:p>
          <a:p>
            <a:r>
              <a:rPr lang="ko-KR" altLang="en-US" sz="1200">
                <a:solidFill>
                  <a:schemeClr val="tx2">
                    <a:lumMod val="76000"/>
                    <a:lumOff val="24000"/>
                  </a:schemeClr>
                </a:solidFill>
                <a:ea typeface="맑은 고딕"/>
              </a:rPr>
              <a:t>   두 가지를 모두 사용함</a:t>
            </a:r>
            <a:endParaRPr lang="ko-KR" altLang="en-US" sz="12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DE1BA-0AE5-3B83-29FC-FDC0D9F4BDB9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30</a:t>
            </a:r>
            <a:endParaRPr lang="en-US" altLang="ko-KR" dirty="0"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346B4-0039-B1AC-836A-7AE863EFC0A9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6424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E47D-69D2-DC9F-4B4C-88547DBD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CFB673-AB92-C4D3-D320-348D9870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5" t="741" r="7590" b="130"/>
          <a:stretch>
            <a:fillRect/>
          </a:stretch>
        </p:blipFill>
        <p:spPr>
          <a:xfrm>
            <a:off x="404829" y="858926"/>
            <a:ext cx="11307508" cy="5490377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17B00579-797D-6D9D-D848-5D2880AED46F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010ACC1C-1541-81DB-10E2-B88709D3113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D5780A7D-A70D-632B-8FF7-69B95FC379B2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6E675C0F-F03D-5C06-7500-43A24D0483CC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DE58DC-61C0-D927-3A64-316E248D0C06}"/>
              </a:ext>
            </a:extLst>
          </p:cNvPr>
          <p:cNvSpPr txBox="1"/>
          <p:nvPr/>
        </p:nvSpPr>
        <p:spPr>
          <a:xfrm>
            <a:off x="6211834" y="1436514"/>
            <a:ext cx="4966563" cy="551992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spc="-1" dirty="0" err="1">
                <a:solidFill>
                  <a:srgbClr val="000000"/>
                </a:solidFill>
                <a:latin typeface="Malgun Gothic"/>
                <a:ea typeface="Malgun Gothic"/>
              </a:rPr>
              <a:t>Generator와</a:t>
            </a:r>
            <a:r>
              <a:rPr 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latin typeface="Malgun Gothic"/>
                <a:ea typeface="Malgun Gothic"/>
              </a:rPr>
              <a:t>Discriminator를</a:t>
            </a:r>
            <a:r>
              <a:rPr 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번갈아</a:t>
            </a:r>
            <a:r>
              <a:rPr lang="en-US" altLang="ko-KR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학습하며</a:t>
            </a:r>
            <a:br>
              <a:rPr lang="ko-KR" alt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</a:br>
            <a:r>
              <a:rPr lang="ko-KR" alt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손상</a:t>
            </a:r>
            <a:r>
              <a:rPr 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이미지를</a:t>
            </a:r>
            <a:r>
              <a:rPr 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컬러로</a:t>
            </a:r>
            <a:r>
              <a:rPr 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복원하는</a:t>
            </a:r>
            <a:r>
              <a:rPr lang="en-US" altLang="ko-KR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GAN </a:t>
            </a:r>
            <a:r>
              <a:rPr lang="ko-KR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모델을</a:t>
            </a:r>
            <a:r>
              <a:rPr lang="en-US" altLang="ko-KR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훈련하는</a:t>
            </a:r>
            <a:r>
              <a:rPr lang="en-US" altLang="ko-KR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Malgun Gothic"/>
                <a:ea typeface="Malgun Gothic"/>
              </a:rPr>
              <a:t>코드</a:t>
            </a:r>
            <a:endParaRPr lang="en-US" altLang="ko-KR" sz="1400" spc="-1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en-US" altLang="ko-KR" sz="1400" b="0" strike="noStrike" spc="-1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A7DAD-F51F-FA7E-3203-20C38590163F}"/>
              </a:ext>
            </a:extLst>
          </p:cNvPr>
          <p:cNvSpPr txBox="1"/>
          <p:nvPr/>
        </p:nvSpPr>
        <p:spPr>
          <a:xfrm>
            <a:off x="6909758" y="3056627"/>
            <a:ext cx="4245633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>
                <a:latin typeface="Malgun Gothic"/>
              </a:rPr>
              <a:t>Generator</a:t>
            </a:r>
            <a:r>
              <a:rPr lang="ko-KR" sz="1400" dirty="0">
                <a:ea typeface="Malgun Gothic"/>
              </a:rPr>
              <a:t>는 손상 이미지를 복원하고</a:t>
            </a:r>
            <a:endParaRPr lang="ko-KR" altLang="en-US" dirty="0">
              <a:latin typeface="맑은 고딕" panose="02110004020202020204"/>
              <a:ea typeface="맑은 고딕"/>
            </a:endParaRPr>
          </a:p>
          <a:p>
            <a:r>
              <a:rPr lang="en-US" altLang="ko-KR" sz="1400" dirty="0">
                <a:latin typeface="Malgun Gothic"/>
              </a:rPr>
              <a:t>Discriminator</a:t>
            </a:r>
            <a:r>
              <a:rPr lang="ko-KR" sz="1400" dirty="0">
                <a:ea typeface="Malgun Gothic"/>
              </a:rPr>
              <a:t>는 그 결과가 진짜 </a:t>
            </a:r>
            <a:r>
              <a:rPr lang="ko-KR" sz="1400" err="1">
                <a:ea typeface="Malgun Gothic"/>
              </a:rPr>
              <a:t>같은지</a:t>
            </a:r>
            <a:r>
              <a:rPr lang="ko-KR" sz="1400" dirty="0">
                <a:ea typeface="Malgun Gothic"/>
              </a:rPr>
              <a:t> 판별하며</a:t>
            </a:r>
            <a:r>
              <a:rPr lang="ko-KR" sz="1400" dirty="0">
                <a:latin typeface="Malgun Gothic"/>
                <a:ea typeface="Malgun Gothic"/>
              </a:rPr>
              <a:t>​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endParaRPr lang="ko-KR" altLang="en-US">
              <a:ea typeface="맑은 고딕"/>
            </a:endParaRPr>
          </a:p>
          <a:p>
            <a:r>
              <a:rPr lang="ko-KR" sz="1400" dirty="0">
                <a:ea typeface="Malgun Gothic"/>
              </a:rPr>
              <a:t>두 모델이 서로 경쟁하듯 학습함</a:t>
            </a:r>
            <a:endParaRPr lang="ko-KR" altLang="en-US">
              <a:ea typeface="맑은 고딕"/>
            </a:endParaRP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20893494-3DA9-39D7-7017-7F78021C1807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13983-9501-3EE7-A05F-7AD37F5A5B7B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31</a:t>
            </a:r>
            <a:endParaRPr lang="en-US" altLang="ko-KR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615CF-D807-11CF-C878-35273562AC06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3576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5327-B077-D2D5-FD0B-5159FF52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780E70-39C2-F92F-9902-8D43E818D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62" t="1586" r="8209" b="204"/>
          <a:stretch>
            <a:fillRect/>
          </a:stretch>
        </p:blipFill>
        <p:spPr>
          <a:xfrm>
            <a:off x="363960" y="900000"/>
            <a:ext cx="11271870" cy="5444980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EA51487B-9DF6-5CAF-7CA4-1763BDFE838C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57C4333A-AA04-FF97-8BEC-D25FE5897E3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7B2641FA-CDE5-A6AB-A139-FC7DD223AFB5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52A8EE07-8E66-BBAC-5BC4-214803D799DF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B91E697-7730-6451-92EC-ABB9DFEBD2EF}"/>
              </a:ext>
            </a:extLst>
          </p:cNvPr>
          <p:cNvSpPr txBox="1"/>
          <p:nvPr/>
        </p:nvSpPr>
        <p:spPr>
          <a:xfrm>
            <a:off x="6346699" y="1717698"/>
            <a:ext cx="4599942" cy="638257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학습된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Generator로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손상된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테스트</a:t>
            </a:r>
            <a:r>
              <a:rPr lang="en-US" altLang="ko-KR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이미지를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복원하고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/>
            </a:r>
            <a:b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결과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이미지를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>
                <a:solidFill>
                  <a:srgbClr val="000000"/>
                </a:solidFill>
                <a:ea typeface="+mn-lt"/>
                <a:cs typeface="+mn-lt"/>
              </a:rPr>
              <a:t>폴더에</a:t>
            </a:r>
            <a:r>
              <a:rPr lang="en-US" sz="1400" spc="-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>
                <a:solidFill>
                  <a:srgbClr val="000000"/>
                </a:solidFill>
                <a:ea typeface="+mn-lt"/>
                <a:cs typeface="+mn-lt"/>
              </a:rPr>
              <a:t>저장하는 과정</a:t>
            </a:r>
            <a:endParaRPr lang="en-US" altLang="ko-KR" sz="1400" spc="-1" dirty="0"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33E88C-083E-0EF7-F265-493A0B47BD12}"/>
              </a:ext>
            </a:extLst>
          </p:cNvPr>
          <p:cNvSpPr txBox="1"/>
          <p:nvPr/>
        </p:nvSpPr>
        <p:spPr>
          <a:xfrm>
            <a:off x="3240462" y="2095085"/>
            <a:ext cx="70845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>
                <a:solidFill>
                  <a:srgbClr val="215E99"/>
                </a:solidFill>
                <a:ea typeface="+mn-lt"/>
                <a:cs typeface="+mn-lt"/>
              </a:rPr>
              <a:t>*→ </a:t>
            </a:r>
            <a:r>
              <a:rPr lang="ko-KR" sz="1100" dirty="0">
                <a:solidFill>
                  <a:srgbClr val="215E99"/>
                </a:solidFill>
                <a:ea typeface="+mn-lt"/>
                <a:cs typeface="+mn-lt"/>
              </a:rPr>
              <a:t>모델 입력 형식 맞춤</a:t>
            </a:r>
            <a:endParaRPr lang="ko-KR" sz="1100" dirty="0">
              <a:solidFill>
                <a:srgbClr val="215E9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6934E-7265-750F-090F-F14C90B5907E}"/>
              </a:ext>
            </a:extLst>
          </p:cNvPr>
          <p:cNvSpPr txBox="1"/>
          <p:nvPr/>
        </p:nvSpPr>
        <p:spPr>
          <a:xfrm>
            <a:off x="3861072" y="4777395"/>
            <a:ext cx="584373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>
                <a:solidFill>
                  <a:srgbClr val="215E99"/>
                </a:solidFill>
                <a:ea typeface="맑은 고딕"/>
              </a:rPr>
              <a:t>*</a:t>
            </a:r>
            <a:r>
              <a:rPr lang="ko-KR" altLang="en-US" sz="1100" dirty="0">
                <a:solidFill>
                  <a:srgbClr val="215E99"/>
                </a:solidFill>
                <a:ea typeface="+mn-lt"/>
                <a:cs typeface="+mn-lt"/>
              </a:rPr>
              <a:t>→ </a:t>
            </a:r>
            <a:r>
              <a:rPr lang="ko-KR" sz="1100" dirty="0">
                <a:solidFill>
                  <a:srgbClr val="215E99"/>
                </a:solidFill>
                <a:ea typeface="+mn-lt"/>
                <a:cs typeface="+mn-lt"/>
              </a:rPr>
              <a:t>원래 이미지 형태로 복원</a:t>
            </a:r>
            <a:endParaRPr lang="ko-KR" altLang="en-US" sz="1100" dirty="0">
              <a:solidFill>
                <a:srgbClr val="215E99"/>
              </a:solidFill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7C5DA1A1-A4F0-16ED-34A1-76D1D037D367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E9B00-3779-C42A-41F0-192B01A9E071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32</a:t>
            </a:r>
            <a:endParaRPr lang="en-US" altLang="ko-KR" dirty="0"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30236-4583-B4CF-170F-93D0C1786223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2567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7A8B-5188-83D6-B02C-1A6DF8F9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36AC20-48B9-9A86-9BCA-047F2A6A1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" r="7567" b="325"/>
          <a:stretch>
            <a:fillRect/>
          </a:stretch>
        </p:blipFill>
        <p:spPr>
          <a:xfrm>
            <a:off x="361352" y="901517"/>
            <a:ext cx="11266787" cy="2267805"/>
          </a:xfrm>
          <a:prstGeom prst="rect">
            <a:avLst/>
          </a:prstGeom>
        </p:spPr>
      </p:pic>
      <p:sp>
        <p:nvSpPr>
          <p:cNvPr id="93" name="직사각형 11">
            <a:extLst>
              <a:ext uri="{FF2B5EF4-FFF2-40B4-BE49-F238E27FC236}">
                <a16:creationId xmlns:a16="http://schemas.microsoft.com/office/drawing/2014/main" id="{DF346E79-65A3-C23E-BE48-3A602DDF7468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14500D21-89C1-A51B-AC45-EDAB3DA716C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49DAE759-D77C-A2CB-37BC-75D2972555B2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A704B5BF-DFF6-0644-69A7-BF4E5CB35BA0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endParaRPr lang="en-US" sz="1800" b="0" strike="noStrike" spc="-1">
              <a:solidFill>
                <a:schemeClr val="lt2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DB5FB49-7138-84C6-F6DC-67698115BC97}"/>
              </a:ext>
            </a:extLst>
          </p:cNvPr>
          <p:cNvSpPr txBox="1"/>
          <p:nvPr/>
        </p:nvSpPr>
        <p:spPr>
          <a:xfrm>
            <a:off x="6945077" y="2040362"/>
            <a:ext cx="4039225" cy="566371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복원된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테스트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이미지들을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ZIP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파일로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압축하여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/>
            </a:r>
            <a:b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제출용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파일로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+mn-lt"/>
                <a:cs typeface="+mn-lt"/>
              </a:rPr>
              <a:t>저장하는</a:t>
            </a:r>
            <a:r>
              <a:rPr lang="en-US" sz="14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ea typeface="+mn-lt"/>
                <a:cs typeface="+mn-lt"/>
              </a:rPr>
              <a:t>코드</a:t>
            </a:r>
            <a:endParaRPr lang="en-US" sz="1400" spc="-1" dirty="0">
              <a:ea typeface="+mn-lt"/>
              <a:cs typeface="+mn-lt"/>
            </a:endParaRP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49E73B1F-FE84-3F89-4B41-37092F87FCC5}"/>
              </a:ext>
            </a:extLst>
          </p:cNvPr>
          <p:cNvSpPr/>
          <p:nvPr/>
        </p:nvSpPr>
        <p:spPr>
          <a:xfrm>
            <a:off x="363960" y="127440"/>
            <a:ext cx="40676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altLang="ko-KR" sz="2400" b="1" spc="-1">
                <a:solidFill>
                  <a:schemeClr val="dk1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2400" b="1" spc="-1">
                <a:solidFill>
                  <a:schemeClr val="dk1"/>
                </a:solidFill>
                <a:latin typeface="맑은 고딕"/>
                <a:ea typeface="맑은 고딕"/>
              </a:rPr>
              <a:t>코드 </a:t>
            </a:r>
            <a:r>
              <a:rPr lang="ko-KR" altLang="en-US" sz="2400" b="1" spc="-1" dirty="0">
                <a:solidFill>
                  <a:schemeClr val="dk1"/>
                </a:solidFill>
                <a:latin typeface="맑은 고딕"/>
                <a:ea typeface="맑은 고딕"/>
              </a:rPr>
              <a:t>구조</a:t>
            </a:r>
            <a:endParaRPr lang="ko-KR" sz="2400" b="1" strike="noStrike" spc="-1" dirty="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57FD7-75FA-57A2-8161-BDEC8980161B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33</a:t>
            </a:r>
            <a:endParaRPr lang="en-US" altLang="ko-KR" dirty="0"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FD6A3-B672-B686-A489-372BED80B99F}"/>
              </a:ext>
            </a:extLst>
          </p:cNvPr>
          <p:cNvSpPr txBox="1"/>
          <p:nvPr/>
        </p:nvSpPr>
        <p:spPr>
          <a:xfrm>
            <a:off x="9593318" y="6445406"/>
            <a:ext cx="226235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소윤진</a:t>
            </a:r>
            <a:r>
              <a:rPr lang="en-US" altLang="ko-KR" sz="2000" b="1">
                <a:ea typeface="+mn-lt"/>
                <a:cs typeface="+mn-lt"/>
              </a:rPr>
              <a:t>, </a:t>
            </a: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0969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3</a:t>
            </a:r>
            <a:r>
              <a:rPr lang="en-US" altLang="ko-KR">
                <a:ea typeface="맑은 고딕"/>
              </a:rPr>
              <a:t>4</a:t>
            </a:r>
            <a:endParaRPr lang="en-US" altLang="ko-KR" dirty="0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F189C-E5F8-96ED-39C5-209CF37458CB}"/>
              </a:ext>
            </a:extLst>
          </p:cNvPr>
          <p:cNvSpPr txBox="1"/>
          <p:nvPr/>
        </p:nvSpPr>
        <p:spPr>
          <a:xfrm>
            <a:off x="549372" y="837197"/>
            <a:ext cx="110477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토이</a:t>
            </a:r>
            <a:r>
              <a:rPr lang="en-US" altLang="ko-KR" sz="2000" b="1" dirty="0">
                <a:ea typeface="+mn-lt"/>
                <a:cs typeface="+mn-lt"/>
              </a:rPr>
              <a:t>(Toy) </a:t>
            </a:r>
            <a:r>
              <a:rPr lang="ko-KR" altLang="en-US" sz="2000" b="1" dirty="0">
                <a:ea typeface="+mn-lt"/>
                <a:cs typeface="+mn-lt"/>
              </a:rPr>
              <a:t>데이터를 </a:t>
            </a:r>
            <a:r>
              <a:rPr lang="ko-KR" altLang="en-US" sz="2000" dirty="0">
                <a:ea typeface="+mn-lt"/>
                <a:cs typeface="+mn-lt"/>
              </a:rPr>
              <a:t>이용해 모델을 실행한 결과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96FD6-61BC-E4FA-A2E4-AC95E8E68B03}"/>
              </a:ext>
            </a:extLst>
          </p:cNvPr>
          <p:cNvSpPr txBox="1"/>
          <p:nvPr/>
        </p:nvSpPr>
        <p:spPr>
          <a:xfrm>
            <a:off x="549372" y="1361071"/>
            <a:ext cx="1104770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ea typeface="+mn-lt"/>
                <a:cs typeface="+mn-lt"/>
              </a:rPr>
              <a:t>손상된 이미지</a:t>
            </a:r>
            <a:r>
              <a:rPr lang="en-US" altLang="ko-KR" sz="2000" dirty="0">
                <a:ea typeface="+mn-lt"/>
                <a:cs typeface="+mn-lt"/>
              </a:rPr>
              <a:t>(</a:t>
            </a:r>
            <a:r>
              <a:rPr lang="en-US" altLang="ko-KR" sz="2000" dirty="0" err="1">
                <a:ea typeface="+mn-lt"/>
                <a:cs typeface="+mn-lt"/>
              </a:rPr>
              <a:t>train_input</a:t>
            </a:r>
            <a:r>
              <a:rPr lang="en-US" altLang="ko-KR" sz="2000" dirty="0">
                <a:ea typeface="+mn-lt"/>
                <a:cs typeface="+mn-lt"/>
              </a:rPr>
              <a:t>)</a:t>
            </a:r>
            <a:r>
              <a:rPr lang="ko-KR" altLang="en-US" sz="2000" dirty="0">
                <a:ea typeface="+mn-lt"/>
                <a:cs typeface="+mn-lt"/>
              </a:rPr>
              <a:t>의 손상 부분을 해결하고 오른쪽의 사진처럼 색상화를 단계를 거침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C15F95-5BBF-0FC2-0F8A-B394C32C4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73" y="2996040"/>
            <a:ext cx="2197868" cy="17585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00E5CB-7D44-A158-6902-BCE5F15BD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305" y="2128743"/>
            <a:ext cx="7993437" cy="320067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174235B-9E67-4DF8-3620-CAC2DCE9854B}"/>
              </a:ext>
            </a:extLst>
          </p:cNvPr>
          <p:cNvCxnSpPr>
            <a:cxnSpLocks/>
          </p:cNvCxnSpPr>
          <p:nvPr/>
        </p:nvCxnSpPr>
        <p:spPr>
          <a:xfrm flipH="1">
            <a:off x="2969341" y="2261419"/>
            <a:ext cx="540964" cy="734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DA768D2-4EEA-7910-7657-8ECDA29CE7C3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162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35</a:t>
            </a:r>
            <a:endParaRPr lang="en-US" altLang="ko-KR" dirty="0">
              <a:ea typeface="맑은 고딕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F3178D6-3D80-D1E2-81A4-58EFDEFB3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7" y="855407"/>
            <a:ext cx="11021961" cy="5608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B1843F-EE95-AA16-590A-7C7585C97A28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15542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3</a:t>
            </a:r>
            <a:r>
              <a:rPr lang="en-US" altLang="ko-KR">
                <a:ea typeface="맑은 고딕"/>
              </a:rPr>
              <a:t>6</a:t>
            </a:r>
            <a:endParaRPr lang="en-US" altLang="ko-KR" dirty="0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C9FE9-27D0-9E16-57B1-DDED63298743}"/>
              </a:ext>
            </a:extLst>
          </p:cNvPr>
          <p:cNvSpPr txBox="1"/>
          <p:nvPr/>
        </p:nvSpPr>
        <p:spPr>
          <a:xfrm>
            <a:off x="549372" y="837197"/>
            <a:ext cx="1104770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ea typeface="+mn-lt"/>
                <a:cs typeface="+mn-lt"/>
              </a:rPr>
              <a:t>구현한 모델은 </a:t>
            </a:r>
            <a:r>
              <a:rPr lang="en-US" altLang="ko-KR" b="1" dirty="0"/>
              <a:t>U-Net </a:t>
            </a:r>
            <a:r>
              <a:rPr lang="ko-KR" altLang="en-US" b="1" dirty="0"/>
              <a:t>기반 </a:t>
            </a:r>
            <a:r>
              <a:rPr lang="en-US" altLang="ko-KR" b="1" dirty="0"/>
              <a:t>Generator + </a:t>
            </a:r>
            <a:r>
              <a:rPr lang="en-US" altLang="ko-KR" b="1" dirty="0" err="1"/>
              <a:t>PatchGAN</a:t>
            </a:r>
            <a:r>
              <a:rPr lang="en-US" altLang="ko-KR" b="1" dirty="0"/>
              <a:t> Discriminator</a:t>
            </a:r>
            <a:r>
              <a:rPr lang="ko-KR" altLang="en-US" dirty="0"/>
              <a:t>를 사용하는 </a:t>
            </a:r>
            <a:r>
              <a:rPr lang="en-US" altLang="ko-KR" b="1" dirty="0"/>
              <a:t>Pix2Pix </a:t>
            </a:r>
            <a:r>
              <a:rPr lang="ko-KR" altLang="en-US" b="1" dirty="0"/>
              <a:t>구조</a:t>
            </a:r>
            <a:r>
              <a:rPr lang="ko-KR" altLang="en-US" dirty="0"/>
              <a:t>를 기반으로 한 </a:t>
            </a:r>
            <a:r>
              <a:rPr lang="ko-KR" altLang="en-US" b="1" dirty="0"/>
              <a:t>이미지 복원</a:t>
            </a:r>
            <a:r>
              <a:rPr lang="en-US" altLang="ko-KR" b="1" dirty="0"/>
              <a:t> </a:t>
            </a:r>
            <a:r>
              <a:rPr lang="ko-KR" altLang="en-US" b="1" dirty="0"/>
              <a:t>및 변환 모델</a:t>
            </a:r>
            <a:endParaRPr lang="en-US" altLang="ko-KR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35BE9-5DAA-1A6A-D105-267C5E45EC84}"/>
              </a:ext>
            </a:extLst>
          </p:cNvPr>
          <p:cNvSpPr txBox="1"/>
          <p:nvPr/>
        </p:nvSpPr>
        <p:spPr>
          <a:xfrm>
            <a:off x="549372" y="1619349"/>
            <a:ext cx="1098575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모델의 구조 해석</a:t>
            </a:r>
            <a:endParaRPr lang="en-US" altLang="ko-KR" sz="2000" b="1" dirty="0">
              <a:ea typeface="+mn-lt"/>
              <a:cs typeface="+mn-lt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B7D0D3-9C88-0BB2-9E15-FEFCADBE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6" y="2155280"/>
            <a:ext cx="10768211" cy="20347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20B7B1-1905-1BDA-F233-49E7D2D26C2D}"/>
              </a:ext>
            </a:extLst>
          </p:cNvPr>
          <p:cNvSpPr txBox="1"/>
          <p:nvPr/>
        </p:nvSpPr>
        <p:spPr>
          <a:xfrm>
            <a:off x="943558" y="4325817"/>
            <a:ext cx="11047704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100" b="1" dirty="0">
                <a:latin typeface="+mj-lt"/>
              </a:rPr>
              <a:t>U-Net </a:t>
            </a:r>
            <a:r>
              <a:rPr lang="ko-KR" altLang="en-US" sz="2100" b="1" dirty="0">
                <a:latin typeface="+mj-lt"/>
              </a:rPr>
              <a:t>기반의 </a:t>
            </a:r>
            <a:r>
              <a:rPr lang="en-US" altLang="ko-KR" sz="2100" b="1" dirty="0">
                <a:latin typeface="+mj-lt"/>
              </a:rPr>
              <a:t>Generator (T) </a:t>
            </a:r>
            <a:r>
              <a:rPr lang="ko-KR" altLang="en-US" sz="2100" b="1" dirty="0">
                <a:latin typeface="+mj-lt"/>
              </a:rPr>
              <a:t>부분</a:t>
            </a:r>
            <a:endParaRPr lang="en-US" altLang="ko-KR" sz="21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인코더</a:t>
            </a:r>
            <a:r>
              <a:rPr lang="en-US" altLang="ko-KR" sz="2000" dirty="0"/>
              <a:t>(encoder) </a:t>
            </a:r>
            <a:r>
              <a:rPr lang="ko-KR" altLang="en-US" sz="2000" dirty="0"/>
              <a:t>부분에서 입력 이미지가 점점 축소되며 특징을 추출함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err="1"/>
              <a:t>디코더</a:t>
            </a:r>
            <a:r>
              <a:rPr lang="en-US" altLang="ko-KR" sz="2000" dirty="0"/>
              <a:t>(decoder) </a:t>
            </a:r>
            <a:r>
              <a:rPr lang="ko-KR" altLang="en-US" sz="2000" dirty="0"/>
              <a:t>부분에서 이미지에 대한 해상도를 다시 복원함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점선 화살표는 입력과 출력 정보를 직접 연결하는 </a:t>
            </a:r>
            <a:r>
              <a:rPr lang="en-US" altLang="ko-KR" sz="2000" dirty="0"/>
              <a:t>U-Net</a:t>
            </a:r>
            <a:r>
              <a:rPr lang="ko-KR" altLang="en-US" sz="2000" dirty="0"/>
              <a:t>의 핵심인 </a:t>
            </a:r>
            <a:r>
              <a:rPr lang="ko-KR" altLang="en-US" sz="2000" dirty="0" err="1"/>
              <a:t>스킵</a:t>
            </a:r>
            <a:r>
              <a:rPr lang="ko-KR" altLang="en-US" sz="2000" dirty="0"/>
              <a:t> 커넥션이며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저수준</a:t>
            </a:r>
            <a:r>
              <a:rPr lang="ko-KR" altLang="en-US" sz="2000" dirty="0"/>
              <a:t> 정보를 고수준 레이어에 직접 전달해 디테일 유지함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3AA00-45F1-AC91-A415-72C576CD9C09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375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3</a:t>
            </a:r>
            <a:r>
              <a:rPr lang="en-US" altLang="ko-KR">
                <a:ea typeface="맑은 고딕"/>
              </a:rPr>
              <a:t>7</a:t>
            </a:r>
            <a:endParaRPr lang="en-US" altLang="ko-KR" dirty="0"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35BE9-5DAA-1A6A-D105-267C5E45EC84}"/>
              </a:ext>
            </a:extLst>
          </p:cNvPr>
          <p:cNvSpPr txBox="1"/>
          <p:nvPr/>
        </p:nvSpPr>
        <p:spPr>
          <a:xfrm>
            <a:off x="549371" y="833071"/>
            <a:ext cx="1098575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모델의 구조 해석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0B7B1-1905-1BDA-F233-49E7D2D26C2D}"/>
              </a:ext>
            </a:extLst>
          </p:cNvPr>
          <p:cNvSpPr txBox="1"/>
          <p:nvPr/>
        </p:nvSpPr>
        <p:spPr>
          <a:xfrm>
            <a:off x="745672" y="3750668"/>
            <a:ext cx="11047704" cy="22621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100" b="1" dirty="0"/>
              <a:t>Discriminator (</a:t>
            </a:r>
            <a:r>
              <a:rPr lang="en-US" altLang="ko-KR" sz="2100" b="1" dirty="0" err="1"/>
              <a:t>PatchGAN</a:t>
            </a:r>
            <a:r>
              <a:rPr lang="en-US" altLang="ko-KR" sz="2100" b="1" dirty="0"/>
              <a:t> </a:t>
            </a:r>
            <a:r>
              <a:rPr lang="ko-KR" altLang="en-US" sz="2100" b="1" dirty="0"/>
              <a:t>구조</a:t>
            </a:r>
            <a:r>
              <a:rPr lang="en-US" altLang="ko-KR" sz="2100" b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U-Net </a:t>
            </a:r>
            <a:r>
              <a:rPr lang="ko-KR" altLang="en-US" sz="2000" dirty="0">
                <a:latin typeface="+mj-lt"/>
              </a:rPr>
              <a:t>기반의 </a:t>
            </a:r>
            <a:r>
              <a:rPr lang="en-US" altLang="ko-KR" sz="2000" dirty="0">
                <a:latin typeface="+mj-lt"/>
              </a:rPr>
              <a:t>Generator (T) </a:t>
            </a:r>
            <a:r>
              <a:rPr lang="ko-KR" altLang="en-US" sz="2000" dirty="0">
                <a:latin typeface="+mj-lt"/>
              </a:rPr>
              <a:t>부분에서 생성한 </a:t>
            </a:r>
            <a:r>
              <a:rPr lang="ko-KR" altLang="en-US" sz="2000" b="1" dirty="0"/>
              <a:t>결과 이미지인 </a:t>
            </a:r>
            <a:r>
              <a:rPr lang="en-US" altLang="ko-KR" sz="2000" b="1" dirty="0">
                <a:latin typeface="+mj-lt"/>
              </a:rPr>
              <a:t>T(x)</a:t>
            </a:r>
            <a:r>
              <a:rPr lang="ko-KR" altLang="en-US" sz="2000" dirty="0">
                <a:latin typeface="+mj-lt"/>
              </a:rPr>
              <a:t>와</a:t>
            </a:r>
            <a:r>
              <a:rPr lang="ko-KR" altLang="en-US" sz="2000" dirty="0"/>
              <a:t> </a:t>
            </a:r>
            <a:r>
              <a:rPr lang="ko-KR" altLang="en-US" sz="2000" b="1" dirty="0"/>
              <a:t>정답 이미지인 </a:t>
            </a:r>
            <a:r>
              <a:rPr lang="en-US" altLang="ko-KR" sz="2000" b="1" dirty="0"/>
              <a:t>Ground Truth y</a:t>
            </a:r>
            <a:r>
              <a:rPr lang="en-US" altLang="ko-KR" sz="2000" dirty="0"/>
              <a:t> </a:t>
            </a:r>
            <a:r>
              <a:rPr lang="ko-KR" altLang="en-US" sz="2000" dirty="0"/>
              <a:t>두 이미지쌍을 이용해 판별에 사용</a:t>
            </a:r>
            <a:r>
              <a:rPr lang="ko-KR" altLang="en-US" sz="2000" dirty="0">
                <a:latin typeface="+mj-lt"/>
              </a:rPr>
              <a:t> </a:t>
            </a:r>
            <a:endParaRPr lang="en-US" altLang="ko-KR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CNN </a:t>
            </a:r>
            <a:r>
              <a:rPr lang="ko-KR" altLang="en-US" sz="2000" dirty="0"/>
              <a:t>기반으로 점점 </a:t>
            </a:r>
            <a:r>
              <a:rPr lang="ko-KR" altLang="en-US" sz="2000" b="1" dirty="0"/>
              <a:t>공간 크기를 줄여가며</a:t>
            </a:r>
            <a:r>
              <a:rPr lang="ko-KR" altLang="en-US" sz="2000" dirty="0"/>
              <a:t> 특징 추출을 하며</a:t>
            </a:r>
            <a:r>
              <a:rPr lang="en-US" altLang="ko-KR" sz="2000" dirty="0"/>
              <a:t>, P1, P2, P3, P4</a:t>
            </a:r>
            <a:r>
              <a:rPr lang="ko-KR" altLang="en-US" sz="2000" dirty="0"/>
              <a:t>의 여러 단계에서 </a:t>
            </a:r>
            <a:r>
              <a:rPr lang="en-US" altLang="ko-KR" sz="2000" b="1" dirty="0">
                <a:latin typeface="+mj-lt"/>
              </a:rPr>
              <a:t>T(x)</a:t>
            </a:r>
            <a:r>
              <a:rPr lang="ko-KR" altLang="en-US" sz="2000" b="1" dirty="0">
                <a:latin typeface="+mj-lt"/>
              </a:rPr>
              <a:t>와 </a:t>
            </a:r>
            <a:r>
              <a:rPr lang="en-US" altLang="ko-KR" sz="2000" b="1" dirty="0"/>
              <a:t>Ground Truth y</a:t>
            </a:r>
            <a:r>
              <a:rPr lang="en-US" altLang="ko-KR" sz="2000" dirty="0"/>
              <a:t> </a:t>
            </a:r>
            <a:r>
              <a:rPr lang="ko-KR" altLang="en-US" sz="2000" dirty="0"/>
              <a:t>쌍의 정합성을 확인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마지막 출력에서 쌍이 실제 이미지인지</a:t>
            </a:r>
            <a:r>
              <a:rPr lang="en-US" altLang="ko-KR" sz="2000" dirty="0"/>
              <a:t>, Generator</a:t>
            </a:r>
            <a:r>
              <a:rPr lang="ko-KR" altLang="en-US" sz="2000" dirty="0"/>
              <a:t>가 만든 가짜인지 판단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ea typeface="+mn-lt"/>
              <a:cs typeface="+mn-lt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5AE6F51-BF6B-FCB8-F94F-42D7FFCB7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7" y="1410129"/>
            <a:ext cx="10778040" cy="22357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DD493C-55CC-9DDF-E802-D5A5A191FD77}"/>
              </a:ext>
            </a:extLst>
          </p:cNvPr>
          <p:cNvSpPr txBox="1"/>
          <p:nvPr/>
        </p:nvSpPr>
        <p:spPr>
          <a:xfrm>
            <a:off x="549371" y="5745016"/>
            <a:ext cx="110477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판별 결과를 바탕으로 </a:t>
            </a:r>
            <a:r>
              <a:rPr lang="en-US" altLang="ko-KR" sz="2000" b="1" dirty="0">
                <a:ea typeface="+mn-lt"/>
                <a:cs typeface="+mn-lt"/>
              </a:rPr>
              <a:t>Generator</a:t>
            </a:r>
            <a:r>
              <a:rPr lang="ko-KR" altLang="en-US" sz="2000" b="1" dirty="0">
                <a:ea typeface="+mn-lt"/>
                <a:cs typeface="+mn-lt"/>
              </a:rPr>
              <a:t>는 더 정답과 비슷한 </a:t>
            </a:r>
            <a:r>
              <a:rPr lang="en-US" altLang="ko-KR" sz="2000" b="1" dirty="0">
                <a:ea typeface="+mn-lt"/>
                <a:cs typeface="+mn-lt"/>
              </a:rPr>
              <a:t>T(x)</a:t>
            </a:r>
            <a:r>
              <a:rPr lang="ko-KR" altLang="en-US" sz="2000" b="1" dirty="0">
                <a:ea typeface="+mn-lt"/>
                <a:cs typeface="+mn-lt"/>
              </a:rPr>
              <a:t>를</a:t>
            </a:r>
            <a:r>
              <a:rPr lang="en-US" altLang="ko-KR" sz="2000" b="1" dirty="0">
                <a:ea typeface="+mn-lt"/>
                <a:cs typeface="+mn-lt"/>
              </a:rPr>
              <a:t> </a:t>
            </a:r>
            <a:r>
              <a:rPr lang="ko-KR" altLang="en-US" sz="2000" b="1" dirty="0">
                <a:ea typeface="+mn-lt"/>
                <a:cs typeface="+mn-lt"/>
              </a:rPr>
              <a:t>만들도록 학습됨 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B3ACA-AAD7-ED91-B5B5-8C803C60F31A}"/>
              </a:ext>
            </a:extLst>
          </p:cNvPr>
          <p:cNvSpPr txBox="1"/>
          <p:nvPr/>
        </p:nvSpPr>
        <p:spPr>
          <a:xfrm>
            <a:off x="10483202" y="6445406"/>
            <a:ext cx="131017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3133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2067AB-B60D-F5D1-A84A-83B6FEAB232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D5D66E-A974-3D16-C997-B212E227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EAB55A-6DAF-E4F8-798F-52D244D0235B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3935EC-C7C0-B776-5DE8-E5CE24C0C47D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7A90D-55DD-957A-871E-D92540825F0D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38</a:t>
            </a:r>
            <a:endParaRPr lang="en-US" altLang="ko-KR" dirty="0"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E6592-E612-588C-F469-00279488D1F6}"/>
              </a:ext>
            </a:extLst>
          </p:cNvPr>
          <p:cNvSpPr txBox="1"/>
          <p:nvPr/>
        </p:nvSpPr>
        <p:spPr>
          <a:xfrm>
            <a:off x="549371" y="833071"/>
            <a:ext cx="109857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>
                <a:ea typeface="+mn-lt"/>
                <a:cs typeface="+mn-lt"/>
              </a:rPr>
              <a:t>Loss</a:t>
            </a:r>
            <a:r>
              <a:rPr lang="ko-KR" altLang="en-US" sz="2400" b="1">
                <a:ea typeface="+mn-lt"/>
                <a:cs typeface="+mn-lt"/>
              </a:rPr>
              <a:t>함수 분석</a:t>
            </a:r>
            <a:endParaRPr lang="en-US" altLang="ko-KR" sz="2400" b="1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B65F1-1FB9-892F-FB6C-87D5E18B75EA}"/>
              </a:ext>
            </a:extLst>
          </p:cNvPr>
          <p:cNvSpPr txBox="1"/>
          <p:nvPr/>
        </p:nvSpPr>
        <p:spPr>
          <a:xfrm>
            <a:off x="572148" y="1233181"/>
            <a:ext cx="11047704" cy="17469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GAN</a:t>
            </a:r>
            <a:r>
              <a:rPr lang="ko-KR" altLang="en-US" sz="2000" b="1" dirty="0"/>
              <a:t>손실 </a:t>
            </a:r>
            <a:r>
              <a:rPr lang="en-US" altLang="ko-KR" sz="2000" b="1" dirty="0"/>
              <a:t>– </a:t>
            </a:r>
            <a:r>
              <a:rPr lang="en-US" altLang="ko-KR" sz="2000" b="1" dirty="0" err="1"/>
              <a:t>MSELoss</a:t>
            </a:r>
            <a:r>
              <a:rPr lang="en-US" altLang="ko-KR" sz="2000" b="1" dirty="0"/>
              <a:t> [18]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+mj-lt"/>
              </a:rPr>
              <a:t>예측값과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실제값의</a:t>
            </a:r>
            <a:r>
              <a:rPr lang="ko-KR" altLang="en-US" dirty="0">
                <a:latin typeface="+mj-lt"/>
              </a:rPr>
              <a:t> 차의 제곱 평균을 계산하여 손실을 측정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ea typeface="+mn-lt"/>
                <a:cs typeface="+mn-lt"/>
              </a:rPr>
              <a:t>모델이 예측한 출력이 </a:t>
            </a:r>
            <a:r>
              <a:rPr lang="ko-KR" altLang="en-US" dirty="0" err="1">
                <a:ea typeface="+mn-lt"/>
                <a:cs typeface="+mn-lt"/>
              </a:rPr>
              <a:t>실제값에</a:t>
            </a:r>
            <a:r>
              <a:rPr lang="ko-KR" altLang="en-US" dirty="0">
                <a:ea typeface="+mn-lt"/>
                <a:cs typeface="+mn-lt"/>
              </a:rPr>
              <a:t> 얼마나 가까운지를 평가하는 데 사용됨</a:t>
            </a:r>
            <a:endParaRPr lang="en-US" altLang="ko-KR"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ea typeface="+mn-lt"/>
                <a:cs typeface="+mn-lt"/>
              </a:rPr>
              <a:t>Generator</a:t>
            </a:r>
            <a:r>
              <a:rPr lang="ko-KR" altLang="en-US" dirty="0">
                <a:ea typeface="+mn-lt"/>
                <a:cs typeface="+mn-lt"/>
              </a:rPr>
              <a:t>이 생성한 이미지가 </a:t>
            </a:r>
            <a:r>
              <a:rPr lang="en-US" altLang="ko-KR" dirty="0">
                <a:ea typeface="+mn-lt"/>
                <a:cs typeface="+mn-lt"/>
              </a:rPr>
              <a:t>Discriminator</a:t>
            </a:r>
            <a:r>
              <a:rPr lang="ko-KR" altLang="en-US" dirty="0">
                <a:ea typeface="+mn-lt"/>
                <a:cs typeface="+mn-lt"/>
              </a:rPr>
              <a:t>가 진짜라고 판단하는 것과 관련</a:t>
            </a:r>
            <a:endParaRPr lang="en-US" altLang="ko-KR" dirty="0">
              <a:ea typeface="+mn-lt"/>
              <a:cs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23F12-DD0C-F346-F725-2017511C64A5}"/>
              </a:ext>
            </a:extLst>
          </p:cNvPr>
          <p:cNvSpPr txBox="1"/>
          <p:nvPr/>
        </p:nvSpPr>
        <p:spPr>
          <a:xfrm>
            <a:off x="10355134" y="6464299"/>
            <a:ext cx="131017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2CF834-9E28-D768-913B-A91A3D461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115" y="3152679"/>
            <a:ext cx="7200000" cy="132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42FBB5-9BCE-BBCB-93BD-8FB9DF24FF5E}"/>
              </a:ext>
            </a:extLst>
          </p:cNvPr>
          <p:cNvSpPr txBox="1"/>
          <p:nvPr/>
        </p:nvSpPr>
        <p:spPr>
          <a:xfrm>
            <a:off x="549371" y="4614486"/>
            <a:ext cx="1104770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원래 </a:t>
            </a:r>
            <a:r>
              <a:rPr lang="en-US" altLang="ko-KR" sz="2000" b="1">
                <a:ea typeface="+mn-lt"/>
                <a:cs typeface="+mn-lt"/>
              </a:rPr>
              <a:t>MSELoss = (1/n) * </a:t>
            </a:r>
            <a:r>
              <a:rPr lang="ko-KR" altLang="en-US" sz="2000" b="1">
                <a:ea typeface="+mn-lt"/>
                <a:cs typeface="+mn-lt"/>
              </a:rPr>
              <a:t>∑</a:t>
            </a:r>
            <a:r>
              <a:rPr lang="en-US" altLang="ko-KR" sz="2000" b="1">
                <a:ea typeface="+mn-lt"/>
                <a:cs typeface="+mn-lt"/>
              </a:rPr>
              <a:t>(y_pred – y_true)²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이 코드에서의 </a:t>
            </a:r>
            <a:r>
              <a:rPr lang="en-US" altLang="ko-KR" sz="2000" b="1">
                <a:ea typeface="+mn-lt"/>
                <a:cs typeface="+mn-lt"/>
              </a:rPr>
              <a:t>MSELoss = (1/n)</a:t>
            </a:r>
            <a:r>
              <a:rPr lang="ko-KR" altLang="en-US" sz="2000" b="1">
                <a:ea typeface="+mn-lt"/>
                <a:cs typeface="+mn-lt"/>
              </a:rPr>
              <a:t> </a:t>
            </a:r>
            <a:r>
              <a:rPr lang="en-US" altLang="ko-KR" sz="2000" b="1">
                <a:ea typeface="+mn-lt"/>
                <a:cs typeface="+mn-lt"/>
              </a:rPr>
              <a:t>*</a:t>
            </a:r>
            <a:r>
              <a:rPr lang="ko-KR" altLang="en-US" sz="2000" b="1">
                <a:ea typeface="+mn-lt"/>
                <a:cs typeface="+mn-lt"/>
              </a:rPr>
              <a:t> ∑</a:t>
            </a:r>
            <a:r>
              <a:rPr lang="en-US" altLang="ko-KR" sz="2000" b="1">
                <a:ea typeface="+mn-lt"/>
                <a:cs typeface="+mn-lt"/>
              </a:rPr>
              <a:t>(pred_fake – 1)²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805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BB7F05-73F5-770A-2DD1-A722F003B7CC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87CF4F-2E6E-350D-C16C-596B069BE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E708EE-BF2D-0C12-685D-7069F1D1A3C1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25568E-9279-10F7-A36F-ED4C90CCFD48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12888-5C55-5DAA-C0FA-BC6749A6A699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39</a:t>
            </a:r>
            <a:endParaRPr lang="en-US" altLang="ko-KR" dirty="0"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4B48C-D0C8-CDD1-254B-927140E49617}"/>
              </a:ext>
            </a:extLst>
          </p:cNvPr>
          <p:cNvSpPr txBox="1"/>
          <p:nvPr/>
        </p:nvSpPr>
        <p:spPr>
          <a:xfrm>
            <a:off x="549371" y="833071"/>
            <a:ext cx="109857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>
                <a:ea typeface="+mn-lt"/>
                <a:cs typeface="+mn-lt"/>
              </a:rPr>
              <a:t>Loss</a:t>
            </a:r>
            <a:r>
              <a:rPr lang="ko-KR" altLang="en-US" sz="2400" b="1">
                <a:ea typeface="+mn-lt"/>
                <a:cs typeface="+mn-lt"/>
              </a:rPr>
              <a:t>함수 분석</a:t>
            </a:r>
            <a:endParaRPr lang="en-US" altLang="ko-KR" sz="2400" b="1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9C1FD-AEDF-BB83-156E-6473E862B572}"/>
              </a:ext>
            </a:extLst>
          </p:cNvPr>
          <p:cNvSpPr txBox="1"/>
          <p:nvPr/>
        </p:nvSpPr>
        <p:spPr>
          <a:xfrm>
            <a:off x="572148" y="1233181"/>
            <a:ext cx="11047704" cy="25779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Pixel </a:t>
            </a:r>
            <a:r>
              <a:rPr lang="ko-KR" altLang="en-US" sz="2000" b="1" dirty="0"/>
              <a:t>손실 </a:t>
            </a:r>
            <a:r>
              <a:rPr lang="en-US" altLang="ko-KR" sz="2000" b="1" dirty="0"/>
              <a:t>– L1Loss [18]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lt"/>
              </a:rPr>
              <a:t>MAE(Mean Absolute Error)</a:t>
            </a:r>
            <a:r>
              <a:rPr lang="ko-KR" altLang="en-US" dirty="0">
                <a:latin typeface="+mj-lt"/>
              </a:rPr>
              <a:t>이라고도 함</a:t>
            </a:r>
            <a:endParaRPr lang="en-US" altLang="ko-KR" dirty="0">
              <a:latin typeface="+mj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+mj-lt"/>
              </a:rPr>
              <a:t>예측값과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실제값</a:t>
            </a:r>
            <a:r>
              <a:rPr lang="ko-KR" altLang="en-US" dirty="0">
                <a:latin typeface="+mj-lt"/>
              </a:rPr>
              <a:t> 사이의 절댓값 차의 평균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ea typeface="+mn-lt"/>
                <a:cs typeface="+mn-lt"/>
              </a:rPr>
              <a:t>두 이미지의 픽셀 별 차이의 절댓값 평균</a:t>
            </a:r>
            <a:endParaRPr lang="en-US" altLang="ko-KR" dirty="0"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ea typeface="+mn-lt"/>
                <a:cs typeface="+mn-lt"/>
              </a:rPr>
              <a:t>Generator</a:t>
            </a:r>
            <a:r>
              <a:rPr lang="ko-KR" altLang="en-US" dirty="0">
                <a:ea typeface="+mn-lt"/>
                <a:cs typeface="+mn-lt"/>
              </a:rPr>
              <a:t>이 생성한 이미지가 정답 이미지</a:t>
            </a:r>
            <a:r>
              <a:rPr lang="en-US" altLang="ko-KR" dirty="0">
                <a:ea typeface="+mn-lt"/>
                <a:cs typeface="+mn-lt"/>
              </a:rPr>
              <a:t>(</a:t>
            </a:r>
            <a:r>
              <a:rPr lang="ko-KR" altLang="en-US" dirty="0">
                <a:ea typeface="+mn-lt"/>
                <a:cs typeface="+mn-lt"/>
              </a:rPr>
              <a:t>실제</a:t>
            </a:r>
            <a:r>
              <a:rPr lang="en-US" altLang="ko-KR" dirty="0">
                <a:ea typeface="+mn-lt"/>
                <a:cs typeface="+mn-lt"/>
              </a:rPr>
              <a:t>)</a:t>
            </a:r>
            <a:r>
              <a:rPr lang="ko-KR" altLang="en-US" dirty="0">
                <a:ea typeface="+mn-lt"/>
                <a:cs typeface="+mn-lt"/>
              </a:rPr>
              <a:t>와 얼마나 </a:t>
            </a:r>
            <a:r>
              <a:rPr lang="ko-KR" altLang="en-US" dirty="0" err="1">
                <a:ea typeface="+mn-lt"/>
                <a:cs typeface="+mn-lt"/>
              </a:rPr>
              <a:t>비슷한지</a:t>
            </a:r>
            <a:r>
              <a:rPr lang="ko-KR" altLang="en-US" dirty="0">
                <a:ea typeface="+mn-lt"/>
                <a:cs typeface="+mn-lt"/>
              </a:rPr>
              <a:t> 판단하는 것과 관련</a:t>
            </a:r>
            <a:endParaRPr lang="en-US" altLang="ko-KR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AA4832-A993-B94C-2AEC-94B9E56FE59F}"/>
              </a:ext>
            </a:extLst>
          </p:cNvPr>
          <p:cNvSpPr txBox="1"/>
          <p:nvPr/>
        </p:nvSpPr>
        <p:spPr>
          <a:xfrm>
            <a:off x="10355134" y="6464299"/>
            <a:ext cx="131017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문소영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E47BD-CF7B-84A1-3286-E95F58DAC924}"/>
              </a:ext>
            </a:extLst>
          </p:cNvPr>
          <p:cNvSpPr txBox="1"/>
          <p:nvPr/>
        </p:nvSpPr>
        <p:spPr>
          <a:xfrm>
            <a:off x="549371" y="4780745"/>
            <a:ext cx="1104770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원래 </a:t>
            </a:r>
            <a:r>
              <a:rPr lang="en-US" altLang="ko-KR" sz="2000" b="1">
                <a:ea typeface="+mn-lt"/>
                <a:cs typeface="+mn-lt"/>
              </a:rPr>
              <a:t>L1Loss = (1/n)</a:t>
            </a:r>
            <a:r>
              <a:rPr lang="ko-KR" altLang="en-US" sz="2000" b="1">
                <a:ea typeface="+mn-lt"/>
                <a:cs typeface="+mn-lt"/>
              </a:rPr>
              <a:t> </a:t>
            </a:r>
            <a:r>
              <a:rPr lang="en-US" altLang="ko-KR" sz="2000" b="1">
                <a:ea typeface="+mn-lt"/>
                <a:cs typeface="+mn-lt"/>
              </a:rPr>
              <a:t>*</a:t>
            </a:r>
            <a:r>
              <a:rPr lang="ko-KR" altLang="en-US" sz="2000" b="1">
                <a:ea typeface="+mn-lt"/>
                <a:cs typeface="+mn-lt"/>
              </a:rPr>
              <a:t> ∑ </a:t>
            </a:r>
            <a:r>
              <a:rPr lang="en-US" altLang="ko-KR" sz="2000" b="1">
                <a:ea typeface="+mn-lt"/>
                <a:cs typeface="+mn-lt"/>
              </a:rPr>
              <a:t>| y_pred – y_true |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>
                <a:ea typeface="+mn-lt"/>
                <a:cs typeface="+mn-lt"/>
              </a:rPr>
              <a:t>이 코드에서의 </a:t>
            </a:r>
            <a:r>
              <a:rPr lang="en-US" altLang="ko-KR" sz="2000" b="1">
                <a:ea typeface="+mn-lt"/>
                <a:cs typeface="+mn-lt"/>
              </a:rPr>
              <a:t>L1Loss = (1/n)</a:t>
            </a:r>
            <a:r>
              <a:rPr lang="ko-KR" altLang="en-US" sz="2000" b="1">
                <a:ea typeface="+mn-lt"/>
                <a:cs typeface="+mn-lt"/>
              </a:rPr>
              <a:t> </a:t>
            </a:r>
            <a:r>
              <a:rPr lang="en-US" altLang="ko-KR" sz="2000" b="1">
                <a:ea typeface="+mn-lt"/>
                <a:cs typeface="+mn-lt"/>
              </a:rPr>
              <a:t>*</a:t>
            </a:r>
            <a:r>
              <a:rPr lang="ko-KR" altLang="en-US" sz="2000" b="1">
                <a:ea typeface="+mn-lt"/>
                <a:cs typeface="+mn-lt"/>
              </a:rPr>
              <a:t> ∑ </a:t>
            </a:r>
            <a:r>
              <a:rPr lang="en-US" altLang="ko-KR" sz="2000" b="1">
                <a:ea typeface="+mn-lt"/>
                <a:cs typeface="+mn-lt"/>
              </a:rPr>
              <a:t>| pred_fake – real_B | </a:t>
            </a:r>
            <a:r>
              <a:rPr lang="ko-KR" altLang="en-US" sz="2000" b="1">
                <a:ea typeface="+mn-lt"/>
                <a:cs typeface="+mn-lt"/>
              </a:rPr>
              <a:t> </a:t>
            </a:r>
            <a:endParaRPr lang="en-US" altLang="ko-KR" sz="2000" b="1" dirty="0">
              <a:ea typeface="+mn-lt"/>
              <a:cs typeface="+mn-l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282DAF6-A014-DDAF-2ACE-B0C0DFEF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4"/>
          <a:stretch/>
        </p:blipFill>
        <p:spPr>
          <a:xfrm>
            <a:off x="2442249" y="3463803"/>
            <a:ext cx="7200000" cy="127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95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C9FE9-27D0-9E16-57B1-DDED63298743}"/>
              </a:ext>
            </a:extLst>
          </p:cNvPr>
          <p:cNvSpPr txBox="1"/>
          <p:nvPr/>
        </p:nvSpPr>
        <p:spPr>
          <a:xfrm>
            <a:off x="549372" y="837197"/>
            <a:ext cx="110477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ea typeface="+mn-lt"/>
                <a:cs typeface="+mn-lt"/>
              </a:rPr>
              <a:t>본 프로젝트에서 </a:t>
            </a:r>
            <a:r>
              <a:rPr lang="ko-KR" altLang="en-US" sz="2000" b="1" dirty="0">
                <a:ea typeface="+mn-lt"/>
                <a:cs typeface="+mn-lt"/>
              </a:rPr>
              <a:t>이미지 손실 부분 복원</a:t>
            </a:r>
            <a:r>
              <a:rPr lang="ko-KR" altLang="en-US" sz="2000" dirty="0">
                <a:ea typeface="+mn-lt"/>
                <a:cs typeface="+mn-lt"/>
              </a:rPr>
              <a:t>은 관계가 없어 코드를 수정 후 사용  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EF036-3D3F-C0D6-27CF-25143DDF2CF5}"/>
              </a:ext>
            </a:extLst>
          </p:cNvPr>
          <p:cNvSpPr txBox="1"/>
          <p:nvPr/>
        </p:nvSpPr>
        <p:spPr>
          <a:xfrm>
            <a:off x="549372" y="1357761"/>
            <a:ext cx="110477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ea typeface="+mn-lt"/>
                <a:cs typeface="+mn-lt"/>
              </a:rPr>
              <a:t>대회의 데이터 셋을 이용하는 것이 사용하려던 데이터 셋을 가용 데이터로 바꾸어 사용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BCA34-A264-B449-031E-C55CCC39FE77}"/>
              </a:ext>
            </a:extLst>
          </p:cNvPr>
          <p:cNvSpPr txBox="1"/>
          <p:nvPr/>
        </p:nvSpPr>
        <p:spPr>
          <a:xfrm>
            <a:off x="549372" y="1878489"/>
            <a:ext cx="1104770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‘Landscape color and grayscale’ 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셋을 각각 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color 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파일과 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grayscale 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파일로 저장</a:t>
            </a:r>
            <a:endParaRPr lang="en-US" altLang="ko-KR" sz="2000" b="0" strike="noStrike" spc="-1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368C1A-3136-051D-6A35-EEF7E3D690C2}"/>
              </a:ext>
            </a:extLst>
          </p:cNvPr>
          <p:cNvSpPr txBox="1"/>
          <p:nvPr/>
        </p:nvSpPr>
        <p:spPr>
          <a:xfrm>
            <a:off x="549372" y="2641731"/>
            <a:ext cx="110477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en-US" altLang="ko-KR" sz="2000" b="0" strike="noStrike" spc="-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Unsplash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Lite 5k ’ 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셋 중 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grayscale 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이미지를 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0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파일로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저장</a:t>
            </a:r>
            <a:endParaRPr lang="en-US" altLang="ko-KR" sz="2000" b="0" strike="noStrike" spc="-1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F4327-288B-6150-B245-9BF02D86613A}"/>
              </a:ext>
            </a:extLst>
          </p:cNvPr>
          <p:cNvSpPr txBox="1"/>
          <p:nvPr/>
        </p:nvSpPr>
        <p:spPr>
          <a:xfrm>
            <a:off x="549372" y="3298962"/>
            <a:ext cx="110477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spc="-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lt"/>
              </a:rPr>
              <a:t>세 개의 이미지 파일을 하나로 모아 프로젝트에 사용할 데이터 셋 제작</a:t>
            </a:r>
            <a:endParaRPr lang="en-US" altLang="ko-KR" sz="2000" b="0" strike="noStrike" spc="-1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533EBA4-BC19-69E0-E39D-43AE2D80D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90" y="3754428"/>
            <a:ext cx="8593394" cy="25108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168F77-51A0-D1BE-C11F-E0569A66D993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0575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41</a:t>
            </a:r>
            <a:endParaRPr lang="en-US" altLang="ko-KR" dirty="0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C9FE9-27D0-9E16-57B1-DDED63298743}"/>
              </a:ext>
            </a:extLst>
          </p:cNvPr>
          <p:cNvSpPr txBox="1"/>
          <p:nvPr/>
        </p:nvSpPr>
        <p:spPr>
          <a:xfrm>
            <a:off x="6328287" y="1394162"/>
            <a:ext cx="527746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학습에 사용되는 데이터의 크기</a:t>
            </a:r>
            <a:r>
              <a:rPr lang="en-US" altLang="ko-KR" sz="2000" dirty="0"/>
              <a:t>(</a:t>
            </a:r>
            <a:r>
              <a:rPr lang="ko-KR" altLang="en-US" sz="2000" dirty="0"/>
              <a:t>용량 또는 해상도 등</a:t>
            </a:r>
            <a:r>
              <a:rPr lang="en-US" altLang="ko-KR" sz="2000" dirty="0"/>
              <a:t>)</a:t>
            </a:r>
            <a:r>
              <a:rPr lang="ko-KR" altLang="en-US" sz="2000" dirty="0"/>
              <a:t>가 커서 메모리를 많이 소모하기 때문에 학습을 마치지 못함</a:t>
            </a:r>
            <a:endParaRPr lang="en-US" altLang="ko-KR" sz="2000" dirty="0">
              <a:ea typeface="+mn-lt"/>
              <a:cs typeface="+mn-l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306E0B3-6524-4DC7-7197-2D3AA89E6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4" y="756732"/>
            <a:ext cx="5448772" cy="5486875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902F9CE-96A5-B63F-8F45-571F27F71F55}"/>
              </a:ext>
            </a:extLst>
          </p:cNvPr>
          <p:cNvCxnSpPr>
            <a:cxnSpLocks/>
          </p:cNvCxnSpPr>
          <p:nvPr/>
        </p:nvCxnSpPr>
        <p:spPr>
          <a:xfrm>
            <a:off x="8967019" y="2554671"/>
            <a:ext cx="0" cy="10366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89838D6-CB5C-CA07-6EBB-7A67D8DA26D9}"/>
              </a:ext>
            </a:extLst>
          </p:cNvPr>
          <p:cNvSpPr txBox="1"/>
          <p:nvPr/>
        </p:nvSpPr>
        <p:spPr>
          <a:xfrm>
            <a:off x="6328287" y="3786456"/>
            <a:ext cx="527746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n-lt"/>
                <a:cs typeface="+mn-lt"/>
              </a:rPr>
              <a:t>Color </a:t>
            </a:r>
            <a:r>
              <a:rPr lang="ko-KR" altLang="en-US" sz="2000" dirty="0">
                <a:ea typeface="+mn-lt"/>
                <a:cs typeface="+mn-lt"/>
              </a:rPr>
              <a:t>이미지와 </a:t>
            </a:r>
            <a:r>
              <a:rPr lang="en-US" altLang="ko-KR" sz="2000" dirty="0">
                <a:ea typeface="+mn-lt"/>
                <a:cs typeface="+mn-lt"/>
              </a:rPr>
              <a:t>gray </a:t>
            </a:r>
            <a:r>
              <a:rPr lang="ko-KR" altLang="en-US" sz="2000" dirty="0">
                <a:ea typeface="+mn-lt"/>
                <a:cs typeface="+mn-lt"/>
              </a:rPr>
              <a:t>이미지 데이터의 수를 같게 맞춰주되</a:t>
            </a:r>
            <a:r>
              <a:rPr lang="en-US" altLang="ko-KR" sz="2000" dirty="0">
                <a:ea typeface="+mn-lt"/>
                <a:cs typeface="+mn-lt"/>
              </a:rPr>
              <a:t>, 7000</a:t>
            </a:r>
            <a:r>
              <a:rPr lang="ko-KR" altLang="en-US" sz="2000" dirty="0">
                <a:ea typeface="+mn-lt"/>
                <a:cs typeface="+mn-lt"/>
              </a:rPr>
              <a:t>장이던 데이터를 각각 </a:t>
            </a:r>
            <a:r>
              <a:rPr lang="en-US" altLang="ko-KR" sz="2000" dirty="0">
                <a:ea typeface="+mn-lt"/>
                <a:cs typeface="+mn-lt"/>
              </a:rPr>
              <a:t>2000 </a:t>
            </a:r>
            <a:r>
              <a:rPr lang="ko-KR" altLang="en-US" sz="2000" dirty="0">
                <a:ea typeface="+mn-lt"/>
                <a:cs typeface="+mn-lt"/>
              </a:rPr>
              <a:t>장으로 줄인 데이터 셋을 다시 제작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7AE4E-4B06-BB01-2364-A3D6BF1EE39C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0052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42</a:t>
            </a:r>
            <a:endParaRPr lang="en-US" altLang="ko-KR" dirty="0"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838D6-CB5C-CA07-6EBB-7A67D8DA26D9}"/>
              </a:ext>
            </a:extLst>
          </p:cNvPr>
          <p:cNvSpPr txBox="1"/>
          <p:nvPr/>
        </p:nvSpPr>
        <p:spPr>
          <a:xfrm>
            <a:off x="576979" y="811049"/>
            <a:ext cx="1098575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기존 모델 코드와의 차이점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40A4B-366B-CF8E-EB89-782FCE5A8165}"/>
              </a:ext>
            </a:extLst>
          </p:cNvPr>
          <p:cNvSpPr txBox="1"/>
          <p:nvPr/>
        </p:nvSpPr>
        <p:spPr>
          <a:xfrm>
            <a:off x="6228091" y="1987837"/>
            <a:ext cx="527746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dirty="0"/>
              <a:t>: </a:t>
            </a:r>
            <a:r>
              <a:rPr lang="en-US" altLang="ko-KR" sz="2000" b="1" dirty="0" err="1"/>
              <a:t>CustomDataset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입력 이미지 부분</a:t>
            </a:r>
            <a:r>
              <a:rPr lang="ko-KR" altLang="en-US" sz="2000" dirty="0"/>
              <a:t>에서 </a:t>
            </a:r>
            <a:endParaRPr lang="en-US" altLang="ko-KR" sz="2000" dirty="0"/>
          </a:p>
          <a:p>
            <a:r>
              <a:rPr lang="ko-KR" altLang="en-US" sz="2000" dirty="0"/>
              <a:t>  기존의 모델 코드는 입력 이미지가 </a:t>
            </a:r>
            <a:endParaRPr lang="en-US" altLang="ko-KR" sz="2000" dirty="0"/>
          </a:p>
          <a:p>
            <a:r>
              <a:rPr lang="en-US" altLang="ko-KR" sz="2000" dirty="0"/>
              <a:t>  </a:t>
            </a:r>
            <a:r>
              <a:rPr lang="en-US" altLang="ko-KR" sz="2000" dirty="0" err="1"/>
              <a:t>damage_img</a:t>
            </a:r>
            <a:r>
              <a:rPr lang="ko-KR" altLang="en-US" sz="2000" dirty="0"/>
              <a:t> 이며 </a:t>
            </a:r>
            <a:r>
              <a:rPr lang="en-US" altLang="ko-KR" sz="2000" dirty="0"/>
              <a:t>RGB</a:t>
            </a:r>
            <a:r>
              <a:rPr lang="ko-KR" altLang="en-US" sz="2000" dirty="0"/>
              <a:t>이며 </a:t>
            </a:r>
            <a:endParaRPr lang="en-US" altLang="ko-KR" sz="2000" dirty="0"/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원본 이미지</a:t>
            </a:r>
            <a:r>
              <a:rPr lang="en-US" altLang="ko-KR" sz="2000" dirty="0"/>
              <a:t>(</a:t>
            </a:r>
            <a:r>
              <a:rPr lang="en-US" altLang="ko-KR" sz="2000" dirty="0" err="1"/>
              <a:t>origin_img</a:t>
            </a:r>
            <a:r>
              <a:rPr lang="en-US" altLang="ko-KR" sz="2000" dirty="0"/>
              <a:t>)</a:t>
            </a:r>
            <a:r>
              <a:rPr lang="ko-KR" altLang="en-US" sz="2000" dirty="0"/>
              <a:t> 또한 </a:t>
            </a:r>
            <a:r>
              <a:rPr lang="en-US" altLang="ko-KR" sz="2000" dirty="0"/>
              <a:t>RGB</a:t>
            </a:r>
            <a:r>
              <a:rPr lang="ko-KR" altLang="en-US" sz="2000" dirty="0"/>
              <a:t>임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AFFBA-1173-2639-7DB5-0A9B87ABD478}"/>
              </a:ext>
            </a:extLst>
          </p:cNvPr>
          <p:cNvSpPr txBox="1"/>
          <p:nvPr/>
        </p:nvSpPr>
        <p:spPr>
          <a:xfrm>
            <a:off x="604254" y="1366862"/>
            <a:ext cx="22733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기존 모델 코드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AC3EE-73B4-2186-DDFC-FA369D1BB05F}"/>
              </a:ext>
            </a:extLst>
          </p:cNvPr>
          <p:cNvSpPr txBox="1"/>
          <p:nvPr/>
        </p:nvSpPr>
        <p:spPr>
          <a:xfrm>
            <a:off x="604254" y="3529027"/>
            <a:ext cx="22733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수정한 코드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6DCBC5-2E1B-8607-12F8-1AE727D54A28}"/>
              </a:ext>
            </a:extLst>
          </p:cNvPr>
          <p:cNvSpPr txBox="1"/>
          <p:nvPr/>
        </p:nvSpPr>
        <p:spPr>
          <a:xfrm>
            <a:off x="6285271" y="4194965"/>
            <a:ext cx="527746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dirty="0"/>
              <a:t>: </a:t>
            </a:r>
            <a:r>
              <a:rPr lang="en-US" altLang="ko-KR" sz="2000" b="1" dirty="0" err="1"/>
              <a:t>CustomDataset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입력 이미지 부분</a:t>
            </a:r>
            <a:r>
              <a:rPr lang="ko-KR" altLang="en-US" sz="2000" dirty="0"/>
              <a:t>에서 </a:t>
            </a:r>
            <a:endParaRPr lang="en-US" altLang="ko-KR" sz="2000" dirty="0"/>
          </a:p>
          <a:p>
            <a:r>
              <a:rPr lang="ko-KR" altLang="en-US" sz="2000" dirty="0"/>
              <a:t>  입력 이미지가 </a:t>
            </a:r>
            <a:r>
              <a:rPr lang="en-US" altLang="ko-KR" sz="2000" dirty="0" err="1"/>
              <a:t>gray_img</a:t>
            </a:r>
            <a:r>
              <a:rPr lang="ko-KR" altLang="en-US" sz="2000" dirty="0"/>
              <a:t> 이므로 </a:t>
            </a:r>
            <a:endParaRPr lang="en-US" altLang="ko-KR" sz="2000" dirty="0"/>
          </a:p>
          <a:p>
            <a:r>
              <a:rPr lang="en-US" altLang="ko-KR" sz="2000" dirty="0"/>
              <a:t>  RGB</a:t>
            </a:r>
            <a:r>
              <a:rPr lang="ko-KR" altLang="en-US" sz="2000" dirty="0"/>
              <a:t>에서</a:t>
            </a:r>
            <a:r>
              <a:rPr lang="en-US" altLang="ko-KR" sz="2000" dirty="0"/>
              <a:t> grayscale</a:t>
            </a:r>
            <a:r>
              <a:rPr lang="ko-KR" altLang="en-US" sz="2000" dirty="0"/>
              <a:t>을 뜻하는 </a:t>
            </a:r>
            <a:r>
              <a:rPr lang="en-US" altLang="ko-KR" sz="2000" dirty="0"/>
              <a:t>‘L’</a:t>
            </a:r>
            <a:r>
              <a:rPr lang="ko-KR" altLang="en-US" sz="2000" dirty="0"/>
              <a:t>로 바꿈</a:t>
            </a:r>
            <a:endParaRPr lang="en-US" altLang="ko-KR" sz="20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6A1B86D-ADD6-80BC-2604-3356020E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076" y="2060896"/>
            <a:ext cx="4926834" cy="101566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481341E-6BBB-DEEA-EB87-80A5581C4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076" y="4194965"/>
            <a:ext cx="4926834" cy="10156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B67C79-6EB8-402C-0C21-D649E94A159A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3153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43</a:t>
            </a:r>
            <a:endParaRPr lang="en-US" altLang="ko-KR" dirty="0"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838D6-CB5C-CA07-6EBB-7A67D8DA26D9}"/>
              </a:ext>
            </a:extLst>
          </p:cNvPr>
          <p:cNvSpPr txBox="1"/>
          <p:nvPr/>
        </p:nvSpPr>
        <p:spPr>
          <a:xfrm>
            <a:off x="576979" y="811049"/>
            <a:ext cx="1098575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기존 모델 코드와의 차이점</a:t>
            </a:r>
            <a:endParaRPr lang="en-US" altLang="ko-KR" sz="2000" b="1" dirty="0">
              <a:ea typeface="+mn-lt"/>
              <a:cs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163B2C-9101-7332-1D4B-0949D333B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54" y="1922675"/>
            <a:ext cx="5623837" cy="1106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F40A4B-366B-CF8E-EB89-782FCE5A8165}"/>
              </a:ext>
            </a:extLst>
          </p:cNvPr>
          <p:cNvSpPr txBox="1"/>
          <p:nvPr/>
        </p:nvSpPr>
        <p:spPr>
          <a:xfrm>
            <a:off x="6228091" y="1987837"/>
            <a:ext cx="527746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dirty="0"/>
              <a:t>: </a:t>
            </a:r>
            <a:r>
              <a:rPr lang="en-US" altLang="ko-KR" sz="2000" b="1" dirty="0"/>
              <a:t>U-Net Generator(</a:t>
            </a:r>
            <a:r>
              <a:rPr lang="ko-KR" altLang="en-US" sz="2000" b="1" dirty="0"/>
              <a:t>생성자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부분</a:t>
            </a:r>
            <a:r>
              <a:rPr lang="ko-KR" altLang="en-US" sz="2000" dirty="0"/>
              <a:t>에서 </a:t>
            </a:r>
            <a:endParaRPr lang="en-US" altLang="ko-KR" sz="2000" dirty="0"/>
          </a:p>
          <a:p>
            <a:r>
              <a:rPr lang="ko-KR" altLang="en-US" sz="2000" dirty="0"/>
              <a:t>  기존의 모델 코드는 입력 이미지가 </a:t>
            </a:r>
            <a:endParaRPr lang="en-US" altLang="ko-KR" sz="2000" dirty="0"/>
          </a:p>
          <a:p>
            <a:r>
              <a:rPr lang="en-US" altLang="ko-KR" sz="2000" dirty="0"/>
              <a:t>  RGB</a:t>
            </a:r>
            <a:r>
              <a:rPr lang="ko-KR" altLang="en-US" sz="2000" dirty="0"/>
              <a:t>이므로 </a:t>
            </a:r>
            <a:r>
              <a:rPr lang="en-US" altLang="ko-KR" sz="2000" dirty="0" err="1"/>
              <a:t>in_channels</a:t>
            </a:r>
            <a:r>
              <a:rPr lang="ko-KR" altLang="en-US" sz="2000" dirty="0"/>
              <a:t> 가 </a:t>
            </a:r>
            <a:r>
              <a:rPr lang="en-US" altLang="ko-KR" sz="2000" dirty="0"/>
              <a:t>3</a:t>
            </a:r>
            <a:r>
              <a:rPr lang="ko-KR" altLang="en-US" sz="2000" dirty="0"/>
              <a:t>이다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AFFBA-1173-2639-7DB5-0A9B87ABD478}"/>
              </a:ext>
            </a:extLst>
          </p:cNvPr>
          <p:cNvSpPr txBox="1"/>
          <p:nvPr/>
        </p:nvSpPr>
        <p:spPr>
          <a:xfrm>
            <a:off x="604254" y="1366862"/>
            <a:ext cx="22733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기존 모델 코드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AC3EE-73B4-2186-DDFC-FA369D1BB05F}"/>
              </a:ext>
            </a:extLst>
          </p:cNvPr>
          <p:cNvSpPr txBox="1"/>
          <p:nvPr/>
        </p:nvSpPr>
        <p:spPr>
          <a:xfrm>
            <a:off x="604254" y="3529027"/>
            <a:ext cx="22733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수정한 코드</a:t>
            </a:r>
            <a:endParaRPr lang="en-US" altLang="ko-KR" sz="2000" b="1" dirty="0">
              <a:ea typeface="+mn-lt"/>
              <a:cs typeface="+mn-lt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FE9D392-7983-2EB0-1437-EB0A2DC7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79" y="4194965"/>
            <a:ext cx="5598436" cy="10778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06DCBC5-2E1B-8607-12F8-1AE727D54A28}"/>
              </a:ext>
            </a:extLst>
          </p:cNvPr>
          <p:cNvSpPr txBox="1"/>
          <p:nvPr/>
        </p:nvSpPr>
        <p:spPr>
          <a:xfrm>
            <a:off x="6285271" y="4194965"/>
            <a:ext cx="527746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dirty="0"/>
              <a:t>: </a:t>
            </a:r>
            <a:r>
              <a:rPr lang="en-US" altLang="ko-KR" sz="2000" b="1" dirty="0"/>
              <a:t>U-Net Generator(</a:t>
            </a:r>
            <a:r>
              <a:rPr lang="ko-KR" altLang="en-US" sz="2000" b="1" dirty="0"/>
              <a:t>생성자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부분</a:t>
            </a:r>
            <a:r>
              <a:rPr lang="ko-KR" altLang="en-US" sz="2000" dirty="0"/>
              <a:t>에서 </a:t>
            </a:r>
            <a:endParaRPr lang="en-US" altLang="ko-KR" sz="2000" dirty="0"/>
          </a:p>
          <a:p>
            <a:r>
              <a:rPr lang="ko-KR" altLang="en-US" sz="2000" dirty="0">
                <a:ea typeface="+mn-lt"/>
                <a:cs typeface="+mn-lt"/>
              </a:rPr>
              <a:t> 흑백 이미지를 입력 이미지로 받기 때문에</a:t>
            </a:r>
            <a:endParaRPr lang="en-US" altLang="ko-KR" sz="2000" dirty="0">
              <a:ea typeface="+mn-lt"/>
              <a:cs typeface="+mn-lt"/>
            </a:endParaRPr>
          </a:p>
          <a:p>
            <a:r>
              <a:rPr lang="en-US" altLang="ko-KR" sz="2000" dirty="0">
                <a:ea typeface="+mn-lt"/>
                <a:cs typeface="+mn-lt"/>
              </a:rPr>
              <a:t> gray-scale</a:t>
            </a:r>
            <a:r>
              <a:rPr lang="ko-KR" altLang="en-US" sz="2000" dirty="0">
                <a:ea typeface="+mn-lt"/>
                <a:cs typeface="+mn-lt"/>
              </a:rPr>
              <a:t>이므로 </a:t>
            </a:r>
            <a:r>
              <a:rPr lang="en-US" altLang="ko-KR" sz="2000" dirty="0" err="1">
                <a:ea typeface="+mn-lt"/>
                <a:cs typeface="+mn-lt"/>
              </a:rPr>
              <a:t>in_channels</a:t>
            </a:r>
            <a:r>
              <a:rPr lang="ko-KR" altLang="en-US" sz="2000" dirty="0">
                <a:ea typeface="+mn-lt"/>
                <a:cs typeface="+mn-lt"/>
              </a:rPr>
              <a:t>를 </a:t>
            </a:r>
            <a:r>
              <a:rPr lang="en-US" altLang="ko-KR" sz="2000" dirty="0">
                <a:ea typeface="+mn-lt"/>
                <a:cs typeface="+mn-lt"/>
              </a:rPr>
              <a:t>1</a:t>
            </a:r>
            <a:r>
              <a:rPr lang="ko-KR" altLang="en-US" sz="2000" dirty="0">
                <a:ea typeface="+mn-lt"/>
                <a:cs typeface="+mn-lt"/>
              </a:rPr>
              <a:t>로 바꿈 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BCE36-CA73-75C6-02C2-041CB2AC9D43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5586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44</a:t>
            </a:r>
            <a:endParaRPr lang="en-US" altLang="ko-KR" dirty="0"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838D6-CB5C-CA07-6EBB-7A67D8DA26D9}"/>
              </a:ext>
            </a:extLst>
          </p:cNvPr>
          <p:cNvSpPr txBox="1"/>
          <p:nvPr/>
        </p:nvSpPr>
        <p:spPr>
          <a:xfrm>
            <a:off x="576979" y="811049"/>
            <a:ext cx="1098575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기존 모델 코드와의 차이점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40A4B-366B-CF8E-EB89-782FCE5A8165}"/>
              </a:ext>
            </a:extLst>
          </p:cNvPr>
          <p:cNvSpPr txBox="1"/>
          <p:nvPr/>
        </p:nvSpPr>
        <p:spPr>
          <a:xfrm>
            <a:off x="6243933" y="1826389"/>
            <a:ext cx="5277464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dirty="0"/>
              <a:t>: </a:t>
            </a:r>
            <a:r>
              <a:rPr lang="en-US" altLang="ko-KR" sz="2000" b="1" dirty="0" err="1"/>
              <a:t>PatchGAN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기반의 </a:t>
            </a:r>
            <a:r>
              <a:rPr lang="en-US" altLang="ko-KR" sz="2000" b="1" dirty="0"/>
              <a:t>Discriminator(</a:t>
            </a:r>
            <a:r>
              <a:rPr lang="ko-KR" altLang="en-US" sz="2000" b="1" dirty="0" err="1"/>
              <a:t>판별자</a:t>
            </a:r>
            <a:r>
              <a:rPr lang="en-US" altLang="ko-KR" sz="2000" b="1" dirty="0"/>
              <a:t>)</a:t>
            </a:r>
          </a:p>
          <a:p>
            <a:r>
              <a:rPr lang="en-US" altLang="ko-KR" sz="2000" b="1" dirty="0"/>
              <a:t> </a:t>
            </a:r>
            <a:r>
              <a:rPr lang="ko-KR" altLang="en-US" sz="2000" b="1" dirty="0"/>
              <a:t>부분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PatchGAN</a:t>
            </a:r>
            <a:r>
              <a:rPr lang="ko-KR" altLang="en-US" sz="2000" dirty="0"/>
              <a:t>은 입력 </a:t>
            </a:r>
            <a:r>
              <a:rPr lang="en-US" altLang="ko-KR" sz="2000" dirty="0"/>
              <a:t>A</a:t>
            </a:r>
            <a:r>
              <a:rPr lang="ko-KR" altLang="en-US" sz="2000" dirty="0"/>
              <a:t>와 </a:t>
            </a:r>
            <a:r>
              <a:rPr lang="en-US" altLang="ko-KR" sz="2000" dirty="0"/>
              <a:t>B</a:t>
            </a:r>
            <a:r>
              <a:rPr lang="ko-KR" altLang="en-US" sz="2000" dirty="0"/>
              <a:t>를 </a:t>
            </a:r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/>
              <a:t>채널 기준으로 이어 붙이기 때문에   </a:t>
            </a:r>
            <a:endParaRPr lang="en-US" altLang="ko-KR" sz="2000" dirty="0"/>
          </a:p>
          <a:p>
            <a:r>
              <a:rPr lang="en-US" altLang="ko-KR" sz="2000" dirty="0"/>
              <a:t> RGB(3)</a:t>
            </a:r>
            <a:r>
              <a:rPr lang="ko-KR" altLang="en-US" sz="2000" dirty="0"/>
              <a:t> </a:t>
            </a:r>
            <a:r>
              <a:rPr lang="en-US" altLang="ko-KR" sz="2000" dirty="0"/>
              <a:t>-&gt; RGB(3) </a:t>
            </a:r>
            <a:r>
              <a:rPr lang="ko-KR" altLang="en-US" sz="2000" dirty="0"/>
              <a:t>이므로</a:t>
            </a:r>
            <a:r>
              <a:rPr lang="en-US" altLang="ko-KR" sz="2000" dirty="0"/>
              <a:t> </a:t>
            </a:r>
          </a:p>
          <a:p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en-US" altLang="ko-KR" sz="2000" dirty="0"/>
              <a:t>RGB + RGB = 6</a:t>
            </a:r>
            <a:r>
              <a:rPr lang="ko-KR" altLang="en-US" sz="2000" dirty="0"/>
              <a:t>채널</a:t>
            </a:r>
            <a:r>
              <a:rPr lang="en-US" altLang="ko-KR" sz="2000" dirty="0"/>
              <a:t>, </a:t>
            </a:r>
            <a:r>
              <a:rPr lang="en-US" altLang="ko-KR" sz="2000" dirty="0" err="1">
                <a:ea typeface="+mn-lt"/>
                <a:cs typeface="+mn-lt"/>
              </a:rPr>
              <a:t>in_channels</a:t>
            </a:r>
            <a:r>
              <a:rPr lang="en-US" altLang="ko-KR" sz="2000" dirty="0">
                <a:ea typeface="+mn-lt"/>
                <a:cs typeface="+mn-lt"/>
              </a:rPr>
              <a:t> =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AFFBA-1173-2639-7DB5-0A9B87ABD478}"/>
              </a:ext>
            </a:extLst>
          </p:cNvPr>
          <p:cNvSpPr txBox="1"/>
          <p:nvPr/>
        </p:nvSpPr>
        <p:spPr>
          <a:xfrm>
            <a:off x="604254" y="1366862"/>
            <a:ext cx="22733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기존 모델 코드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AC3EE-73B4-2186-DDFC-FA369D1BB05F}"/>
              </a:ext>
            </a:extLst>
          </p:cNvPr>
          <p:cNvSpPr txBox="1"/>
          <p:nvPr/>
        </p:nvSpPr>
        <p:spPr>
          <a:xfrm>
            <a:off x="604254" y="3529027"/>
            <a:ext cx="22733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수정한 코드</a:t>
            </a:r>
            <a:endParaRPr lang="en-US" altLang="ko-KR" sz="2000" b="1" dirty="0">
              <a:ea typeface="+mn-lt"/>
              <a:cs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6DCBC5-2E1B-8607-12F8-1AE727D54A28}"/>
              </a:ext>
            </a:extLst>
          </p:cNvPr>
          <p:cNvSpPr txBox="1"/>
          <p:nvPr/>
        </p:nvSpPr>
        <p:spPr>
          <a:xfrm>
            <a:off x="6285271" y="4194965"/>
            <a:ext cx="527746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dirty="0"/>
              <a:t>: </a:t>
            </a:r>
            <a:r>
              <a:rPr lang="en-US" altLang="ko-KR" sz="2000" b="1" dirty="0" err="1"/>
              <a:t>PatchGAN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기반의 </a:t>
            </a:r>
            <a:r>
              <a:rPr lang="en-US" altLang="ko-KR" sz="2000" b="1" dirty="0"/>
              <a:t>Discriminator(</a:t>
            </a:r>
            <a:r>
              <a:rPr lang="ko-KR" altLang="en-US" sz="2000" b="1" dirty="0" err="1"/>
              <a:t>판별자</a:t>
            </a:r>
            <a:r>
              <a:rPr lang="en-US" altLang="ko-KR" sz="2000" b="1" dirty="0"/>
              <a:t>)</a:t>
            </a:r>
          </a:p>
          <a:p>
            <a:r>
              <a:rPr lang="en-US" altLang="ko-KR" sz="2000" b="1" dirty="0"/>
              <a:t> </a:t>
            </a:r>
            <a:r>
              <a:rPr lang="ko-KR" altLang="en-US" sz="2000" b="1" dirty="0"/>
              <a:t>부분</a:t>
            </a:r>
            <a:r>
              <a:rPr lang="ko-KR" altLang="en-US" sz="2000" dirty="0"/>
              <a:t>에서 </a:t>
            </a:r>
            <a:r>
              <a:rPr lang="en-US" altLang="ko-KR" sz="2000" dirty="0"/>
              <a:t>gray-scale(1) -&gt; RGB(3)</a:t>
            </a:r>
            <a:r>
              <a:rPr lang="ko-KR" altLang="en-US" sz="2000" dirty="0"/>
              <a:t>이므로</a:t>
            </a:r>
            <a:endParaRPr lang="en-US" altLang="ko-KR" sz="2000" dirty="0"/>
          </a:p>
          <a:p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en-US" altLang="ko-KR" sz="2000" dirty="0"/>
              <a:t>gray-scale + RGB</a:t>
            </a:r>
            <a:r>
              <a:rPr lang="ko-KR" altLang="en-US" sz="2000" dirty="0"/>
              <a:t> </a:t>
            </a:r>
            <a:r>
              <a:rPr lang="en-US" altLang="ko-KR" sz="2000" dirty="0"/>
              <a:t>=</a:t>
            </a:r>
            <a:r>
              <a:rPr lang="ko-KR" altLang="en-US" sz="2000" dirty="0"/>
              <a:t> </a:t>
            </a:r>
            <a:r>
              <a:rPr lang="en-US" altLang="ko-KR" sz="2000" dirty="0"/>
              <a:t>4</a:t>
            </a:r>
            <a:r>
              <a:rPr lang="ko-KR" altLang="en-US" sz="2000" dirty="0"/>
              <a:t>채널</a:t>
            </a:r>
            <a:r>
              <a:rPr lang="en-US" altLang="ko-KR" sz="2000" dirty="0"/>
              <a:t>, </a:t>
            </a:r>
            <a:r>
              <a:rPr lang="en-US" altLang="ko-KR" sz="2000" dirty="0" err="1">
                <a:ea typeface="+mn-lt"/>
                <a:cs typeface="+mn-lt"/>
              </a:rPr>
              <a:t>in_channels</a:t>
            </a:r>
            <a:r>
              <a:rPr lang="en-US" altLang="ko-KR" sz="2000" dirty="0">
                <a:ea typeface="+mn-lt"/>
                <a:cs typeface="+mn-lt"/>
              </a:rPr>
              <a:t> = 4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3BBE42-334B-D6E6-0EAB-318E99A7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45" y="1891843"/>
            <a:ext cx="5516246" cy="143712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102F63-0BC1-F9A0-8E53-9DC488A5E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33" y="4178071"/>
            <a:ext cx="5516246" cy="1437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DB6563-43B3-089A-C97B-3A0D92D78D2B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31816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373224" y="162868"/>
            <a:ext cx="702605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프로젝트 모델 구현</a:t>
            </a:r>
          </a:p>
          <a:p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>
                <a:ea typeface="맑은 고딕"/>
              </a:rPr>
              <a:t>45</a:t>
            </a:r>
            <a:endParaRPr lang="en-US" altLang="ko-KR" dirty="0"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838D6-CB5C-CA07-6EBB-7A67D8DA26D9}"/>
              </a:ext>
            </a:extLst>
          </p:cNvPr>
          <p:cNvSpPr txBox="1"/>
          <p:nvPr/>
        </p:nvSpPr>
        <p:spPr>
          <a:xfrm>
            <a:off x="576979" y="811049"/>
            <a:ext cx="1098575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수정한 모델의 실행 결과</a:t>
            </a:r>
            <a:endParaRPr lang="en-US" altLang="ko-KR" sz="2000" b="1" dirty="0">
              <a:ea typeface="+mn-lt"/>
              <a:cs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9B9F1F-9B07-CA27-3AF2-4B8A7EBD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13" y="1338038"/>
            <a:ext cx="6805970" cy="394927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4CCE536-8037-204C-84E2-D3A456C4D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095" y="1510389"/>
            <a:ext cx="3558848" cy="36045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8CE984-2B4C-90B4-BB9B-E2BA11507EE7}"/>
              </a:ext>
            </a:extLst>
          </p:cNvPr>
          <p:cNvSpPr txBox="1"/>
          <p:nvPr/>
        </p:nvSpPr>
        <p:spPr>
          <a:xfrm>
            <a:off x="456984" y="5519962"/>
            <a:ext cx="1120832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 dirty="0">
                <a:ea typeface="+mn-lt"/>
                <a:cs typeface="+mn-lt"/>
              </a:rPr>
              <a:t>모델의 실행 결과물 중 붉은색 계열이 조금 부자연스럽게 색상화 됨</a:t>
            </a:r>
            <a:endParaRPr lang="en-US" altLang="ko-KR" sz="2000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+mn-lt"/>
                <a:cs typeface="+mn-lt"/>
              </a:rPr>
              <a:t>강민수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32065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333B-0C91-2D13-06DE-F9E8ECC3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23755868-FB91-0F98-9522-5C10D2F284BE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DBB3D3C2-FC98-11A7-FD70-F723558DE4D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DFD0AFFD-C0DB-5864-03A8-F6F9198D359A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64BC56C6-35C6-CC32-4468-BC4FAD55D897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46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3CDBA339-87C5-1B8A-0B4C-70381B1E0021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3B50F1-634B-F096-9E6F-9F42E94F5937}"/>
              </a:ext>
            </a:extLst>
          </p:cNvPr>
          <p:cNvSpPr txBox="1"/>
          <p:nvPr/>
        </p:nvSpPr>
        <p:spPr>
          <a:xfrm>
            <a:off x="444600" y="15200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비교</a:t>
            </a:r>
            <a:endParaRPr kumimoji="1" lang="ko-Kore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1775772" y="883919"/>
          <a:ext cx="8545263" cy="50245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8421">
                  <a:extLst>
                    <a:ext uri="{9D8B030D-6E8A-4147-A177-3AD203B41FA5}">
                      <a16:colId xmlns:a16="http://schemas.microsoft.com/office/drawing/2014/main" val="110311283"/>
                    </a:ext>
                  </a:extLst>
                </a:gridCol>
                <a:gridCol w="2848421">
                  <a:extLst>
                    <a:ext uri="{9D8B030D-6E8A-4147-A177-3AD203B41FA5}">
                      <a16:colId xmlns:a16="http://schemas.microsoft.com/office/drawing/2014/main" val="215705214"/>
                    </a:ext>
                  </a:extLst>
                </a:gridCol>
                <a:gridCol w="2848421">
                  <a:extLst>
                    <a:ext uri="{9D8B030D-6E8A-4147-A177-3AD203B41FA5}">
                      <a16:colId xmlns:a16="http://schemas.microsoft.com/office/drawing/2014/main" val="2682718565"/>
                    </a:ext>
                  </a:extLst>
                </a:gridCol>
              </a:tblGrid>
              <a:tr h="657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7717681"/>
                  </a:ext>
                </a:extLst>
              </a:tr>
              <a:tr h="14558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01368698"/>
                  </a:ext>
                </a:extLst>
              </a:tr>
              <a:tr h="14558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070207565"/>
                  </a:ext>
                </a:extLst>
              </a:tr>
              <a:tr h="14558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9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1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11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6620105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90103" y="6067339"/>
            <a:ext cx="712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그림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동일 조건에서 발생한 결과 차이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000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D060534B-AE9B-9CBB-A831-4337D0E32066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9B8A173B-ADB1-4E78-1E39-7640C2DA01F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B4D4CCD3-5E1F-D8A1-95FC-4313808BD1E9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E0F54027-EE4D-30A7-61B2-81AF2F326A35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47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14B838EB-F74C-98A5-D4D1-FE3BBE6A018E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F5439B8-BFD7-28E4-6C17-45EBDE1DCEE2}"/>
              </a:ext>
            </a:extLst>
          </p:cNvPr>
          <p:cNvSpPr txBox="1"/>
          <p:nvPr/>
        </p:nvSpPr>
        <p:spPr>
          <a:xfrm>
            <a:off x="7816648" y="4775305"/>
            <a:ext cx="3600000" cy="479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3992" y="891476"/>
            <a:ext cx="11285462" cy="5555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ore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문제</a:t>
            </a:r>
            <a:r>
              <a:rPr kumimoji="1" lang="ko-KR" altLang="en-US" sz="2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점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팀원 모두 동일한 코드</a:t>
            </a: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모델</a:t>
            </a: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이미지 사용하였는데</a:t>
            </a: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출력된 결과 이미지가 서로 다르게 나타남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예를 들어</a:t>
            </a: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어떤 이미지에서는 특정 색이 더 강하게 복원되었고</a:t>
            </a: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다른 이미지에서는 전체적으로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채도가 낮게 표현되는 등 차이가 나타남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핵심 원인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실행 결과의 비결정성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(Non-determinism)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비결정성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어떤 입력이나 조건이 같더라도 결과가 매번 달라질 수 있는 현상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즉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출력 결과가 결정되어 있지 않는 것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특히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딥러닝에서는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다양한 연산들이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GPU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에서 동시에 실행되거나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내부적으로 확률적인 요소가 많기 때문에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이러한 현상이 생길 수 있음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163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4F38-0C8E-F0D1-DD59-71F98CEBF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D060534B-AE9B-9CBB-A831-4337D0E32066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9B8A173B-ADB1-4E78-1E39-7640C2DA01F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B4D4CCD3-5E1F-D8A1-95FC-4313808BD1E9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E0F54027-EE4D-30A7-61B2-81AF2F326A35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48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14B838EB-F74C-98A5-D4D1-FE3BBE6A018E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F5439B8-BFD7-28E4-6C17-45EBDE1DCEE2}"/>
              </a:ext>
            </a:extLst>
          </p:cNvPr>
          <p:cNvSpPr txBox="1"/>
          <p:nvPr/>
        </p:nvSpPr>
        <p:spPr>
          <a:xfrm>
            <a:off x="7816648" y="4775305"/>
            <a:ext cx="3600000" cy="479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F27FC-3F85-1E0A-A1EE-ABFB0C11F599}"/>
              </a:ext>
            </a:extLst>
          </p:cNvPr>
          <p:cNvSpPr txBox="1"/>
          <p:nvPr/>
        </p:nvSpPr>
        <p:spPr>
          <a:xfrm>
            <a:off x="444599" y="151055"/>
            <a:ext cx="1600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공통 조건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442343" y="1978826"/>
            <a:ext cx="1644161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6230113" y="1978826"/>
            <a:ext cx="2485292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3327191" y="2660380"/>
            <a:ext cx="1563560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987467" y="2671273"/>
            <a:ext cx="1890346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6981266" y="2658843"/>
            <a:ext cx="2560615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9673767" y="2658842"/>
            <a:ext cx="1213338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107059" y="3379203"/>
            <a:ext cx="1698092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932640" y="3379203"/>
            <a:ext cx="1921119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7981248" y="3379203"/>
            <a:ext cx="2123342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520068" y="4098026"/>
            <a:ext cx="953299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6611113" y="4098026"/>
            <a:ext cx="978877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148051" y="4816849"/>
            <a:ext cx="833216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4442343" y="5507195"/>
            <a:ext cx="1872762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729194" y="5507195"/>
            <a:ext cx="1452204" cy="4055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251444"/>
              </p:ext>
            </p:extLst>
          </p:nvPr>
        </p:nvGraphicFramePr>
        <p:xfrm>
          <a:off x="444599" y="1132084"/>
          <a:ext cx="11257200" cy="48998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0339">
                  <a:extLst>
                    <a:ext uri="{9D8B030D-6E8A-4147-A177-3AD203B41FA5}">
                      <a16:colId xmlns:a16="http://schemas.microsoft.com/office/drawing/2014/main" val="3790897633"/>
                    </a:ext>
                  </a:extLst>
                </a:gridCol>
                <a:gridCol w="9116861">
                  <a:extLst>
                    <a:ext uri="{9D8B030D-6E8A-4147-A177-3AD203B41FA5}">
                      <a16:colId xmlns:a16="http://schemas.microsoft.com/office/drawing/2014/main" val="487875104"/>
                    </a:ext>
                  </a:extLst>
                </a:gridCol>
              </a:tblGrid>
              <a:tr h="699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27397455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구조 동일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UNetGenerator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,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PatchGANDiscriminator</a:t>
                      </a:r>
                      <a:r>
                        <a:rPr lang="ko-KR" altLang="en-US" sz="1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구조 동일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383613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하이퍼파라미터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EPOCHS = 10 , BATCH_SIZE = 16 , LEARNING_LATE = 3e-4 , SEED = 42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422766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손실 함수 동일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MSELoss</a:t>
                      </a:r>
                      <a:r>
                        <a:rPr lang="ko-KR" altLang="en-US" sz="1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(GAN) , L1Loss (</a:t>
                      </a:r>
                      <a:r>
                        <a:rPr lang="en-US" altLang="ko-KR" sz="18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pixelwise</a:t>
                      </a:r>
                      <a:r>
                        <a:rPr lang="en-US" altLang="ko-KR" sz="1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, </a:t>
                      </a:r>
                      <a:r>
                        <a:rPr lang="en-US" altLang="ko-KR" sz="18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lambda_pixel</a:t>
                      </a:r>
                      <a:r>
                        <a:rPr lang="en-US" altLang="ko-KR" sz="1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100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223376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ko-KR" altLang="en-US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데이터셋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Gray_dir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, </a:t>
                      </a:r>
                      <a:r>
                        <a:rPr lang="en-US" altLang="ko-KR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color_dir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고정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506283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이미지</a:t>
                      </a:r>
                      <a:endParaRPr lang="en-US" altLang="ko-KR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test_dir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고정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4511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환경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/content/drive/…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사용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Google </a:t>
                      </a:r>
                      <a:r>
                        <a:rPr lang="en-US" altLang="ko-KR" sz="18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Colab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4541893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42955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43747AEC-3A21-6627-5211-C687F535C3B2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80092C40-59BA-B23B-3C81-BF93D0574EF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2DB23AD9-35F0-63A8-0AB2-3CA9DFC9B39B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A0E96906-F4C1-23AA-CAD7-8600BD63984F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49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F93215C4-4D6B-9498-E176-CA353E603629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7505" y="760137"/>
            <a:ext cx="9150155" cy="1409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원인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cuDNN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의 비결정성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cuDNN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NVDIA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에서 만든 딥러닝 연산 가속 라이브러리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27505" y="3086100"/>
            <a:ext cx="11013190" cy="902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torch.backends.cudnn.benchmark = True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의 단점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“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빠른 연산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"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을 위해 매번 다른 경로의 연산 방식을 사용할 수 있음 → 결과가 달라질 수 있음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64809" y="587439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항상 같은 </a:t>
            </a:r>
            <a:r>
              <a:rPr kumimoji="0" lang="ko-Kore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연산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경로를 사용 →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결과 고정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4809" y="5460587"/>
            <a:ext cx="5086350" cy="35660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764809" y="4827072"/>
            <a:ext cx="13717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/>
                <a:cs typeface="+mn-cs"/>
              </a:rPr>
              <a:t>해결 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/>
                <a:cs typeface="+mn-cs"/>
              </a:rPr>
              <a:t>방법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462000" y="4407874"/>
            <a:ext cx="11268000" cy="146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그림 9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4020" y="2185961"/>
            <a:ext cx="5963979" cy="809679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981826" y="2276474"/>
            <a:ext cx="3733799" cy="666750"/>
          </a:xfrm>
          <a:prstGeom prst="rect">
            <a:avLst/>
          </a:prstGeom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둘 다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설정하면 둘이 충돌을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일으킬 수 있음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2685" y="117739"/>
            <a:ext cx="3507692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문제 원인과 해결 방안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188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97D5692F-8AFC-D5C8-BC47-0A71FAA39518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F45F3CB4-E044-92A7-FEAA-43C2CD95E19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8B72F25A-4891-74D3-479C-B0149C2710D7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AE047788-FC18-868C-9E3F-686B184A306D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50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B8845143-0956-F035-EA45-05C1B2D0D736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6485" y="807103"/>
            <a:ext cx="10974529" cy="5030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원인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랜덤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시드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미고정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랜덤 요소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weight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초기화 → 모델 가중치가 무작위로 설정되어 학습 결과에 차이 발생 가능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 순서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셔플링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→ 매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학습시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배치 구성이 달라져 학습 경로가 달라짐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Dropout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등의 확률 기반 연산 → 학습 중 일부 뉴런 무작위 비활성화 → 출력에 영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향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03" name="그림 10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6485" y="2685941"/>
            <a:ext cx="4191532" cy="1676618"/>
          </a:xfrm>
          <a:prstGeom prst="rect">
            <a:avLst/>
          </a:prstGeom>
        </p:spPr>
      </p:pic>
      <p:pic>
        <p:nvPicPr>
          <p:cNvPr id="104" name="그림 10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66485" y="4771497"/>
            <a:ext cx="9925912" cy="324679"/>
          </a:xfrm>
          <a:prstGeom prst="rect">
            <a:avLst/>
          </a:prstGeom>
        </p:spPr>
      </p:pic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6485" y="5551441"/>
            <a:ext cx="4199118" cy="656589"/>
          </a:xfrm>
          <a:prstGeom prst="rect">
            <a:avLst/>
          </a:prstGeom>
        </p:spPr>
      </p:pic>
      <p:sp>
        <p:nvSpPr>
          <p:cNvPr id="106" name="오른쪽 화살표[R] 105"/>
          <p:cNvSpPr/>
          <p:nvPr/>
        </p:nvSpPr>
        <p:spPr>
          <a:xfrm>
            <a:off x="5202443" y="5736859"/>
            <a:ext cx="590550" cy="28575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096000" y="5736859"/>
            <a:ext cx="3148965" cy="3600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랜덤 요소는 코드에서 통제함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29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97D5692F-8AFC-D5C8-BC47-0A71FAA39518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F45F3CB4-E044-92A7-FEAA-43C2CD95E19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8B72F25A-4891-74D3-479C-B0149C2710D7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AE047788-FC18-868C-9E3F-686B184A306D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51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B8845143-0956-F035-EA45-05C1B2D0D736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99" name="직사각형 7"/>
          <p:cNvSpPr/>
          <p:nvPr/>
        </p:nvSpPr>
        <p:spPr>
          <a:xfrm>
            <a:off x="694211" y="5140537"/>
            <a:ext cx="10591800" cy="363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직사각형 8"/>
          <p:cNvSpPr/>
          <p:nvPr/>
        </p:nvSpPr>
        <p:spPr>
          <a:xfrm>
            <a:off x="618011" y="4652850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맑은 고딕"/>
                <a:cs typeface="+mn-cs"/>
              </a:rPr>
              <a:t>해결 방법</a:t>
            </a:r>
            <a:endParaRPr kumimoji="0" lang="en-US" altLang="ko-KR" sz="20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2500" y="1911070"/>
            <a:ext cx="3791396" cy="203228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85800" y="1089660"/>
            <a:ext cx="1049655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만약 랜덤 시드를 고정하지 않으면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매번 모델이 다른 경로로 학습하거나 추론을 하게 되어 결과가 다르게 나옴 하지만 코드에서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Random.seed, numpy.seed, torch.manual_seed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등 모든 관련 시드가 잘 고정되어 있음</a:t>
            </a:r>
          </a:p>
        </p:txBody>
      </p:sp>
      <p:pic>
        <p:nvPicPr>
          <p:cNvPr id="103" name="그림 10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94962" y="5333989"/>
            <a:ext cx="5120038" cy="372366"/>
          </a:xfrm>
          <a:prstGeom prst="rect">
            <a:avLst/>
          </a:prstGeom>
        </p:spPr>
      </p:pic>
      <p:cxnSp>
        <p:nvCxnSpPr>
          <p:cNvPr id="104" name="직선 연결선 8"/>
          <p:cNvCxnSpPr/>
          <p:nvPr/>
        </p:nvCxnSpPr>
        <p:spPr>
          <a:xfrm>
            <a:off x="444600" y="4465024"/>
            <a:ext cx="11268000" cy="14655"/>
          </a:xfrm>
          <a:prstGeom prst="line">
            <a:avLst/>
          </a:prstGeom>
          <a:noFill/>
          <a:ln w="19050" cap="flat" cmpd="sng" algn="ctr">
            <a:solidFill>
              <a:srgbClr val="D9D9D9">
                <a:alpha val="100000"/>
              </a:srgbClr>
            </a:solidFill>
            <a:prstDash val="sysDash"/>
            <a:miter/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847725" y="5756909"/>
            <a:ext cx="10496550" cy="499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→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False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변환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427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FC5C9963-64F7-C0EE-81FC-014E9C70A77E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7747B04E-8089-1763-12EC-F1F7A3849F4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DFCBE14D-3241-A951-611E-DCAF9A7AC01A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871B80CB-82F8-9B02-45AA-5F4215402F7E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52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679FDC2F-4D8B-0FA8-6B69-10E894F13971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0540" y="776132"/>
            <a:ext cx="6113863" cy="356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원인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이미지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및 후처리의 차이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서로 다른 라이브러리 사용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(OpenCV, PIL,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torchvision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이미지 저장 시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dtype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(float vs unt8),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범위 차이 발생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RGB/LAB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등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색공간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처리 방식의 차이도 영향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normalize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방식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픽셀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범위 조정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interpolation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방식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이미지 크기 조정 시 보간 방식 선택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저장 포맷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(JPEG vs PNG)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02980" y="896110"/>
            <a:ext cx="6096000" cy="2826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원인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모델 불러오기 방식의 차이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load_state_dict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기본적으로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strict=True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작동하여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모델 구조와 가중치 키가 완전히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일치해야함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cxnSp>
        <p:nvCxnSpPr>
          <p:cNvPr id="102" name="직선 연결선 8"/>
          <p:cNvCxnSpPr/>
          <p:nvPr/>
        </p:nvCxnSpPr>
        <p:spPr>
          <a:xfrm>
            <a:off x="444600" y="4465024"/>
            <a:ext cx="11268000" cy="14655"/>
          </a:xfrm>
          <a:prstGeom prst="line">
            <a:avLst/>
          </a:prstGeom>
          <a:noFill/>
          <a:ln w="19050" cap="flat" cmpd="sng" algn="ctr">
            <a:solidFill>
              <a:srgbClr val="D9D9D9">
                <a:alpha val="100000"/>
              </a:srgbClr>
            </a:solidFill>
            <a:prstDash val="sysDash"/>
            <a:miter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2238372" y="5086350"/>
            <a:ext cx="8292468" cy="6934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전처리와 모델링 코드는 모두가 동일하게 진행했기 때문에 결과 차이는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원인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설명되지 않는다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</a:t>
            </a:r>
          </a:p>
        </p:txBody>
      </p:sp>
      <p:sp>
        <p:nvSpPr>
          <p:cNvPr id="104" name="오른쪽 화살표[R] 103"/>
          <p:cNvSpPr/>
          <p:nvPr/>
        </p:nvSpPr>
        <p:spPr>
          <a:xfrm>
            <a:off x="1495425" y="5324474"/>
            <a:ext cx="590550" cy="28575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맑은 고딕"/>
              <a:cs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777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23036-5916-2DBC-A133-B2B326EE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0E1CF762-97CA-A283-C9D3-8AE2E99B889B}"/>
              </a:ext>
            </a:extLst>
          </p:cNvPr>
          <p:cNvSpPr/>
          <p:nvPr/>
        </p:nvSpPr>
        <p:spPr>
          <a:xfrm>
            <a:off x="428716" y="70020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CACAD2D2-559E-4AB3-60C7-355B058A996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957ACBBD-0097-ECB3-8F7C-236B88E0FB11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EBDAFE9D-5015-C8EE-D774-FD5295C6A5FD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53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EFCCDCF9-79E1-20D0-0D5B-4253BA4D7FEA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42A0F32-7558-495C-9594-6BBBD2C200EA}"/>
              </a:ext>
            </a:extLst>
          </p:cNvPr>
          <p:cNvSpPr txBox="1"/>
          <p:nvPr/>
        </p:nvSpPr>
        <p:spPr>
          <a:xfrm>
            <a:off x="6502980" y="896110"/>
            <a:ext cx="6096000" cy="3553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1. </a:t>
            </a:r>
            <a:r>
              <a:rPr kumimoji="0" lang="ko-KR" altLang="en-US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시드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고정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–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실험 재현성 확보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목적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랜덤 요소를 모두 고정하여 같은 코드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,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같은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데이터로 항상 같은 결과를 얻기 위해 사용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앞선 코드에서도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시드가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고정되어 있었지만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모든 난수 발생기의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시드를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완벽히 고정함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AFA46-C512-FD81-FB4D-3CAD5D8EDC89}"/>
              </a:ext>
            </a:extLst>
          </p:cNvPr>
          <p:cNvSpPr txBox="1"/>
          <p:nvPr/>
        </p:nvSpPr>
        <p:spPr>
          <a:xfrm>
            <a:off x="444600" y="173354"/>
            <a:ext cx="6391493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+mn-cs"/>
              </a:rPr>
              <a:t>위의</a:t>
            </a:r>
            <a:r>
              <a:rPr kumimoji="1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 내용 만으로는 해결이 되지 않아 코드를 수정</a:t>
            </a:r>
            <a:endParaRPr kumimoji="1" lang="ko-Kore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BD19C9-A967-6C8C-708A-4466E6621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80" y="798314"/>
            <a:ext cx="5918200" cy="5565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40890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8559-159E-7822-AF53-CCAFF4C9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BE528898-05E4-4CBF-5212-88746DB9BB82}"/>
              </a:ext>
            </a:extLst>
          </p:cNvPr>
          <p:cNvSpPr/>
          <p:nvPr/>
        </p:nvSpPr>
        <p:spPr>
          <a:xfrm>
            <a:off x="428716" y="70020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4472CFD7-141F-6111-2B76-F0BB542A5A6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54590C0D-C658-FDB8-DF58-D9CAFAB73A0A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8861D35F-B98A-B483-574A-B45B332A57D0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54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8842F809-6CCC-A53B-32F7-621436869815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B40C9C1-B7BA-2B29-2CD2-2532BDC65333}"/>
              </a:ext>
            </a:extLst>
          </p:cNvPr>
          <p:cNvSpPr txBox="1"/>
          <p:nvPr/>
        </p:nvSpPr>
        <p:spPr>
          <a:xfrm>
            <a:off x="6398509" y="964816"/>
            <a:ext cx="5754011" cy="1706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2. 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커스텀 데이터셋 정의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–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흑백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vs 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컬러 매칭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목적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흑백 이미지 입력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-&gt;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컬러 이미지 정답 쌍을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구성하는 맞춤형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Dataset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클래스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C047C-B134-64A6-B54B-FCFEEE5A2679}"/>
              </a:ext>
            </a:extLst>
          </p:cNvPr>
          <p:cNvSpPr txBox="1"/>
          <p:nvPr/>
        </p:nvSpPr>
        <p:spPr>
          <a:xfrm>
            <a:off x="444600" y="173354"/>
            <a:ext cx="5126724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위의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 내용 만으로는 해결이 되지 않아 코드를 바꿈</a:t>
            </a:r>
            <a:endParaRPr kumimoji="1" lang="ko-Kore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2A5F19-CB8E-5EFD-969E-ADF50C0B9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19" y="1266480"/>
            <a:ext cx="5525530" cy="13419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23AF8E-E573-8F41-CDBC-72DE8AA47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19" y="3952860"/>
            <a:ext cx="5525530" cy="18332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78841C-F0F5-822E-0839-17ED9498DF5F}"/>
              </a:ext>
            </a:extLst>
          </p:cNvPr>
          <p:cNvSpPr txBox="1"/>
          <p:nvPr/>
        </p:nvSpPr>
        <p:spPr>
          <a:xfrm>
            <a:off x="6398509" y="3894154"/>
            <a:ext cx="5661686" cy="166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3.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예외 이미지 처리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–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손상된 이미지 </a:t>
            </a:r>
            <a:r>
              <a:rPr kumimoji="0" lang="ko-KR" altLang="en-US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스킵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목적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이미지가 열리지 않을 경우 전체 학습이 멈추지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않고 다음 이미지로 계속 학습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12858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C576-D1F8-90B4-A51D-6776BC97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47E23119-D831-F1A0-736E-1B6C9FEC1A28}"/>
              </a:ext>
            </a:extLst>
          </p:cNvPr>
          <p:cNvSpPr/>
          <p:nvPr/>
        </p:nvSpPr>
        <p:spPr>
          <a:xfrm>
            <a:off x="428716" y="70020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EDE9D1A4-623D-2796-53EC-F943320D081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4843773F-5036-4D18-EB7C-BB984E3318E0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BAA387A5-5BCB-6A70-4157-38D84FE54A4C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55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F75D7C8B-718F-2AB3-8897-DF14129241F6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E930D26-D373-01E5-D300-4ECD20326254}"/>
              </a:ext>
            </a:extLst>
          </p:cNvPr>
          <p:cNvSpPr txBox="1"/>
          <p:nvPr/>
        </p:nvSpPr>
        <p:spPr>
          <a:xfrm>
            <a:off x="6874651" y="841320"/>
            <a:ext cx="5754011" cy="1706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4. 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공통 </a:t>
            </a:r>
            <a:r>
              <a:rPr kumimoji="0" lang="ko-KR" altLang="en-US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전처리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정의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–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이미지 입력 정규화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목적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모델 학습 전에 이미지 크기 통일 및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텐서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변환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,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정규화 수행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FC0FE-09DC-4B6B-65AF-1FAE2FC89CE1}"/>
              </a:ext>
            </a:extLst>
          </p:cNvPr>
          <p:cNvSpPr txBox="1"/>
          <p:nvPr/>
        </p:nvSpPr>
        <p:spPr>
          <a:xfrm>
            <a:off x="444600" y="173354"/>
            <a:ext cx="5126724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위의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 내용 만으로는 해결이 되지 않아 코드를 바꿈</a:t>
            </a:r>
            <a:endParaRPr kumimoji="1" lang="ko-Kore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1DCA0-2ED1-7552-7F17-FE4D07741B05}"/>
              </a:ext>
            </a:extLst>
          </p:cNvPr>
          <p:cNvSpPr txBox="1"/>
          <p:nvPr/>
        </p:nvSpPr>
        <p:spPr>
          <a:xfrm>
            <a:off x="6891331" y="3602582"/>
            <a:ext cx="5661686" cy="2122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5.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</a:t>
            </a:r>
            <a:r>
              <a:rPr kumimoji="0" lang="en-US" altLang="ko-KR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DataLoder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의 완전 </a:t>
            </a:r>
            <a:r>
              <a:rPr kumimoji="0" lang="ko-KR" altLang="en-US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시드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고정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–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worker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마다 </a:t>
            </a:r>
            <a:r>
              <a:rPr kumimoji="0" lang="ko-KR" altLang="en-US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랜덤성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제거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목적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DataLoder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내부의 병렬 처리에서도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랜덤성이 동일하도록 고정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FB0478A-5545-42DB-FADF-D1167E78C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18" y="871240"/>
            <a:ext cx="5974651" cy="15951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30F3D7A-AA59-1EBC-8004-A2E0D61BE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18" y="2756584"/>
            <a:ext cx="5974650" cy="3573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15484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B639A-7A81-06C2-6472-36E6A90B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2861230E-3038-3551-14E1-F49275535BD5}"/>
              </a:ext>
            </a:extLst>
          </p:cNvPr>
          <p:cNvSpPr/>
          <p:nvPr/>
        </p:nvSpPr>
        <p:spPr>
          <a:xfrm>
            <a:off x="428716" y="70020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20EEF8CB-D6A8-7001-0252-0B231CE7DDE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7" name="TextBox 18">
            <a:extLst>
              <a:ext uri="{FF2B5EF4-FFF2-40B4-BE49-F238E27FC236}">
                <a16:creationId xmlns:a16="http://schemas.microsoft.com/office/drawing/2014/main" id="{68A2F121-B353-BD9D-ACCE-1C47FE6BCD6C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56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51E266E8-65CE-18F2-3881-08A4BB2A2266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3D1366D-3E33-7A3C-A101-7B2E0B9E6620}"/>
              </a:ext>
            </a:extLst>
          </p:cNvPr>
          <p:cNvSpPr txBox="1"/>
          <p:nvPr/>
        </p:nvSpPr>
        <p:spPr>
          <a:xfrm>
            <a:off x="6437989" y="1054031"/>
            <a:ext cx="5754011" cy="2168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6. </a:t>
            </a:r>
            <a:r>
              <a:rPr kumimoji="0" lang="ko-KR" altLang="en-US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데스트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이미지 로딩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–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예측을 위한 흑백 이미지 입력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목적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학습된 모델로 테스트할 때 단일 흑백 이미지를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불러와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전처리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EC2B4-5929-D300-BF34-542E0847E52B}"/>
              </a:ext>
            </a:extLst>
          </p:cNvPr>
          <p:cNvSpPr txBox="1"/>
          <p:nvPr/>
        </p:nvSpPr>
        <p:spPr>
          <a:xfrm>
            <a:off x="444600" y="173354"/>
            <a:ext cx="5126724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위의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 내용 만으로는 해결이 되지 않아 코드를 바꿈</a:t>
            </a:r>
            <a:endParaRPr kumimoji="1" lang="ko-Kore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0919E-D1FD-456D-1F0A-BA70CEDC0EAD}"/>
              </a:ext>
            </a:extLst>
          </p:cNvPr>
          <p:cNvSpPr txBox="1"/>
          <p:nvPr/>
        </p:nvSpPr>
        <p:spPr>
          <a:xfrm>
            <a:off x="6427664" y="4248891"/>
            <a:ext cx="5661686" cy="166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7.</a:t>
            </a: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기존 테스트 이미지 함수 삭제</a:t>
            </a:r>
            <a:endParaRPr kumimoji="0" lang="en-US" altLang="ko-KR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삭제한 이유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: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transform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이라는 외부 변수를 함수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안에서 명시하지 않고 사용 → 오류 가능성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D68577-7375-37A3-8AA6-947FE6433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10" y="1266480"/>
            <a:ext cx="5219700" cy="1460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FB2191-A4E3-9529-4378-A96A45684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90" y="4718370"/>
            <a:ext cx="5232400" cy="1079500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418EA37-C33B-4A31-00F9-00950F574CA4}"/>
              </a:ext>
            </a:extLst>
          </p:cNvPr>
          <p:cNvCxnSpPr/>
          <p:nvPr/>
        </p:nvCxnSpPr>
        <p:spPr>
          <a:xfrm>
            <a:off x="462000" y="3629395"/>
            <a:ext cx="11268000" cy="146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44DE6C7-1BB5-5127-CE64-B16CBB3F54E0}"/>
              </a:ext>
            </a:extLst>
          </p:cNvPr>
          <p:cNvSpPr txBox="1"/>
          <p:nvPr/>
        </p:nvSpPr>
        <p:spPr>
          <a:xfrm>
            <a:off x="485923" y="3769143"/>
            <a:ext cx="527841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1</a:t>
            </a: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~6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번까지는 코드 추가 </a:t>
            </a: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7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번은 코드 삭제</a:t>
            </a:r>
            <a:endParaRPr kumimoji="1" lang="ko-Kore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8651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A1D1-B489-FA60-CDFD-FA3609D4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BEAD7742-2E98-970F-83E4-FDF3287C288C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C93E20A6-A806-DACE-A556-0AAD5F09AF5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44F40EFF-5AA7-2CBD-6479-43CD8CCE1F14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B060D8F9-B857-CEEE-319F-2B96570DD4CD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57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704D82A7-E4D6-73AF-B35C-AC3832DC3711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AA5695-A101-9AAE-13FB-559ACFE39561}"/>
              </a:ext>
            </a:extLst>
          </p:cNvPr>
          <p:cNvSpPr txBox="1"/>
          <p:nvPr/>
        </p:nvSpPr>
        <p:spPr>
          <a:xfrm>
            <a:off x="635620" y="271468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결과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 비교</a:t>
            </a:r>
            <a:endParaRPr kumimoji="1" lang="ko-Kore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9C79E-8C1A-246B-5B0D-3821A545F6BE}"/>
              </a:ext>
            </a:extLst>
          </p:cNvPr>
          <p:cNvSpPr txBox="1"/>
          <p:nvPr/>
        </p:nvSpPr>
        <p:spPr>
          <a:xfrm>
            <a:off x="578876" y="6067940"/>
            <a:ext cx="712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그림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rPr>
              <a:t>동일 조건에서 발생한 결과 차이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444600" y="719666"/>
          <a:ext cx="11277360" cy="528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340">
                  <a:extLst>
                    <a:ext uri="{9D8B030D-6E8A-4147-A177-3AD203B41FA5}">
                      <a16:colId xmlns:a16="http://schemas.microsoft.com/office/drawing/2014/main" val="1543570741"/>
                    </a:ext>
                  </a:extLst>
                </a:gridCol>
                <a:gridCol w="2819340">
                  <a:extLst>
                    <a:ext uri="{9D8B030D-6E8A-4147-A177-3AD203B41FA5}">
                      <a16:colId xmlns:a16="http://schemas.microsoft.com/office/drawing/2014/main" val="3986532181"/>
                    </a:ext>
                  </a:extLst>
                </a:gridCol>
                <a:gridCol w="2819340">
                  <a:extLst>
                    <a:ext uri="{9D8B030D-6E8A-4147-A177-3AD203B41FA5}">
                      <a16:colId xmlns:a16="http://schemas.microsoft.com/office/drawing/2014/main" val="1475467739"/>
                    </a:ext>
                  </a:extLst>
                </a:gridCol>
                <a:gridCol w="2819340">
                  <a:extLst>
                    <a:ext uri="{9D8B030D-6E8A-4147-A177-3AD203B41FA5}">
                      <a16:colId xmlns:a16="http://schemas.microsoft.com/office/drawing/2014/main" val="3595623821"/>
                    </a:ext>
                  </a:extLst>
                </a:gridCol>
              </a:tblGrid>
              <a:tr h="13222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</a:t>
                      </a:r>
                      <a:r>
                        <a:rPr lang="en-US" altLang="ko-KR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</a:t>
                      </a:r>
                      <a:r>
                        <a:rPr lang="en-US" altLang="ko-KR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  <a:r>
                        <a:rPr lang="en-US" altLang="ko-KR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</a:t>
                      </a:r>
                      <a:r>
                        <a:rPr lang="en-US" altLang="ko-KR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468980"/>
                  </a:ext>
                </a:extLst>
              </a:tr>
              <a:tr h="132224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809321938"/>
                  </a:ext>
                </a:extLst>
              </a:tr>
              <a:tr h="132224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1931095"/>
                  </a:ext>
                </a:extLst>
              </a:tr>
              <a:tr h="132224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1639055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918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6E63D12D-9A2A-D03D-7A41-7E2C89133941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4934BF36-A231-6457-AABA-FEAEB1A1BEE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5EBFBE4C-798E-5ED0-690B-BF75D4A2839D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395AABDC-1173-793A-05A2-AB006DB29B12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58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D08A1A10-6E9A-611B-FC99-CB6DB498623F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A07D560-416F-7EB3-07C4-AD31B2D433F7}"/>
              </a:ext>
            </a:extLst>
          </p:cNvPr>
          <p:cNvSpPr txBox="1"/>
          <p:nvPr/>
        </p:nvSpPr>
        <p:spPr>
          <a:xfrm>
            <a:off x="7816648" y="4775305"/>
            <a:ext cx="3600000" cy="479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6572" y="2464361"/>
            <a:ext cx="874276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원인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컬러 복원의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확률성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자체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흑백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컬러 복원은 본질적으로 정답이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여러개인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문제임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학습 데이터 경향에 따라 결과 달라짐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완전한 통일은 불가능함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생성 모델의 특성상 색상은 다양하게 나올 수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167" y="804815"/>
            <a:ext cx="10918374" cy="92333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코드 수정 후 동일 조건으로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번의 실험을 한 결과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개는 결과가 똑같이 나왔고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개는 다르게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나옴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코드를 수정한 후에도 확률은 낮아졌지만 아직도 같은 문제가 발생해 외부적인 요인의 원인을 찾아봄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258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5883-F2AC-60BE-E41E-47C0AE6B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3E729F0E-4D74-36D6-D242-4F5607080DE4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2601FBE3-2066-3490-0A8F-3541EAA83C9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6C4EF935-C145-A17F-2728-C94DE4BBF5C0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2C28D936-3461-0664-BBF2-4CB07E4DC15C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59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63AF44DB-5AEB-9823-A1C4-6A4AA35370CA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98386CB-8A9C-A57D-73D8-6523749DD0DD}"/>
              </a:ext>
            </a:extLst>
          </p:cNvPr>
          <p:cNvSpPr txBox="1"/>
          <p:nvPr/>
        </p:nvSpPr>
        <p:spPr>
          <a:xfrm>
            <a:off x="7816648" y="4775305"/>
            <a:ext cx="3600000" cy="479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5924BB-1F40-9F1D-3759-E38EB4997DDD}"/>
              </a:ext>
            </a:extLst>
          </p:cNvPr>
          <p:cNvSpPr txBox="1"/>
          <p:nvPr/>
        </p:nvSpPr>
        <p:spPr>
          <a:xfrm>
            <a:off x="701268" y="850726"/>
            <a:ext cx="8742764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원인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＇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치트키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학습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Generator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가 빨간색을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Discriminator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를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속이기 위한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치트키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학습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PatchGAN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이미지 전체가 아니라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작은 부분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(patch)”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만 보고 진짜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가짜를 판단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그래서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Generator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가 아래와 같이 행동할 수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“Discriminator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이 부분에서 빨간색이 있으면 진짜라고 판단하더라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그럼 계속 빨간색을 넣자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이런 현상을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“local color artifact”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라고도 부름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7052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9F9F-754C-4893-7342-6E8F3AF6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11">
            <a:extLst>
              <a:ext uri="{FF2B5EF4-FFF2-40B4-BE49-F238E27FC236}">
                <a16:creationId xmlns:a16="http://schemas.microsoft.com/office/drawing/2014/main" id="{B5CD20B7-2A15-9B1B-6CD2-7750A8D72E59}"/>
              </a:ext>
            </a:extLst>
          </p:cNvPr>
          <p:cNvSpPr/>
          <p:nvPr/>
        </p:nvSpPr>
        <p:spPr>
          <a:xfrm>
            <a:off x="444600" y="696960"/>
            <a:ext cx="11277360" cy="5766840"/>
          </a:xfrm>
          <a:prstGeom prst="rect">
            <a:avLst/>
          </a:prstGeom>
          <a:noFill/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94" name="그림 5">
            <a:extLst>
              <a:ext uri="{FF2B5EF4-FFF2-40B4-BE49-F238E27FC236}">
                <a16:creationId xmlns:a16="http://schemas.microsoft.com/office/drawing/2014/main" id="{42EDA37E-FB2E-36B9-0AEE-A3EE031D187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78000" y="74520"/>
            <a:ext cx="974520" cy="567000"/>
          </a:xfrm>
          <a:prstGeom prst="rect">
            <a:avLst/>
          </a:prstGeom>
          <a:ln w="0">
            <a:noFill/>
          </a:ln>
        </p:spPr>
      </p:pic>
      <p:sp>
        <p:nvSpPr>
          <p:cNvPr id="96" name="TextBox 17">
            <a:extLst>
              <a:ext uri="{FF2B5EF4-FFF2-40B4-BE49-F238E27FC236}">
                <a16:creationId xmlns:a16="http://schemas.microsoft.com/office/drawing/2014/main" id="{C33A501B-130E-7529-5296-7C34575481FF}"/>
              </a:ext>
            </a:extLst>
          </p:cNvPr>
          <p:cNvSpPr/>
          <p:nvPr/>
        </p:nvSpPr>
        <p:spPr>
          <a:xfrm>
            <a:off x="900000" y="900000"/>
            <a:ext cx="6480000" cy="186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11B9E516-87D3-9AA7-9300-300C3D75EEA0}"/>
              </a:ext>
            </a:extLst>
          </p:cNvPr>
          <p:cNvSpPr/>
          <p:nvPr/>
        </p:nvSpPr>
        <p:spPr>
          <a:xfrm>
            <a:off x="11747520" y="6464160"/>
            <a:ext cx="4438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맑은 고딕"/>
              </a:rPr>
              <a:t>60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직사각형 12">
            <a:extLst>
              <a:ext uri="{FF2B5EF4-FFF2-40B4-BE49-F238E27FC236}">
                <a16:creationId xmlns:a16="http://schemas.microsoft.com/office/drawing/2014/main" id="{B555D6BC-141D-2C75-296C-350BFA4073FA}"/>
              </a:ext>
            </a:extLst>
          </p:cNvPr>
          <p:cNvSpPr/>
          <p:nvPr/>
        </p:nvSpPr>
        <p:spPr>
          <a:xfrm flipV="1">
            <a:off x="444600" y="640800"/>
            <a:ext cx="11257200" cy="59400"/>
          </a:xfrm>
          <a:prstGeom prst="rect">
            <a:avLst/>
          </a:prstGeom>
          <a:solidFill>
            <a:schemeClr val="accent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4760" rIns="90000" bIns="1476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3B46A0-90F4-5833-66E0-69C6DDD90246}"/>
              </a:ext>
            </a:extLst>
          </p:cNvPr>
          <p:cNvSpPr txBox="1"/>
          <p:nvPr/>
        </p:nvSpPr>
        <p:spPr>
          <a:xfrm>
            <a:off x="7816648" y="4775305"/>
            <a:ext cx="3600000" cy="479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2F391-C023-210A-C9FC-D01C63AEA587}"/>
              </a:ext>
            </a:extLst>
          </p:cNvPr>
          <p:cNvSpPr txBox="1"/>
          <p:nvPr/>
        </p:nvSpPr>
        <p:spPr>
          <a:xfrm>
            <a:off x="701268" y="850726"/>
            <a:ext cx="8742764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원인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편향성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학습데이터 자체가 편향되어 있을 가능성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예를 들어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실제 훈련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이미지들에서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하단 왼쪽 부근에 붉은 나뭇잎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조명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불꽃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꽃 같은 것이 자주 나왔을 경우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모델은 자연스럽게 위치에 따른 색상 패턴을 학습하게 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이건 일종의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과적합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(overfitting)＂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임 특히 위치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색상 상관관계에 과도하게 반응함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A8CD5-C2EE-6B2F-1B83-5D71AAB72F0F}"/>
              </a:ext>
            </a:extLst>
          </p:cNvPr>
          <p:cNvSpPr txBox="1"/>
          <p:nvPr/>
        </p:nvSpPr>
        <p:spPr>
          <a:xfrm>
            <a:off x="10483202" y="6445406"/>
            <a:ext cx="15416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+mn-lt"/>
                <a:cs typeface="+mn-lt"/>
              </a:rPr>
              <a:t>유지원</a:t>
            </a:r>
            <a:endParaRPr lang="en-US" altLang="ko-KR" sz="20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47535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1BDD-D5D1-4BB6-D150-46D699E8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BA7617-813D-525C-C265-7B3CB302568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4DF1E-A607-DDC4-52F7-B57701FE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BBE44-06D9-6488-BA73-EBDE4A7D4196}"/>
              </a:ext>
            </a:extLst>
          </p:cNvPr>
          <p:cNvSpPr txBox="1"/>
          <p:nvPr/>
        </p:nvSpPr>
        <p:spPr>
          <a:xfrm>
            <a:off x="572148" y="145735"/>
            <a:ext cx="406814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400" b="1">
                <a:ea typeface="맑은 고딕"/>
              </a:rPr>
              <a:t>12</a:t>
            </a:r>
            <a:r>
              <a:rPr lang="ko-KR" altLang="en-US" sz="2400" b="1">
                <a:ea typeface="맑은 고딕"/>
              </a:rPr>
              <a:t>주차 </a:t>
            </a:r>
            <a:r>
              <a:rPr lang="ko-KR" altLang="en-US" sz="2400" b="1" dirty="0">
                <a:ea typeface="맑은 고딕"/>
              </a:rPr>
              <a:t>팀별 </a:t>
            </a:r>
            <a:r>
              <a:rPr lang="ko-KR" altLang="en-US" sz="2400" b="1" dirty="0" err="1">
                <a:ea typeface="맑은 고딕"/>
              </a:rPr>
              <a:t>활동표</a:t>
            </a:r>
            <a:endParaRPr lang="ko-KR" altLang="en-US" sz="2400" b="1" dirty="0"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D96BC7-0739-62C5-24E9-11606E73EA97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E966A-3187-6BE8-B0FE-C27754B449C5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 smtClean="0">
                <a:ea typeface="맑은 고딕"/>
              </a:rPr>
              <a:t>61</a:t>
            </a:r>
            <a:endParaRPr lang="en-US" altLang="ko-KR" dirty="0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F189C-E5F8-96ED-39C5-209CF37458CB}"/>
              </a:ext>
            </a:extLst>
          </p:cNvPr>
          <p:cNvSpPr txBox="1"/>
          <p:nvPr/>
        </p:nvSpPr>
        <p:spPr>
          <a:xfrm>
            <a:off x="572148" y="880831"/>
            <a:ext cx="1104770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ea typeface="맑은 고딕"/>
            </a:endParaRPr>
          </a:p>
          <a:p>
            <a:endParaRPr lang="ko-KR" altLang="en-US" sz="2000">
              <a:ea typeface="맑은 고딕"/>
            </a:endParaRPr>
          </a:p>
          <a:p>
            <a:endParaRPr lang="en-US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A4087C8-7AC5-A1D7-2C0A-6A0682FE9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877734"/>
              </p:ext>
            </p:extLst>
          </p:nvPr>
        </p:nvGraphicFramePr>
        <p:xfrm>
          <a:off x="871036" y="1456905"/>
          <a:ext cx="10404375" cy="423597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28482">
                  <a:extLst>
                    <a:ext uri="{9D8B030D-6E8A-4147-A177-3AD203B41FA5}">
                      <a16:colId xmlns:a16="http://schemas.microsoft.com/office/drawing/2014/main" val="2385784734"/>
                    </a:ext>
                  </a:extLst>
                </a:gridCol>
                <a:gridCol w="1176951">
                  <a:extLst>
                    <a:ext uri="{9D8B030D-6E8A-4147-A177-3AD203B41FA5}">
                      <a16:colId xmlns:a16="http://schemas.microsoft.com/office/drawing/2014/main" val="2531433016"/>
                    </a:ext>
                  </a:extLst>
                </a:gridCol>
                <a:gridCol w="3548958">
                  <a:extLst>
                    <a:ext uri="{9D8B030D-6E8A-4147-A177-3AD203B41FA5}">
                      <a16:colId xmlns:a16="http://schemas.microsoft.com/office/drawing/2014/main" val="812988551"/>
                    </a:ext>
                  </a:extLst>
                </a:gridCol>
                <a:gridCol w="1195058">
                  <a:extLst>
                    <a:ext uri="{9D8B030D-6E8A-4147-A177-3AD203B41FA5}">
                      <a16:colId xmlns:a16="http://schemas.microsoft.com/office/drawing/2014/main" val="2290352688"/>
                    </a:ext>
                  </a:extLst>
                </a:gridCol>
                <a:gridCol w="1474051">
                  <a:extLst>
                    <a:ext uri="{9D8B030D-6E8A-4147-A177-3AD203B41FA5}">
                      <a16:colId xmlns:a16="http://schemas.microsoft.com/office/drawing/2014/main" val="3498014087"/>
                    </a:ext>
                  </a:extLst>
                </a:gridCol>
                <a:gridCol w="2080875">
                  <a:extLst>
                    <a:ext uri="{9D8B030D-6E8A-4147-A177-3AD203B41FA5}">
                      <a16:colId xmlns:a16="http://schemas.microsoft.com/office/drawing/2014/main" val="72598099"/>
                    </a:ext>
                  </a:extLst>
                </a:gridCol>
              </a:tblGrid>
              <a:tr h="6339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담당업무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수행여부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03419"/>
                  </a:ext>
                </a:extLst>
              </a:tr>
              <a:tr h="99673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강민수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2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 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041"/>
                  </a:ext>
                </a:extLst>
              </a:tr>
              <a:tr h="85858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</a:t>
                      </a:r>
                      <a:r>
                        <a:rPr lang="ko-KR" altLang="en-US" dirty="0" err="1"/>
                        <a:t>문소영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 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143250"/>
                  </a:ext>
                </a:extLst>
              </a:tr>
              <a:tr h="9100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 </a:t>
                      </a:r>
                      <a:r>
                        <a:rPr lang="ko-KR" altLang="en-US"/>
                        <a:t>소윤진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 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214054"/>
                  </a:ext>
                </a:extLst>
              </a:tr>
              <a:tr h="8366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유지원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    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17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4381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1F2-98E5-6E14-679E-C5A0C147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346682-D94B-A5B3-7E8B-12F3F22188B5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756226-68D6-90D6-2606-663D4C87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14DD9B-594A-31F2-F0DD-5F2C6784A7C5}"/>
              </a:ext>
            </a:extLst>
          </p:cNvPr>
          <p:cNvSpPr txBox="1"/>
          <p:nvPr/>
        </p:nvSpPr>
        <p:spPr>
          <a:xfrm>
            <a:off x="373224" y="162868"/>
            <a:ext cx="406814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참고문헌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139163-B36F-26E4-52A6-2BCCBDE8FA35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591ED-B7EC-3D8D-4DE4-BF2CBAB774B1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0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63D76-5581-6E58-2934-548E7F1CE198}"/>
              </a:ext>
            </a:extLst>
          </p:cNvPr>
          <p:cNvSpPr txBox="1"/>
          <p:nvPr/>
        </p:nvSpPr>
        <p:spPr>
          <a:xfrm>
            <a:off x="572148" y="880831"/>
            <a:ext cx="11047704" cy="58631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400" dirty="0">
                <a:ea typeface="맑은 고딕"/>
              </a:rPr>
              <a:t>[</a:t>
            </a:r>
            <a:r>
              <a:rPr lang="en-US" altLang="ko-KR" sz="2400" dirty="0" err="1">
                <a:ea typeface="맑은 고딕"/>
              </a:rPr>
              <a:t>참고문헌</a:t>
            </a:r>
            <a:r>
              <a:rPr lang="en-US" altLang="ko-KR" sz="2400" dirty="0">
                <a:ea typeface="맑은 고딕"/>
              </a:rPr>
              <a:t>]</a:t>
            </a:r>
          </a:p>
          <a:p>
            <a:endParaRPr lang="en-US" altLang="ko-KR" sz="2000" dirty="0">
              <a:ea typeface="+mn-lt"/>
              <a:cs typeface="+mn-lt"/>
            </a:endParaRPr>
          </a:p>
          <a:p>
            <a:r>
              <a:rPr lang="en-US" altLang="ko-KR" sz="1900" dirty="0">
                <a:solidFill>
                  <a:srgbClr val="1D1D1D"/>
                </a:solidFill>
                <a:ea typeface="맑은 고딕"/>
              </a:rPr>
              <a:t>[1] </a:t>
            </a:r>
            <a:r>
              <a:rPr lang="ko-KR" sz="1900" dirty="0" err="1">
                <a:solidFill>
                  <a:srgbClr val="1D1D1D"/>
                </a:solidFill>
                <a:ea typeface="맑은 고딕"/>
              </a:rPr>
              <a:t>딥러닝을</a:t>
            </a:r>
            <a:r>
              <a:rPr lang="ko-KR" sz="1900" dirty="0">
                <a:solidFill>
                  <a:srgbClr val="1D1D1D"/>
                </a:solidFill>
                <a:ea typeface="맑은 고딕"/>
              </a:rPr>
              <a:t> 이용한 손상된 흑백 이미지 컬러 복원</a:t>
            </a:r>
          </a:p>
          <a:p>
            <a:r>
              <a:rPr lang="ko-KR" dirty="0">
                <a:solidFill>
                  <a:srgbClr val="888888"/>
                </a:solidFill>
                <a:latin typeface="Roboto"/>
                <a:ea typeface="Malgun Gothic"/>
                <a:cs typeface="Roboto"/>
                <a:hlinkClick r:id="rId3"/>
              </a:rPr>
              <a:t>https</a:t>
            </a:r>
            <a:r>
              <a:rPr lang="en-US" altLang="ko-KR" dirty="0">
                <a:solidFill>
                  <a:srgbClr val="888888"/>
                </a:solidFill>
                <a:latin typeface="Roboto"/>
                <a:ea typeface="Roboto"/>
                <a:cs typeface="Roboto"/>
                <a:hlinkClick r:id="rId3"/>
              </a:rPr>
              <a:t>://www-riss-kr.libproxy.konyang.ac.kr/link?id=</a:t>
            </a:r>
            <a:r>
              <a:rPr lang="ko-KR" dirty="0">
                <a:solidFill>
                  <a:srgbClr val="888888"/>
                </a:solidFill>
                <a:latin typeface="Roboto"/>
                <a:ea typeface="+mn-lt"/>
                <a:cs typeface="Roboto"/>
                <a:hlinkClick r:id="rId3"/>
              </a:rPr>
              <a:t>T14805210</a:t>
            </a:r>
            <a:endParaRPr lang="en-US" dirty="0"/>
          </a:p>
          <a:p>
            <a:endParaRPr lang="ko-KR" dirty="0">
              <a:solidFill>
                <a:srgbClr val="888888"/>
              </a:solidFill>
              <a:latin typeface="Roboto"/>
              <a:ea typeface="맑은 고딕"/>
              <a:cs typeface="Roboto"/>
            </a:endParaRPr>
          </a:p>
          <a:p>
            <a:r>
              <a:rPr lang="en-US" altLang="ko-KR" sz="1900" dirty="0">
                <a:solidFill>
                  <a:srgbClr val="1D1D1D"/>
                </a:solidFill>
                <a:ea typeface="맑은 고딕"/>
              </a:rPr>
              <a:t>[2]</a:t>
            </a:r>
            <a:r>
              <a:rPr lang="ko-KR" altLang="en-US" sz="1900" dirty="0">
                <a:solidFill>
                  <a:srgbClr val="1D1D1D"/>
                </a:solidFill>
                <a:ea typeface="맑은 고딕"/>
              </a:rPr>
              <a:t> </a:t>
            </a:r>
            <a:r>
              <a:rPr lang="en-US" altLang="ko-KR" sz="1900" dirty="0">
                <a:solidFill>
                  <a:srgbClr val="1D1D1D"/>
                </a:solidFill>
                <a:ea typeface="맑은 고딕"/>
              </a:rPr>
              <a:t>U-Net</a:t>
            </a:r>
            <a:r>
              <a:rPr lang="ko-KR" sz="1900" dirty="0">
                <a:solidFill>
                  <a:srgbClr val="1D1D1D"/>
                </a:solidFill>
                <a:ea typeface="맑은 고딕"/>
              </a:rPr>
              <a:t> 구조의 </a:t>
            </a:r>
            <a:r>
              <a:rPr lang="ko-KR" sz="1900" dirty="0" err="1">
                <a:solidFill>
                  <a:srgbClr val="1D1D1D"/>
                </a:solidFill>
                <a:ea typeface="맑은 고딕"/>
              </a:rPr>
              <a:t>딥러닝에서</a:t>
            </a:r>
            <a:r>
              <a:rPr lang="ko-KR" sz="1900" dirty="0">
                <a:solidFill>
                  <a:srgbClr val="1D1D1D"/>
                </a:solidFill>
                <a:ea typeface="맑은 고딕"/>
              </a:rPr>
              <a:t> 이미지 정렬 기반의 색상 매핑을 이용한 흑백 이미지 채색화 방법</a:t>
            </a:r>
            <a:endParaRPr lang="ko-KR" dirty="0">
              <a:ea typeface="맑은 고딕"/>
            </a:endParaRPr>
          </a:p>
          <a:p>
            <a:r>
              <a:rPr lang="ko-KR" dirty="0">
                <a:solidFill>
                  <a:srgbClr val="888888"/>
                </a:solidFill>
                <a:latin typeface="Roboto"/>
                <a:ea typeface="맑은 고딕"/>
                <a:cs typeface="Roboto"/>
                <a:hlinkClick r:id="rId4"/>
              </a:rPr>
              <a:t>https://www-riss-kr.libproxy.konyang.ac.kr/link?id=T15685056</a:t>
            </a:r>
            <a:endParaRPr lang="ko-KR" dirty="0"/>
          </a:p>
          <a:p>
            <a:endParaRPr lang="ko-KR" dirty="0">
              <a:solidFill>
                <a:srgbClr val="888888"/>
              </a:solidFill>
              <a:latin typeface="Roboto"/>
              <a:ea typeface="맑은 고딕"/>
              <a:cs typeface="Roboto"/>
            </a:endParaRPr>
          </a:p>
          <a:p>
            <a:r>
              <a:rPr lang="en-US" sz="1900" dirty="0">
                <a:solidFill>
                  <a:srgbClr val="1D1D1D"/>
                </a:solidFill>
              </a:rPr>
              <a:t>[3] </a:t>
            </a:r>
            <a:r>
              <a:rPr lang="en-US" sz="1900" dirty="0" err="1">
                <a:solidFill>
                  <a:srgbClr val="1D1D1D"/>
                </a:solidFill>
              </a:rPr>
              <a:t>인공지능</a:t>
            </a:r>
            <a:r>
              <a:rPr lang="en-US" sz="1900" dirty="0">
                <a:solidFill>
                  <a:srgbClr val="1D1D1D"/>
                </a:solidFill>
              </a:rPr>
              <a:t>(</a:t>
            </a:r>
            <a:r>
              <a:rPr lang="en-US" sz="1900" dirty="0" err="1">
                <a:solidFill>
                  <a:srgbClr val="1D1D1D"/>
                </a:solidFill>
              </a:rPr>
              <a:t>Deoldify</a:t>
            </a:r>
            <a:r>
              <a:rPr lang="en-US" sz="1900" dirty="0">
                <a:solidFill>
                  <a:srgbClr val="1D1D1D"/>
                </a:solidFill>
              </a:rPr>
              <a:t>)을 </a:t>
            </a:r>
            <a:r>
              <a:rPr lang="en-US" sz="1900" dirty="0" err="1">
                <a:solidFill>
                  <a:srgbClr val="1D1D1D"/>
                </a:solidFill>
              </a:rPr>
              <a:t>활용한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흑백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영상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채색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연구</a:t>
            </a:r>
            <a:r>
              <a:rPr lang="en-US" sz="1900" dirty="0">
                <a:solidFill>
                  <a:srgbClr val="1D1D1D"/>
                </a:solidFill>
              </a:rPr>
              <a:t> : </a:t>
            </a:r>
            <a:r>
              <a:rPr lang="en-US" sz="1900" dirty="0" err="1">
                <a:solidFill>
                  <a:srgbClr val="1D1D1D"/>
                </a:solidFill>
              </a:rPr>
              <a:t>인공지능을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활용한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오래된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흑백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영상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복원의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디지털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수정방안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제시</a:t>
            </a:r>
            <a:r>
              <a:rPr lang="en-US" sz="1900" dirty="0">
                <a:solidFill>
                  <a:srgbClr val="1D1D1D"/>
                </a:solidFill>
              </a:rPr>
              <a:t> </a:t>
            </a:r>
            <a:r>
              <a:rPr lang="en-US" sz="1900" dirty="0" err="1">
                <a:solidFill>
                  <a:srgbClr val="1D1D1D"/>
                </a:solidFill>
              </a:rPr>
              <a:t>중심으로</a:t>
            </a:r>
            <a:endParaRPr lang="en-US" dirty="0"/>
          </a:p>
          <a:p>
            <a:r>
              <a:rPr lang="en-US" dirty="0">
                <a:solidFill>
                  <a:srgbClr val="888888"/>
                </a:solidFill>
                <a:latin typeface="Roboto"/>
                <a:ea typeface="Roboto"/>
                <a:cs typeface="Roboto"/>
                <a:hlinkClick r:id="rId5"/>
              </a:rPr>
              <a:t>https://www-riss-kr.libproxy.konyang.ac.kr/link?id=T16085912</a:t>
            </a:r>
            <a:endParaRPr lang="en-US" dirty="0">
              <a:solidFill>
                <a:srgbClr val="888888"/>
              </a:solidFill>
              <a:latin typeface="Roboto"/>
              <a:ea typeface="Roboto"/>
              <a:cs typeface="Roboto"/>
            </a:endParaRPr>
          </a:p>
          <a:p>
            <a:endParaRPr lang="en-US" dirty="0">
              <a:solidFill>
                <a:srgbClr val="888888"/>
              </a:solidFill>
              <a:latin typeface="Roboto"/>
              <a:ea typeface="Roboto"/>
              <a:cs typeface="Roboto"/>
            </a:endParaRPr>
          </a:p>
          <a:p>
            <a:r>
              <a:rPr lang="en-US" altLang="ko-KR" sz="1900" dirty="0">
                <a:solidFill>
                  <a:srgbClr val="1D1D1D"/>
                </a:solidFill>
                <a:ea typeface="맑은 고딕"/>
              </a:rPr>
              <a:t>[4]</a:t>
            </a:r>
            <a:r>
              <a:rPr lang="ko-KR" sz="1900" dirty="0">
                <a:solidFill>
                  <a:srgbClr val="1D1D1D"/>
                </a:solidFill>
                <a:ea typeface="맑은 고딕"/>
              </a:rPr>
              <a:t> </a:t>
            </a:r>
            <a:r>
              <a:rPr lang="en-US" altLang="ko-KR" sz="1900" dirty="0">
                <a:solidFill>
                  <a:srgbClr val="1D1D1D"/>
                </a:solidFill>
                <a:ea typeface="맑은 고딕"/>
              </a:rPr>
              <a:t>Pix2Pix</a:t>
            </a:r>
            <a:r>
              <a:rPr lang="ko-KR" sz="1900" dirty="0">
                <a:solidFill>
                  <a:srgbClr val="1D1D1D"/>
                </a:solidFill>
                <a:ea typeface="맑은 고딕"/>
              </a:rPr>
              <a:t>의 수용 영역 조절을 통한 전통 고궁 이미지 복원 연구</a:t>
            </a:r>
            <a:endParaRPr lang="ko-KR" dirty="0">
              <a:ea typeface="맑은 고딕"/>
            </a:endParaRPr>
          </a:p>
          <a:p>
            <a:r>
              <a:rPr lang="ko-KR" dirty="0">
                <a:solidFill>
                  <a:srgbClr val="888888"/>
                </a:solidFill>
                <a:latin typeface="Roboto"/>
                <a:ea typeface="맑은 고딕"/>
                <a:cs typeface="Roboto"/>
                <a:hlinkClick r:id="rId6"/>
              </a:rPr>
              <a:t>https://www-riss-kr.libproxy.konyang.ac.kr/link?id=A108327942</a:t>
            </a:r>
            <a:endParaRPr lang="ko-KR" dirty="0">
              <a:ea typeface="맑은 고딕"/>
            </a:endParaRPr>
          </a:p>
          <a:p>
            <a:endParaRPr lang="en-US" altLang="ko-KR">
              <a:solidFill>
                <a:srgbClr val="888888"/>
              </a:solidFill>
              <a:latin typeface="Roboto"/>
              <a:ea typeface="맑은 고딕"/>
              <a:cs typeface="Roboto"/>
            </a:endParaRPr>
          </a:p>
          <a:p>
            <a:r>
              <a:rPr lang="en-US" altLang="ko-KR">
                <a:solidFill>
                  <a:srgbClr val="1D1D1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[5]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U-Net: Convolutional Networks for Biomedical Image Segmentation</a:t>
            </a:r>
          </a:p>
          <a:p>
            <a:r>
              <a:rPr lang="en-US" altLang="ko-KR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oboto"/>
                <a:hlinkClick r:id="rId7"/>
              </a:rPr>
              <a:t>https://arxiv.org/abs/1505.04597</a:t>
            </a:r>
            <a:endParaRPr lang="en-US" altLang="ko-KR">
              <a:solidFill>
                <a:srgbClr val="888888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oboto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927435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1F2-98E5-6E14-679E-C5A0C147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346682-D94B-A5B3-7E8B-12F3F22188B5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756226-68D6-90D6-2606-663D4C878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14DD9B-594A-31F2-F0DD-5F2C6784A7C5}"/>
              </a:ext>
            </a:extLst>
          </p:cNvPr>
          <p:cNvSpPr txBox="1"/>
          <p:nvPr/>
        </p:nvSpPr>
        <p:spPr>
          <a:xfrm>
            <a:off x="373224" y="162868"/>
            <a:ext cx="406814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참고문헌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139163-B36F-26E4-52A6-2BCCBDE8FA35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591ED-B7EC-3D8D-4DE4-BF2CBAB774B1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0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63D76-5581-6E58-2934-548E7F1CE198}"/>
              </a:ext>
            </a:extLst>
          </p:cNvPr>
          <p:cNvSpPr txBox="1"/>
          <p:nvPr/>
        </p:nvSpPr>
        <p:spPr>
          <a:xfrm>
            <a:off x="572148" y="880831"/>
            <a:ext cx="11283721" cy="6524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400" dirty="0">
                <a:ea typeface="맑은 고딕"/>
              </a:rPr>
              <a:t>[</a:t>
            </a:r>
            <a:r>
              <a:rPr lang="en-US" altLang="ko-KR" sz="2400" dirty="0" err="1">
                <a:ea typeface="맑은 고딕"/>
              </a:rPr>
              <a:t>참고문헌</a:t>
            </a:r>
            <a:r>
              <a:rPr lang="en-US" altLang="ko-KR" sz="2400" dirty="0">
                <a:ea typeface="맑은 고딕"/>
              </a:rPr>
              <a:t>]</a:t>
            </a:r>
          </a:p>
          <a:p>
            <a:endParaRPr lang="ko-KR" altLang="ko-KR" dirty="0">
              <a:solidFill>
                <a:srgbClr val="888888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oboto"/>
            </a:endParaRPr>
          </a:p>
          <a:p>
            <a:r>
              <a:rPr lang="en-US" altLang="ko-KR" dirty="0">
                <a:solidFill>
                  <a:srgbClr val="1D1D1D"/>
                </a:solidFill>
                <a:latin typeface="맑은 고딕"/>
                <a:ea typeface="맑은 고딕"/>
              </a:rPr>
              <a:t>[6]</a:t>
            </a:r>
            <a:r>
              <a:rPr lang="ko-KR" altLang="en-US" dirty="0">
                <a:solidFill>
                  <a:srgbClr val="1D1D1D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Image-to-Image Translation with Conditional Adversarial Networks</a:t>
            </a:r>
          </a:p>
          <a:p>
            <a:r>
              <a:rPr lang="en-US" altLang="ko-KR" dirty="0">
                <a:solidFill>
                  <a:srgbClr val="888888"/>
                </a:solidFill>
                <a:latin typeface="맑은 고딕"/>
                <a:ea typeface="맑은 고딕"/>
                <a:cs typeface="Roboto"/>
                <a:hlinkClick r:id="rId4"/>
              </a:rPr>
              <a:t>https://arxiv.org/abs/1611.07004</a:t>
            </a:r>
            <a:endParaRPr lang="en-US" altLang="ko-KR">
              <a:solidFill>
                <a:srgbClr val="888888"/>
              </a:solidFill>
              <a:latin typeface="맑은 고딕"/>
              <a:ea typeface="맑은 고딕"/>
              <a:cs typeface="Roboto"/>
            </a:endParaRPr>
          </a:p>
          <a:p>
            <a:endParaRPr lang="en-US" altLang="ko-KR" dirty="0">
              <a:solidFill>
                <a:srgbClr val="888888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oboto"/>
            </a:endParaRPr>
          </a:p>
          <a:p>
            <a:r>
              <a:rPr lang="en-US" altLang="ko-KR" dirty="0">
                <a:latin typeface="맑은 고딕"/>
                <a:ea typeface="맑은 고딕"/>
                <a:cs typeface="Roboto"/>
              </a:rPr>
              <a:t>[7] </a:t>
            </a:r>
            <a:r>
              <a:rPr lang="en-US" altLang="ko-KR" dirty="0">
                <a:latin typeface="맑은 고딕"/>
                <a:ea typeface="맑은 고딕"/>
              </a:rPr>
              <a:t>A Pix2Pix GAN-Based Approach for Automated Colorization of Landmarks</a:t>
            </a:r>
          </a:p>
          <a:p>
            <a:r>
              <a:rPr lang="en-US" altLang="ko-KR" dirty="0">
                <a:latin typeface="맑은 고딕"/>
                <a:ea typeface="맑은 고딕"/>
                <a:cs typeface="Roboto"/>
                <a:hlinkClick r:id="rId5"/>
              </a:rPr>
              <a:t>https://www.researchgate.net/publication/384042799_A_Pix2Pix_GAN-Based_Approach_for_Automated_Colorization_of_Landmarks</a:t>
            </a:r>
            <a:endParaRPr lang="en-US" altLang="ko-KR" dirty="0">
              <a:latin typeface="맑은 고딕"/>
              <a:ea typeface="맑은 고딕"/>
              <a:cs typeface="Roboto"/>
            </a:endParaRPr>
          </a:p>
          <a:p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Roboto"/>
            </a:endParaRPr>
          </a:p>
          <a:p>
            <a:r>
              <a:rPr lang="en-US" altLang="ko-KR" dirty="0">
                <a:latin typeface="맑은 고딕"/>
                <a:ea typeface="맑은 고딕"/>
                <a:cs typeface="Roboto"/>
              </a:rPr>
              <a:t>[8] </a:t>
            </a:r>
            <a:r>
              <a:rPr lang="en-US" dirty="0">
                <a:ea typeface="+mn-lt"/>
                <a:cs typeface="+mn-lt"/>
              </a:rPr>
              <a:t>Image to Image Colorization Using Pix-2-Pix GAN Model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Roboto"/>
            </a:endParaRPr>
          </a:p>
          <a:p>
            <a:r>
              <a:rPr lang="en-US" dirty="0">
                <a:ea typeface="+mn-lt"/>
                <a:cs typeface="+mn-lt"/>
                <a:hlinkClick r:id="rId6"/>
              </a:rPr>
              <a:t>https://iarjset.com/wp-content/uploads/2023/11/IARJSET-NCSTCS-11.pdf?utm_source</a:t>
            </a:r>
            <a:endParaRPr lang="en-US">
              <a:ea typeface="맑은 고딕" panose="02110004020202020204"/>
            </a:endParaRPr>
          </a:p>
          <a:p>
            <a:endParaRPr lang="en-US" dirty="0">
              <a:latin typeface="맑은 고딕"/>
              <a:ea typeface="맑은 고딕"/>
            </a:endParaRPr>
          </a:p>
          <a:p>
            <a:r>
              <a:rPr lang="en-US" dirty="0">
                <a:latin typeface="맑은 고딕"/>
                <a:ea typeface="맑은 고딕"/>
              </a:rPr>
              <a:t>[9] </a:t>
            </a:r>
            <a:r>
              <a:rPr lang="en-US" dirty="0">
                <a:ea typeface="+mn-lt"/>
                <a:cs typeface="+mn-lt"/>
              </a:rPr>
              <a:t>Pix2Pix</a:t>
            </a:r>
            <a:r>
              <a:rPr lang="ko-KR" altLang="en-US" dirty="0">
                <a:ea typeface="+mn-lt"/>
                <a:cs typeface="+mn-lt"/>
              </a:rPr>
              <a:t>의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활용성을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위한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학습이미지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전처리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모델연계방안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연구</a:t>
            </a:r>
            <a:endParaRPr lang="en-US" dirty="0">
              <a:latin typeface="맑은 고딕"/>
              <a:ea typeface="맑은 고딕"/>
            </a:endParaRPr>
          </a:p>
          <a:p>
            <a:r>
              <a:rPr lang="en-US" dirty="0">
                <a:ea typeface="+mn-lt"/>
                <a:cs typeface="+mn-lt"/>
                <a:hlinkClick r:id="rId7"/>
              </a:rPr>
              <a:t>https://scienceon.kisti.re.kr/commons/util/originalView.do?cn=JAKO202231363543670&amp;oCn=JAKO202231363543670&amp;dbt=JAKO&amp;journal=NJOU00564564</a:t>
            </a:r>
            <a:endParaRPr lang="en-US">
              <a:ea typeface="맑은 고딕" panose="02110004020202020204"/>
            </a:endParaRPr>
          </a:p>
          <a:p>
            <a:endParaRPr lang="en-US" dirty="0">
              <a:latin typeface="맑은 고딕"/>
              <a:ea typeface="맑은 고딕"/>
            </a:endParaRPr>
          </a:p>
          <a:p>
            <a:r>
              <a:rPr lang="en-US" altLang="ko-KR" dirty="0">
                <a:latin typeface="맑은 고딕"/>
                <a:ea typeface="맑은 고딕"/>
              </a:rPr>
              <a:t>[10] </a:t>
            </a:r>
            <a:r>
              <a:rPr lang="ko-KR" altLang="en-US" dirty="0">
                <a:latin typeface="맑은 고딕"/>
                <a:ea typeface="맑은 고딕"/>
              </a:rPr>
              <a:t>인공지능</a:t>
            </a:r>
            <a:r>
              <a:rPr lang="en-US" altLang="ko-KR" dirty="0">
                <a:latin typeface="맑은 고딕"/>
                <a:ea typeface="맑은 고딕"/>
              </a:rPr>
              <a:t>(</a:t>
            </a:r>
            <a:r>
              <a:rPr lang="en-US" altLang="ko-KR" err="1">
                <a:latin typeface="맑은 고딕"/>
                <a:ea typeface="맑은 고딕"/>
              </a:rPr>
              <a:t>Deoldify</a:t>
            </a:r>
            <a:r>
              <a:rPr lang="en-US" altLang="ko-KR" dirty="0">
                <a:latin typeface="맑은 고딕"/>
                <a:ea typeface="맑은 고딕"/>
              </a:rPr>
              <a:t>)</a:t>
            </a:r>
            <a:r>
              <a:rPr lang="ko-KR" altLang="en-US" dirty="0">
                <a:latin typeface="맑은 고딕"/>
                <a:ea typeface="맑은 고딕"/>
              </a:rPr>
              <a:t>을 활용한 흑백 영상 채색 연구 </a:t>
            </a:r>
            <a:r>
              <a:rPr lang="en-US" altLang="ko-KR" dirty="0">
                <a:latin typeface="맑은 고딕"/>
                <a:ea typeface="맑은 고딕"/>
              </a:rPr>
              <a:t>: </a:t>
            </a:r>
            <a:r>
              <a:rPr lang="ko-KR" altLang="en-US" dirty="0">
                <a:latin typeface="맑은 고딕"/>
                <a:ea typeface="맑은 고딕"/>
              </a:rPr>
              <a:t>인공지능을 활용한 오래된 흑백 영상 복원의 디지털 수정방안 제시 중심으로</a:t>
            </a:r>
            <a:endParaRPr lang="en-US" altLang="ko-KR">
              <a:solidFill>
                <a:srgbClr val="888888"/>
              </a:solidFill>
              <a:latin typeface="맑은 고딕"/>
              <a:ea typeface="맑은 고딕"/>
              <a:cs typeface="Roboto"/>
            </a:endParaRPr>
          </a:p>
          <a:p>
            <a:r>
              <a:rPr lang="en-US" altLang="ko-KR" dirty="0">
                <a:solidFill>
                  <a:srgbClr val="888888"/>
                </a:solidFill>
                <a:latin typeface="맑은 고딕"/>
                <a:ea typeface="맑은 고딕"/>
                <a:cs typeface="Roboto"/>
                <a:hlinkClick r:id="rId8"/>
              </a:rPr>
              <a:t>https://www.riss.kr/search/detail/DetailView.do?p_mat_type=be54d9b8bc7cdb09&amp;control_no=5dd67781182ddacfffe0bdc3ef48d419&amp;outLink=K</a:t>
            </a:r>
            <a:endParaRPr lang="en-US" altLang="ko-KR">
              <a:solidFill>
                <a:srgbClr val="888888"/>
              </a:solidFill>
              <a:latin typeface="맑은 고딕"/>
              <a:ea typeface="맑은 고딕"/>
              <a:cs typeface="Roboto"/>
            </a:endParaRPr>
          </a:p>
          <a:p>
            <a:endParaRPr lang="en-US" altLang="ko-KR" dirty="0">
              <a:solidFill>
                <a:srgbClr val="888888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oboto"/>
            </a:endParaRPr>
          </a:p>
          <a:p>
            <a:endParaRPr lang="en-US" altLang="ko-KR" sz="1600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82323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1F2-98E5-6E14-679E-C5A0C147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346682-D94B-A5B3-7E8B-12F3F22188B5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756226-68D6-90D6-2606-663D4C87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14DD9B-594A-31F2-F0DD-5F2C6784A7C5}"/>
              </a:ext>
            </a:extLst>
          </p:cNvPr>
          <p:cNvSpPr txBox="1"/>
          <p:nvPr/>
        </p:nvSpPr>
        <p:spPr>
          <a:xfrm>
            <a:off x="373224" y="162868"/>
            <a:ext cx="406814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참고문헌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139163-B36F-26E4-52A6-2BCCBDE8FA35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591ED-B7EC-3D8D-4DE4-BF2CBAB774B1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0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63D76-5581-6E58-2934-548E7F1CE198}"/>
              </a:ext>
            </a:extLst>
          </p:cNvPr>
          <p:cNvSpPr txBox="1"/>
          <p:nvPr/>
        </p:nvSpPr>
        <p:spPr>
          <a:xfrm>
            <a:off x="572148" y="880831"/>
            <a:ext cx="11047704" cy="7478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400" dirty="0">
                <a:ea typeface="맑은 고딕"/>
              </a:rPr>
              <a:t>[</a:t>
            </a:r>
            <a:r>
              <a:rPr lang="en-US" altLang="ko-KR" sz="2400" dirty="0" err="1">
                <a:ea typeface="맑은 고딕"/>
              </a:rPr>
              <a:t>참고문헌</a:t>
            </a:r>
            <a:r>
              <a:rPr lang="en-US" altLang="ko-KR" sz="2400" dirty="0">
                <a:ea typeface="맑은 고딕"/>
              </a:rPr>
              <a:t>]</a:t>
            </a:r>
          </a:p>
          <a:p>
            <a:endParaRPr lang="en-US" altLang="ko-KR" sz="2000" dirty="0">
              <a:solidFill>
                <a:srgbClr val="1D1D1D"/>
              </a:solidFill>
              <a:ea typeface="맑은 고딕" panose="020B0503020000020004" pitchFamily="50" charset="-127"/>
            </a:endParaRPr>
          </a:p>
          <a:p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</a:rPr>
              <a:t>[11] </a:t>
            </a:r>
            <a:r>
              <a:rPr lang="en-US" dirty="0" err="1">
                <a:solidFill>
                  <a:srgbClr val="000000"/>
                </a:solidFill>
                <a:latin typeface="Malgun Gothic"/>
                <a:ea typeface="Malgun Gothic"/>
              </a:rPr>
              <a:t>DeOldify</a:t>
            </a:r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</a:rPr>
              <a:t>: A Review and Implementation of an Automatic Colorization Method</a:t>
            </a:r>
          </a:p>
          <a:p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  <a:hlinkClick r:id="rId3"/>
              </a:rPr>
              <a:t>https://accesson.kisti.re.kr/main/search/articleDetail.do?artiId=ATN0039570671</a:t>
            </a:r>
            <a:endParaRPr lang="en-US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en-US" sz="20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</a:rPr>
              <a:t>[12] A Survey on </a:t>
            </a:r>
            <a:r>
              <a:rPr lang="en-US" dirty="0" err="1">
                <a:solidFill>
                  <a:srgbClr val="000000"/>
                </a:solidFill>
                <a:latin typeface="Malgun Gothic"/>
                <a:ea typeface="Malgun Gothic"/>
              </a:rPr>
              <a:t>Deoldifying</a:t>
            </a:r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</a:rPr>
              <a:t> Old Photos and Videos</a:t>
            </a:r>
          </a:p>
          <a:p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  <a:hlinkClick r:id="rId4"/>
              </a:rPr>
              <a:t>https://www.dbpia.co.kr/journal/articleDetail?nodeId=NODE11487628</a:t>
            </a:r>
            <a:endParaRPr lang="en-US"/>
          </a:p>
          <a:p>
            <a:endParaRPr lang="en-US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altLang="ko-KR" dirty="0">
                <a:solidFill>
                  <a:srgbClr val="1D1D1D"/>
                </a:solidFill>
                <a:ea typeface="맑은 고딕"/>
              </a:rPr>
              <a:t>[13] </a:t>
            </a:r>
            <a:r>
              <a:rPr lang="en-US" altLang="ko-KR" dirty="0">
                <a:ea typeface="맑은 고딕"/>
              </a:rPr>
              <a:t>Instance-aware Image Colorization</a:t>
            </a:r>
            <a:endParaRPr lang="en-US"/>
          </a:p>
          <a:p>
            <a:r>
              <a:rPr lang="en-US" altLang="ko-KR" dirty="0">
                <a:solidFill>
                  <a:srgbClr val="888888"/>
                </a:solidFill>
                <a:ea typeface="맑은 고딕" panose="020B0503020000020004" pitchFamily="50" charset="-127"/>
                <a:cs typeface="Roboto"/>
                <a:hlinkClick r:id="rId5"/>
              </a:rPr>
              <a:t>https://arxiv.org/abs/2005.10825</a:t>
            </a:r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r>
              <a:rPr lang="en-US" altLang="ko-KR" dirty="0">
                <a:ea typeface="맑은 고딕"/>
              </a:rPr>
              <a:t>[14] </a:t>
            </a:r>
            <a:r>
              <a:rPr lang="en-US" altLang="ko-KR" dirty="0" err="1">
                <a:ea typeface="맑은 고딕"/>
              </a:rPr>
              <a:t>ChromaGAN</a:t>
            </a:r>
            <a:r>
              <a:rPr lang="en-US" altLang="ko-KR" dirty="0">
                <a:ea typeface="맑은 고딕"/>
              </a:rPr>
              <a:t>: Adversarial Picture Colorization with Semantic Class Distribution</a:t>
            </a:r>
          </a:p>
          <a:p>
            <a:r>
              <a:rPr lang="en-US" altLang="ko-KR" dirty="0">
                <a:solidFill>
                  <a:srgbClr val="888888"/>
                </a:solidFill>
                <a:ea typeface="맑은 고딕" panose="020B0503020000020004" pitchFamily="50" charset="-127"/>
                <a:cs typeface="Roboto"/>
                <a:hlinkClick r:id="rId6"/>
              </a:rPr>
              <a:t>https://arxiv.org/abs/1907.09837</a:t>
            </a:r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r>
              <a:rPr lang="en-US" altLang="ko-KR" dirty="0">
                <a:ea typeface="맑은 고딕"/>
              </a:rPr>
              <a:t>[15] Pixel-level Semantics Guided Image Colorization</a:t>
            </a:r>
            <a:endParaRPr lang="en-US" altLang="ko-KR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r>
              <a:rPr lang="en-US" altLang="ko-KR" dirty="0">
                <a:solidFill>
                  <a:srgbClr val="888888"/>
                </a:solidFill>
                <a:ea typeface="맑은 고딕" panose="020B0503020000020004" pitchFamily="50" charset="-127"/>
                <a:cs typeface="Roboto"/>
                <a:hlinkClick r:id="rId7"/>
              </a:rPr>
              <a:t>https://arxiv.org/abs/1808.01597</a:t>
            </a:r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r>
              <a:rPr lang="en-US" altLang="ko-KR" dirty="0">
                <a:solidFill>
                  <a:srgbClr val="1D1D1D"/>
                </a:solidFill>
                <a:ea typeface="맑은 고딕"/>
              </a:rPr>
              <a:t>[16]</a:t>
            </a:r>
            <a:r>
              <a:rPr lang="ko-KR" altLang="ko-KR" dirty="0">
                <a:solidFill>
                  <a:srgbClr val="1D1D1D"/>
                </a:solidFill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Colorization Transformer</a:t>
            </a:r>
          </a:p>
          <a:p>
            <a:r>
              <a:rPr lang="en-US" altLang="ko-KR" dirty="0">
                <a:hlinkClick r:id="rId8"/>
              </a:rPr>
              <a:t>ICLR Poster Colorization Transformer</a:t>
            </a:r>
            <a:endParaRPr lang="en-US" altLang="ko-KR" dirty="0"/>
          </a:p>
          <a:p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 panose="020B0503020000020004" pitchFamily="50" charset="-127"/>
            </a:endParaRPr>
          </a:p>
          <a:p>
            <a:endParaRPr lang="en-US" altLang="ko-KR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37789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0A6A-0944-9659-A31A-582EC0DA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481EC63-E3FF-E90A-D5DD-E435DFFE409F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EF61C8-42E8-66CA-4861-BB2BCD8C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D2AB97-10EE-3073-7F6C-15C9AF108A1F}"/>
              </a:ext>
            </a:extLst>
          </p:cNvPr>
          <p:cNvSpPr txBox="1"/>
          <p:nvPr/>
        </p:nvSpPr>
        <p:spPr>
          <a:xfrm>
            <a:off x="373224" y="162868"/>
            <a:ext cx="406814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ea typeface="맑은 고딕"/>
              </a:rPr>
              <a:t>참고문헌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C51AB5-A2A7-D7F9-99C8-6E8991AD9096}"/>
              </a:ext>
            </a:extLst>
          </p:cNvPr>
          <p:cNvSpPr/>
          <p:nvPr/>
        </p:nvSpPr>
        <p:spPr>
          <a:xfrm flipV="1">
            <a:off x="444500" y="641772"/>
            <a:ext cx="11257448" cy="596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D5722-C696-B066-8702-D188BEBE0F3D}"/>
              </a:ext>
            </a:extLst>
          </p:cNvPr>
          <p:cNvSpPr txBox="1"/>
          <p:nvPr/>
        </p:nvSpPr>
        <p:spPr>
          <a:xfrm>
            <a:off x="11747500" y="6464299"/>
            <a:ext cx="4875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ea typeface="맑은 고딕"/>
              </a:rPr>
              <a:t>0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A019F-139D-6164-EAF0-FDC9C297C396}"/>
              </a:ext>
            </a:extLst>
          </p:cNvPr>
          <p:cNvSpPr txBox="1"/>
          <p:nvPr/>
        </p:nvSpPr>
        <p:spPr>
          <a:xfrm>
            <a:off x="572148" y="880831"/>
            <a:ext cx="11047704" cy="41242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400" dirty="0">
                <a:ea typeface="맑은 고딕"/>
              </a:rPr>
              <a:t>[</a:t>
            </a:r>
            <a:r>
              <a:rPr lang="en-US" altLang="ko-KR" sz="2400" dirty="0" err="1">
                <a:ea typeface="맑은 고딕"/>
              </a:rPr>
              <a:t>참고문헌</a:t>
            </a:r>
            <a:r>
              <a:rPr lang="en-US" altLang="ko-KR" sz="2400" dirty="0">
                <a:ea typeface="맑은 고딕"/>
              </a:rPr>
              <a:t>]</a:t>
            </a:r>
          </a:p>
          <a:p>
            <a:endParaRPr lang="en-US" altLang="ko-KR" sz="2000" dirty="0">
              <a:solidFill>
                <a:srgbClr val="1D1D1D"/>
              </a:solidFill>
              <a:ea typeface="맑은 고딕" panose="020B0503020000020004" pitchFamily="50" charset="-127"/>
            </a:endParaRPr>
          </a:p>
          <a:p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</a:rPr>
              <a:t>[</a:t>
            </a:r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  <a:cs typeface="Roboto"/>
              </a:rPr>
              <a:t>17</a:t>
            </a:r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</a:rPr>
              <a:t>] Colorization Transformer</a:t>
            </a:r>
          </a:p>
          <a:p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  <a:hlinkClick r:id="rId3"/>
              </a:rPr>
              <a:t>https://iclr.cc/media/iclr-2021</a:t>
            </a:r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  <a:cs typeface="Roboto"/>
                <a:hlinkClick r:id="rId3"/>
              </a:rPr>
              <a:t>/Slides/2844.pdf</a:t>
            </a:r>
            <a:endParaRPr lang="en-US" dirty="0">
              <a:solidFill>
                <a:srgbClr val="000000"/>
              </a:solidFill>
              <a:latin typeface="Malgun Gothic"/>
              <a:ea typeface="Malgun Gothic"/>
              <a:cs typeface="Roboto"/>
            </a:endParaRPr>
          </a:p>
          <a:p>
            <a:endParaRPr lang="en-US" dirty="0">
              <a:solidFill>
                <a:srgbClr val="000000"/>
              </a:solidFill>
              <a:latin typeface="Malgun Gothic"/>
              <a:ea typeface="Malgun Gothic"/>
              <a:cs typeface="Roboto"/>
            </a:endParaRPr>
          </a:p>
          <a:p>
            <a:r>
              <a:rPr lang="en-US" dirty="0">
                <a:latin typeface="Malgun Gothic"/>
                <a:ea typeface="Malgun Gothic"/>
              </a:rPr>
              <a:t>[18] Loss Functions and Metrics in Deep Learning </a:t>
            </a:r>
            <a:endParaRPr lang="en-US" dirty="0">
              <a:solidFill>
                <a:srgbClr val="000000"/>
              </a:solidFill>
              <a:latin typeface="Malgun Gothic"/>
              <a:ea typeface="Malgun Gothic"/>
              <a:cs typeface="Roboto"/>
            </a:endParaRPr>
          </a:p>
          <a:p>
            <a:r>
              <a:rPr lang="en-US" dirty="0">
                <a:solidFill>
                  <a:srgbClr val="000000"/>
                </a:solidFill>
                <a:latin typeface="Malgun Gothic"/>
                <a:ea typeface="Malgun Gothic"/>
                <a:cs typeface="Roboto"/>
                <a:hlinkClick r:id="rId4"/>
              </a:rPr>
              <a:t>https://arxiv.org/abs/2307.02694</a:t>
            </a:r>
            <a:endParaRPr lang="en-US"/>
          </a:p>
          <a:p>
            <a:endParaRPr lang="en-US" altLang="ko-KR" dirty="0">
              <a:solidFill>
                <a:srgbClr val="888888"/>
              </a:solidFill>
              <a:ea typeface="맑은 고딕" panose="020B0503020000020004" pitchFamily="50" charset="-127"/>
              <a:cs typeface="Roboto"/>
            </a:endParaRPr>
          </a:p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 panose="020B0503020000020004" pitchFamily="50" charset="-127"/>
            </a:endParaRPr>
          </a:p>
          <a:p>
            <a:endParaRPr lang="en-US" altLang="ko-KR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ko-KR" altLang="en-US" sz="2000" dirty="0">
              <a:ea typeface="맑은 고딕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ea typeface="맑은 고딕"/>
            </a:endParaRP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8111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</a:majorFont>
      <a:minorFont>
        <a:latin typeface="맑은 고딕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1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6137</TotalTime>
  <Words>4656</Words>
  <Application>Microsoft Office PowerPoint</Application>
  <PresentationFormat>와이드스크린</PresentationFormat>
  <Paragraphs>942</Paragraphs>
  <Slides>65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65</vt:i4>
      </vt:variant>
    </vt:vector>
  </HeadingPairs>
  <TitlesOfParts>
    <vt:vector size="94" baseType="lpstr">
      <vt:lpstr>ADLaM Display</vt:lpstr>
      <vt:lpstr>Aptos</vt:lpstr>
      <vt:lpstr>Aptos Display</vt:lpstr>
      <vt:lpstr>Arial,Sans-Serif</vt:lpstr>
      <vt:lpstr>Malgun Gothic Semilight</vt:lpstr>
      <vt:lpstr>Noto Sans KR</vt:lpstr>
      <vt:lpstr>Roboto</vt:lpstr>
      <vt:lpstr>source-serif-pro</vt:lpstr>
      <vt:lpstr>나눔명조</vt:lpstr>
      <vt:lpstr>맑은 고딕</vt:lpstr>
      <vt:lpstr>맑은 고딕</vt:lpstr>
      <vt:lpstr>Arial</vt:lpstr>
      <vt:lpstr>Calibri</vt:lpstr>
      <vt:lpstr>Consolas</vt:lpstr>
      <vt:lpstr>Symbol</vt:lpstr>
      <vt:lpstr>Times New Roman</vt:lpstr>
      <vt:lpstr>Wingdings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준화 김</dc:creator>
  <dc:description/>
  <cp:lastModifiedBy>konyang</cp:lastModifiedBy>
  <cp:revision>190</cp:revision>
  <dcterms:created xsi:type="dcterms:W3CDTF">2024-03-11T15:16:27Z</dcterms:created>
  <dcterms:modified xsi:type="dcterms:W3CDTF">2025-05-23T08:59:45Z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i4>7</vt:i4>
  </property>
</Properties>
</file>